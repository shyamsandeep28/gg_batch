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2"/>
  </p:notesMasterIdLst>
  <p:handoutMasterIdLst>
    <p:handoutMasterId r:id="rId173"/>
  </p:handoutMasterIdLst>
  <p:sldIdLst>
    <p:sldId id="256" r:id="rId5"/>
    <p:sldId id="257" r:id="rId6"/>
    <p:sldId id="286" r:id="rId7"/>
    <p:sldId id="266" r:id="rId8"/>
    <p:sldId id="288" r:id="rId9"/>
    <p:sldId id="289" r:id="rId10"/>
    <p:sldId id="290" r:id="rId11"/>
    <p:sldId id="291" r:id="rId12"/>
    <p:sldId id="1314" r:id="rId13"/>
    <p:sldId id="292" r:id="rId14"/>
    <p:sldId id="293" r:id="rId15"/>
    <p:sldId id="294" r:id="rId16"/>
    <p:sldId id="295" r:id="rId17"/>
    <p:sldId id="296" r:id="rId18"/>
    <p:sldId id="298" r:id="rId19"/>
    <p:sldId id="399" r:id="rId20"/>
    <p:sldId id="1308" r:id="rId21"/>
    <p:sldId id="1309" r:id="rId22"/>
    <p:sldId id="1310" r:id="rId23"/>
    <p:sldId id="672" r:id="rId24"/>
    <p:sldId id="677" r:id="rId25"/>
    <p:sldId id="409" r:id="rId26"/>
    <p:sldId id="410" r:id="rId27"/>
    <p:sldId id="1312" r:id="rId28"/>
    <p:sldId id="411" r:id="rId29"/>
    <p:sldId id="1313" r:id="rId30"/>
    <p:sldId id="710" r:id="rId31"/>
    <p:sldId id="412" r:id="rId32"/>
    <p:sldId id="1311" r:id="rId33"/>
    <p:sldId id="744" r:id="rId34"/>
    <p:sldId id="574" r:id="rId35"/>
    <p:sldId id="415" r:id="rId36"/>
    <p:sldId id="1421" r:id="rId37"/>
    <p:sldId id="582" r:id="rId38"/>
    <p:sldId id="586" r:id="rId39"/>
    <p:sldId id="706" r:id="rId40"/>
    <p:sldId id="693" r:id="rId41"/>
    <p:sldId id="694" r:id="rId42"/>
    <p:sldId id="589" r:id="rId43"/>
    <p:sldId id="753" r:id="rId44"/>
    <p:sldId id="750" r:id="rId45"/>
    <p:sldId id="422" r:id="rId46"/>
    <p:sldId id="745" r:id="rId47"/>
    <p:sldId id="590" r:id="rId48"/>
    <p:sldId id="420" r:id="rId49"/>
    <p:sldId id="754" r:id="rId50"/>
    <p:sldId id="1069" r:id="rId51"/>
    <p:sldId id="269" r:id="rId52"/>
    <p:sldId id="1316" r:id="rId53"/>
    <p:sldId id="1317" r:id="rId54"/>
    <p:sldId id="1319" r:id="rId55"/>
    <p:sldId id="1320" r:id="rId56"/>
    <p:sldId id="1321" r:id="rId57"/>
    <p:sldId id="1322" r:id="rId58"/>
    <p:sldId id="1323" r:id="rId59"/>
    <p:sldId id="1324" r:id="rId60"/>
    <p:sldId id="1325" r:id="rId61"/>
    <p:sldId id="1327" r:id="rId62"/>
    <p:sldId id="1104" r:id="rId63"/>
    <p:sldId id="1105" r:id="rId64"/>
    <p:sldId id="1328" r:id="rId65"/>
    <p:sldId id="1106" r:id="rId66"/>
    <p:sldId id="1112" r:id="rId67"/>
    <p:sldId id="1107" r:id="rId68"/>
    <p:sldId id="1111" r:id="rId69"/>
    <p:sldId id="1330" r:id="rId70"/>
    <p:sldId id="1331" r:id="rId71"/>
    <p:sldId id="1332" r:id="rId72"/>
    <p:sldId id="1113" r:id="rId73"/>
    <p:sldId id="1110" r:id="rId74"/>
    <p:sldId id="1315" r:id="rId75"/>
    <p:sldId id="1334" r:id="rId76"/>
    <p:sldId id="1335" r:id="rId77"/>
    <p:sldId id="1336" r:id="rId78"/>
    <p:sldId id="1337" r:id="rId79"/>
    <p:sldId id="1339" r:id="rId80"/>
    <p:sldId id="1340" r:id="rId81"/>
    <p:sldId id="1342" r:id="rId82"/>
    <p:sldId id="1343" r:id="rId83"/>
    <p:sldId id="1344" r:id="rId84"/>
    <p:sldId id="850" r:id="rId85"/>
    <p:sldId id="851" r:id="rId86"/>
    <p:sldId id="1345" r:id="rId87"/>
    <p:sldId id="1347" r:id="rId88"/>
    <p:sldId id="873" r:id="rId89"/>
    <p:sldId id="877" r:id="rId90"/>
    <p:sldId id="1358" r:id="rId91"/>
    <p:sldId id="1357" r:id="rId92"/>
    <p:sldId id="1348" r:id="rId93"/>
    <p:sldId id="1349" r:id="rId94"/>
    <p:sldId id="1350" r:id="rId95"/>
    <p:sldId id="1351" r:id="rId96"/>
    <p:sldId id="1352" r:id="rId97"/>
    <p:sldId id="1354" r:id="rId98"/>
    <p:sldId id="1355" r:id="rId99"/>
    <p:sldId id="1356" r:id="rId100"/>
    <p:sldId id="1333" r:id="rId101"/>
    <p:sldId id="1359" r:id="rId102"/>
    <p:sldId id="1425" r:id="rId103"/>
    <p:sldId id="1426" r:id="rId104"/>
    <p:sldId id="1427" r:id="rId105"/>
    <p:sldId id="1428" r:id="rId106"/>
    <p:sldId id="1360" r:id="rId107"/>
    <p:sldId id="1361" r:id="rId108"/>
    <p:sldId id="1362" r:id="rId109"/>
    <p:sldId id="483" r:id="rId110"/>
    <p:sldId id="1364" r:id="rId111"/>
    <p:sldId id="818" r:id="rId112"/>
    <p:sldId id="995" r:id="rId113"/>
    <p:sldId id="820" r:id="rId114"/>
    <p:sldId id="1044" r:id="rId115"/>
    <p:sldId id="482" r:id="rId116"/>
    <p:sldId id="1365" r:id="rId117"/>
    <p:sldId id="1366" r:id="rId118"/>
    <p:sldId id="1367" r:id="rId119"/>
    <p:sldId id="1368" r:id="rId120"/>
    <p:sldId id="1370" r:id="rId121"/>
    <p:sldId id="1371" r:id="rId122"/>
    <p:sldId id="1374" r:id="rId123"/>
    <p:sldId id="1375" r:id="rId124"/>
    <p:sldId id="1377" r:id="rId125"/>
    <p:sldId id="1387" r:id="rId126"/>
    <p:sldId id="1388" r:id="rId127"/>
    <p:sldId id="1389" r:id="rId128"/>
    <p:sldId id="775" r:id="rId129"/>
    <p:sldId id="1390" r:id="rId130"/>
    <p:sldId id="1422" r:id="rId131"/>
    <p:sldId id="1424" r:id="rId132"/>
    <p:sldId id="1423" r:id="rId133"/>
    <p:sldId id="1378" r:id="rId134"/>
    <p:sldId id="1380" r:id="rId135"/>
    <p:sldId id="1381" r:id="rId136"/>
    <p:sldId id="1382" r:id="rId137"/>
    <p:sldId id="1383" r:id="rId138"/>
    <p:sldId id="857" r:id="rId139"/>
    <p:sldId id="858" r:id="rId140"/>
    <p:sldId id="859" r:id="rId141"/>
    <p:sldId id="1384" r:id="rId142"/>
    <p:sldId id="1385" r:id="rId143"/>
    <p:sldId id="1386" r:id="rId144"/>
    <p:sldId id="1415" r:id="rId145"/>
    <p:sldId id="1416" r:id="rId146"/>
    <p:sldId id="1417" r:id="rId147"/>
    <p:sldId id="1418" r:id="rId148"/>
    <p:sldId id="1419" r:id="rId149"/>
    <p:sldId id="1391" r:id="rId150"/>
    <p:sldId id="1413" r:id="rId151"/>
    <p:sldId id="1392" r:id="rId152"/>
    <p:sldId id="1393" r:id="rId153"/>
    <p:sldId id="1394" r:id="rId154"/>
    <p:sldId id="1395" r:id="rId155"/>
    <p:sldId id="778" r:id="rId156"/>
    <p:sldId id="1429" r:id="rId157"/>
    <p:sldId id="779" r:id="rId158"/>
    <p:sldId id="1414" r:id="rId159"/>
    <p:sldId id="782" r:id="rId160"/>
    <p:sldId id="1398" r:id="rId161"/>
    <p:sldId id="1397" r:id="rId162"/>
    <p:sldId id="1399" r:id="rId163"/>
    <p:sldId id="1420" r:id="rId164"/>
    <p:sldId id="1400" r:id="rId165"/>
    <p:sldId id="1401" r:id="rId166"/>
    <p:sldId id="1402" r:id="rId167"/>
    <p:sldId id="1403" r:id="rId168"/>
    <p:sldId id="1404" r:id="rId169"/>
    <p:sldId id="1405" r:id="rId170"/>
    <p:sldId id="1406" r:id="rId1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5" d="100"/>
          <a:sy n="75" d="100"/>
        </p:scale>
        <p:origin x="902" y="43"/>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7" Type="http://schemas.openxmlformats.org/officeDocument/2006/relationships/tableStyles" Target="tableStyles.xml"/><Relationship Id="rId172" Type="http://schemas.openxmlformats.org/officeDocument/2006/relationships/notesMaster" Target="notesMasters/notesMaster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presProps" Target="pres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viewProps" Target="viewProps.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theme" Target="theme/theme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4/26/2026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A7E746-3035-4B4A-ABE3-16FA786C9BE4}" type="slidenum">
              <a:rPr lang="en-US" smtClean="0"/>
              <a:t>21</a:t>
            </a:fld>
            <a:endParaRPr lang="en-US"/>
          </a:p>
        </p:txBody>
      </p:sp>
    </p:spTree>
    <p:extLst>
      <p:ext uri="{BB962C8B-B14F-4D97-AF65-F5344CB8AC3E}">
        <p14:creationId xmlns:p14="http://schemas.microsoft.com/office/powerpoint/2010/main" val="2640288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A7E746-3035-4B4A-ABE3-16FA786C9BE4}" type="slidenum">
              <a:rPr lang="en-US" smtClean="0"/>
              <a:t>30</a:t>
            </a:fld>
            <a:endParaRPr lang="en-US"/>
          </a:p>
        </p:txBody>
      </p:sp>
    </p:spTree>
    <p:extLst>
      <p:ext uri="{BB962C8B-B14F-4D97-AF65-F5344CB8AC3E}">
        <p14:creationId xmlns:p14="http://schemas.microsoft.com/office/powerpoint/2010/main" val="2640288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BCC0C3"/>
                </a:solidFill>
                <a:effectLst/>
                <a:latin typeface="arial" panose="020B0604020202020204" pitchFamily="34" charset="0"/>
              </a:rPr>
              <a:t>Use :</a:t>
            </a:r>
          </a:p>
          <a:p>
            <a:endParaRPr lang="en-US" b="1" i="0" dirty="0">
              <a:solidFill>
                <a:srgbClr val="BCC0C3"/>
              </a:solidFill>
              <a:effectLst/>
              <a:latin typeface="arial" panose="020B0604020202020204" pitchFamily="34" charset="0"/>
            </a:endParaRPr>
          </a:p>
          <a:p>
            <a:r>
              <a:rPr lang="en-US" b="1" i="0" dirty="0">
                <a:solidFill>
                  <a:srgbClr val="BCC0C3"/>
                </a:solidFill>
                <a:effectLst/>
                <a:latin typeface="arial" panose="020B0604020202020204" pitchFamily="34" charset="0"/>
              </a:rPr>
              <a:t>Compute optimized</a:t>
            </a:r>
            <a:r>
              <a:rPr lang="en-US" b="0" i="0" dirty="0">
                <a:solidFill>
                  <a:srgbClr val="BDC1C6"/>
                </a:solidFill>
                <a:effectLst/>
                <a:latin typeface="arial" panose="020B0604020202020204" pitchFamily="34" charset="0"/>
              </a:rPr>
              <a:t> instances are ideal for </a:t>
            </a:r>
            <a:r>
              <a:rPr lang="en-US" b="1" i="0" dirty="0">
                <a:solidFill>
                  <a:srgbClr val="BCC0C3"/>
                </a:solidFill>
                <a:effectLst/>
                <a:latin typeface="arial" panose="020B0604020202020204" pitchFamily="34" charset="0"/>
              </a:rPr>
              <a:t>compute</a:t>
            </a:r>
            <a:r>
              <a:rPr lang="en-US" b="0" i="0" dirty="0">
                <a:solidFill>
                  <a:srgbClr val="BDC1C6"/>
                </a:solidFill>
                <a:effectLst/>
                <a:latin typeface="arial" panose="020B0604020202020204" pitchFamily="34" charset="0"/>
              </a:rPr>
              <a:t>-bound applications that benefit from high-performance processors.</a:t>
            </a:r>
            <a:endParaRPr lang="en-IN" dirty="0"/>
          </a:p>
          <a:p>
            <a:endParaRPr lang="en-IN" dirty="0"/>
          </a:p>
          <a:p>
            <a:r>
              <a:rPr lang="en-US" b="1" i="0" dirty="0">
                <a:solidFill>
                  <a:srgbClr val="BCC0C3"/>
                </a:solidFill>
                <a:effectLst/>
                <a:latin typeface="arial" panose="020B0604020202020204" pitchFamily="34" charset="0"/>
              </a:rPr>
              <a:t>Storage optimized</a:t>
            </a:r>
            <a:r>
              <a:rPr lang="en-US" b="0" i="0" dirty="0">
                <a:solidFill>
                  <a:srgbClr val="BDC1C6"/>
                </a:solidFill>
                <a:effectLst/>
                <a:latin typeface="arial" panose="020B0604020202020204" pitchFamily="34" charset="0"/>
              </a:rPr>
              <a:t> instances are designed for workloads that require high, sequential read and write access to very large data sets on local </a:t>
            </a:r>
            <a:r>
              <a:rPr lang="en-US" b="1" i="0" dirty="0">
                <a:solidFill>
                  <a:srgbClr val="BCC0C3"/>
                </a:solidFill>
                <a:effectLst/>
                <a:latin typeface="arial" panose="020B0604020202020204" pitchFamily="34" charset="0"/>
              </a:rPr>
              <a:t>storage</a:t>
            </a:r>
            <a:r>
              <a:rPr lang="en-US" b="0" i="0" dirty="0">
                <a:solidFill>
                  <a:srgbClr val="BDC1C6"/>
                </a:solidFill>
                <a:effectLst/>
                <a:latin typeface="arial" panose="020B0604020202020204" pitchFamily="34" charset="0"/>
              </a:rPr>
              <a:t>.</a:t>
            </a:r>
          </a:p>
          <a:p>
            <a:endParaRPr lang="en-US" b="0" i="0" dirty="0">
              <a:solidFill>
                <a:srgbClr val="BDC1C6"/>
              </a:solidFill>
              <a:effectLst/>
              <a:latin typeface="arial" panose="020B0604020202020204" pitchFamily="34" charset="0"/>
            </a:endParaRPr>
          </a:p>
          <a:p>
            <a:r>
              <a:rPr lang="en-US" b="0" i="0" dirty="0">
                <a:solidFill>
                  <a:srgbClr val="BDC1C6"/>
                </a:solidFill>
                <a:effectLst/>
                <a:latin typeface="arial" panose="020B0604020202020204" pitchFamily="34" charset="0"/>
              </a:rPr>
              <a:t>GPU-based instances provide access to NVIDIA GPUs with thousands of compute cores. You can use these instances to </a:t>
            </a:r>
            <a:r>
              <a:rPr lang="en-US" b="1" i="0" dirty="0">
                <a:solidFill>
                  <a:srgbClr val="BDC1C6"/>
                </a:solidFill>
                <a:effectLst/>
                <a:latin typeface="arial" panose="020B0604020202020204" pitchFamily="34" charset="0"/>
              </a:rPr>
              <a:t>accelerate scientific, engineering, and rendering applications</a:t>
            </a:r>
            <a:r>
              <a:rPr lang="en-US" b="0" i="0" dirty="0">
                <a:solidFill>
                  <a:srgbClr val="BDC1C6"/>
                </a:solidFill>
                <a:effectLst/>
                <a:latin typeface="arial" panose="020B0604020202020204" pitchFamily="34" charset="0"/>
              </a:rPr>
              <a:t> by leveraging the CUDA or Open Computing Language (OpenCL) parallel computing frameworks.</a:t>
            </a:r>
          </a:p>
          <a:p>
            <a:endParaRPr lang="en-US" b="0" i="0" dirty="0">
              <a:solidFill>
                <a:srgbClr val="BDC1C6"/>
              </a:solidFill>
              <a:effectLst/>
              <a:latin typeface="arial" panose="020B0604020202020204" pitchFamily="34" charset="0"/>
            </a:endParaRPr>
          </a:p>
          <a:p>
            <a:r>
              <a:rPr lang="en-US" b="0" i="0" dirty="0">
                <a:solidFill>
                  <a:srgbClr val="BDC1C6"/>
                </a:solidFill>
                <a:effectLst/>
                <a:latin typeface="arial" panose="020B0604020202020204" pitchFamily="34" charset="0"/>
              </a:rPr>
              <a:t>Memory optimized instances are </a:t>
            </a:r>
            <a:r>
              <a:rPr lang="en-US" b="1" i="0" dirty="0">
                <a:solidFill>
                  <a:srgbClr val="BDC1C6"/>
                </a:solidFill>
                <a:effectLst/>
                <a:latin typeface="arial" panose="020B0604020202020204" pitchFamily="34" charset="0"/>
              </a:rPr>
              <a:t>designed to deliver fast performance for workloads that process large data sets in memory</a:t>
            </a:r>
            <a:r>
              <a:rPr lang="en-US" b="0" i="0" dirty="0">
                <a:solidFill>
                  <a:srgbClr val="BDC1C6"/>
                </a:solidFill>
                <a:effectLst/>
                <a:latin typeface="arial" panose="020B0604020202020204" pitchFamily="34" charset="0"/>
              </a:rPr>
              <a:t>. These instances are well suited for the following: High-performance, relational (MySQL) and NoSQL (MongoDB, Cassandra) databases.</a:t>
            </a:r>
            <a:endParaRPr lang="en-IN" dirty="0"/>
          </a:p>
        </p:txBody>
      </p:sp>
      <p:sp>
        <p:nvSpPr>
          <p:cNvPr id="4" name="Slide Number Placeholder 3"/>
          <p:cNvSpPr>
            <a:spLocks noGrp="1"/>
          </p:cNvSpPr>
          <p:nvPr>
            <p:ph type="sldNum" sz="quarter" idx="5"/>
          </p:nvPr>
        </p:nvSpPr>
        <p:spPr/>
        <p:txBody>
          <a:bodyPr/>
          <a:lstStyle/>
          <a:p>
            <a:fld id="{49A7E746-3035-4B4A-ABE3-16FA786C9BE4}" type="slidenum">
              <a:rPr lang="en-US" smtClean="0"/>
              <a:t>36</a:t>
            </a:fld>
            <a:endParaRPr lang="en-US"/>
          </a:p>
        </p:txBody>
      </p:sp>
    </p:spTree>
    <p:extLst>
      <p:ext uri="{BB962C8B-B14F-4D97-AF65-F5344CB8AC3E}">
        <p14:creationId xmlns:p14="http://schemas.microsoft.com/office/powerpoint/2010/main" val="3777084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A7E746-3035-4B4A-ABE3-16FA786C9BE4}" type="slidenum">
              <a:rPr lang="en-US" smtClean="0">
                <a:solidFill>
                  <a:prstClr val="black"/>
                </a:solidFill>
              </a:rPr>
              <a:pPr/>
              <a:t>59</a:t>
            </a:fld>
            <a:endParaRPr lang="en-US">
              <a:solidFill>
                <a:prstClr val="black"/>
              </a:solidFill>
            </a:endParaRPr>
          </a:p>
        </p:txBody>
      </p:sp>
    </p:spTree>
    <p:extLst>
      <p:ext uri="{BB962C8B-B14F-4D97-AF65-F5344CB8AC3E}">
        <p14:creationId xmlns:p14="http://schemas.microsoft.com/office/powerpoint/2010/main" val="4152821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https://intellipaat.com/blog/what-is-aws-elb-load-balancer/</a:t>
            </a:r>
          </a:p>
        </p:txBody>
      </p:sp>
      <p:sp>
        <p:nvSpPr>
          <p:cNvPr id="4" name="Slide Number Placeholder 3"/>
          <p:cNvSpPr>
            <a:spLocks noGrp="1"/>
          </p:cNvSpPr>
          <p:nvPr>
            <p:ph type="sldNum" sz="quarter" idx="5"/>
          </p:nvPr>
        </p:nvSpPr>
        <p:spPr/>
        <p:txBody>
          <a:bodyPr/>
          <a:lstStyle/>
          <a:p>
            <a:fld id="{1734D747-9380-41EE-9946-EC9EC0CA5D1E}" type="slidenum">
              <a:rPr lang="en-US" noProof="0" smtClean="0"/>
              <a:t>124</a:t>
            </a:fld>
            <a:endParaRPr lang="en-US" noProof="0" dirty="0"/>
          </a:p>
        </p:txBody>
      </p:sp>
    </p:spTree>
    <p:extLst>
      <p:ext uri="{BB962C8B-B14F-4D97-AF65-F5344CB8AC3E}">
        <p14:creationId xmlns:p14="http://schemas.microsoft.com/office/powerpoint/2010/main" val="3531906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0000">
            <a:alpha val="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8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0.png"/><Relationship Id="rId1" Type="http://schemas.openxmlformats.org/officeDocument/2006/relationships/slideLayout" Target="../slideLayouts/slideLayout8.xml"/><Relationship Id="rId5" Type="http://schemas.openxmlformats.org/officeDocument/2006/relationships/image" Target="../media/image38.svg"/><Relationship Id="rId4" Type="http://schemas.openxmlformats.org/officeDocument/2006/relationships/image" Target="../media/image37.png"/></Relationships>
</file>

<file path=ppt/slides/_rels/slide8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3" Type="http://schemas.openxmlformats.org/officeDocument/2006/relationships/hyperlink" Target="https://docs.aws.amazon.com/AWSEC2/latest/UserGuide/AccessingInstances.html" TargetMode="External"/><Relationship Id="rId2" Type="http://schemas.openxmlformats.org/officeDocument/2006/relationships/hyperlink" Target="https://console.aws.amazon.com/rds/" TargetMode="Externa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9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10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10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1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8.xml"/><Relationship Id="rId4" Type="http://schemas.openxmlformats.org/officeDocument/2006/relationships/image" Target="../media/image6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15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171553" y="2700529"/>
            <a:ext cx="9027390" cy="1243584"/>
          </a:xfrm>
        </p:spPr>
        <p:txBody>
          <a:bodyPr/>
          <a:lstStyle/>
          <a:p>
            <a:pPr algn="ctr"/>
            <a:r>
              <a:rPr lang="en-US" dirty="0"/>
              <a:t>Amazon Web Services</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171553" y="4326194"/>
            <a:ext cx="8299802" cy="1327354"/>
          </a:xfrm>
        </p:spPr>
        <p:txBody>
          <a:bodyPr>
            <a:normAutofit/>
          </a:bodyPr>
          <a:lstStyle/>
          <a:p>
            <a:pPr marL="0" indent="0" algn="ctr">
              <a:buNone/>
            </a:pPr>
            <a:endParaRPr lang="en-US" dirty="0"/>
          </a:p>
          <a:p>
            <a:pPr marL="0" indent="0" algn="ctr">
              <a:buNone/>
            </a:pPr>
            <a:r>
              <a:rPr lang="en-US" sz="2800" b="1" dirty="0">
                <a:latin typeface="Times New Roman" panose="02020603050405020304" pitchFamily="18" charset="0"/>
                <a:cs typeface="Times New Roman" panose="02020603050405020304" pitchFamily="18" charset="0"/>
              </a:rPr>
              <a:t>By: </a:t>
            </a:r>
            <a:r>
              <a:rPr lang="en-US" sz="2800" dirty="0">
                <a:latin typeface="Times New Roman" panose="02020603050405020304" pitchFamily="18" charset="0"/>
                <a:cs typeface="Times New Roman" panose="02020603050405020304" pitchFamily="18" charset="0"/>
              </a:rPr>
              <a:t>Sandeep Kumar Sharma</a:t>
            </a:r>
          </a:p>
        </p:txBody>
      </p:sp>
      <p:pic>
        <p:nvPicPr>
          <p:cNvPr id="1026" name="Picture 2" descr="Amazon Web Services - Wikipedia">
            <a:extLst>
              <a:ext uri="{FF2B5EF4-FFF2-40B4-BE49-F238E27FC236}">
                <a16:creationId xmlns:a16="http://schemas.microsoft.com/office/drawing/2014/main" id="{20F321D4-7720-62FE-2612-E0194930DE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3359" y="371945"/>
            <a:ext cx="3686369" cy="2205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934594"/>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42646" y="2569945"/>
            <a:ext cx="7781544" cy="859055"/>
          </a:xfrm>
        </p:spPr>
        <p:txBody>
          <a:bodyPr/>
          <a:lstStyle/>
          <a:p>
            <a:r>
              <a:rPr lang="en-US" dirty="0"/>
              <a:t>Cloud Computing </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Cloud Computing </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38099" y="1721304"/>
            <a:ext cx="11961067" cy="3684588"/>
          </a:xfrm>
        </p:spPr>
        <p:txBody>
          <a:bodyPr/>
          <a:lstStyle/>
          <a:p>
            <a:pPr marL="0" indent="0">
              <a:lnSpc>
                <a:spcPct val="200000"/>
              </a:lnSpc>
              <a:buNone/>
            </a:pPr>
            <a:r>
              <a:rPr lang="en-US" dirty="0">
                <a:latin typeface="Times New Roman" panose="02020603050405020304" pitchFamily="18" charset="0"/>
                <a:cs typeface="Times New Roman" panose="02020603050405020304" pitchFamily="18" charset="0"/>
              </a:rPr>
              <a:t>Cloud computing refers to the delivery of computing services—including servers, storage, databases, networking, software, and more—over the internet. Instead of owning and maintaining physical servers or infrastructure, users can access these services on-demand from cloud service providers.</a:t>
            </a:r>
          </a:p>
          <a:p>
            <a:pPr>
              <a:lnSpc>
                <a:spcPct val="200000"/>
              </a:lnSpc>
            </a:pPr>
            <a:endParaRPr lang="en-US" dirty="0">
              <a:latin typeface="Times New Roman" panose="02020603050405020304" pitchFamily="18" charset="0"/>
              <a:cs typeface="Times New Roman" panose="02020603050405020304" pitchFamily="18" charset="0"/>
            </a:endParaRPr>
          </a:p>
          <a:p>
            <a:pPr>
              <a:lnSpc>
                <a:spcPct val="200000"/>
              </a:lnSpc>
            </a:pPr>
            <a:endParaRPr lang="en-US" dirty="0">
              <a:latin typeface="Times New Roman" panose="02020603050405020304" pitchFamily="18" charset="0"/>
              <a:cs typeface="Times New Roman" panose="02020603050405020304" pitchFamily="18" charset="0"/>
            </a:endParaRPr>
          </a:p>
        </p:txBody>
      </p:sp>
      <p:pic>
        <p:nvPicPr>
          <p:cNvPr id="14" name="Picture 6">
            <a:extLst>
              <a:ext uri="{FF2B5EF4-FFF2-40B4-BE49-F238E27FC236}">
                <a16:creationId xmlns:a16="http://schemas.microsoft.com/office/drawing/2014/main" id="{2C9BB30B-330B-0746-0002-355C44BA8A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2718" y="3000740"/>
            <a:ext cx="2885943"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152208"/>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Traditional Vs Cloud Data Center</a:t>
            </a:r>
          </a:p>
        </p:txBody>
      </p:sp>
      <p:graphicFrame>
        <p:nvGraphicFramePr>
          <p:cNvPr id="6" name="Tab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396830046"/>
              </p:ext>
            </p:extLst>
          </p:nvPr>
        </p:nvGraphicFramePr>
        <p:xfrm>
          <a:off x="850382" y="1772765"/>
          <a:ext cx="10121901" cy="4222320"/>
        </p:xfrm>
        <a:graphic>
          <a:graphicData uri="http://schemas.openxmlformats.org/drawingml/2006/table">
            <a:tbl>
              <a:tblPr firstRow="1" bandRow="1">
                <a:tableStyleId>{5C22544A-7EE6-4342-B048-85BDC9FD1C3A}</a:tableStyleId>
              </a:tblPr>
              <a:tblGrid>
                <a:gridCol w="2275373">
                  <a:extLst>
                    <a:ext uri="{9D8B030D-6E8A-4147-A177-3AD203B41FA5}">
                      <a16:colId xmlns:a16="http://schemas.microsoft.com/office/drawing/2014/main" val="3559833401"/>
                    </a:ext>
                  </a:extLst>
                </a:gridCol>
                <a:gridCol w="4472561">
                  <a:extLst>
                    <a:ext uri="{9D8B030D-6E8A-4147-A177-3AD203B41FA5}">
                      <a16:colId xmlns:a16="http://schemas.microsoft.com/office/drawing/2014/main" val="82523989"/>
                    </a:ext>
                  </a:extLst>
                </a:gridCol>
                <a:gridCol w="3373967">
                  <a:extLst>
                    <a:ext uri="{9D8B030D-6E8A-4147-A177-3AD203B41FA5}">
                      <a16:colId xmlns:a16="http://schemas.microsoft.com/office/drawing/2014/main" val="3211310719"/>
                    </a:ext>
                  </a:extLst>
                </a:gridCol>
              </a:tblGrid>
              <a:tr h="640080">
                <a:tc>
                  <a:txBody>
                    <a:bodyPr/>
                    <a:lstStyle/>
                    <a:p>
                      <a:pPr fontAlgn="t"/>
                      <a:r>
                        <a:rPr lang="en-US" sz="1400" b="1" dirty="0">
                          <a:solidFill>
                            <a:schemeClr val="bg1"/>
                          </a:solidFill>
                          <a:effectLst/>
                          <a:latin typeface="Times New Roman" panose="02020603050405020304" pitchFamily="18" charset="0"/>
                          <a:cs typeface="Times New Roman" panose="02020603050405020304" pitchFamily="18" charset="0"/>
                        </a:rPr>
                        <a:t>Consideration</a:t>
                      </a:r>
                      <a:endParaRPr lang="en-US" sz="1400" b="1" i="0" dirty="0">
                        <a:solidFill>
                          <a:schemeClr val="bg1"/>
                        </a:solidFill>
                        <a:effectLst/>
                        <a:latin typeface="Times New Roman" panose="02020603050405020304" pitchFamily="18" charset="0"/>
                        <a:cs typeface="Times New Roman" panose="02020603050405020304" pitchFamily="18" charset="0"/>
                      </a:endParaRPr>
                    </a:p>
                  </a:txBody>
                  <a:tcPr marL="26880" marR="26880" marT="26880" marB="26880">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US" sz="1400" b="1" dirty="0">
                          <a:solidFill>
                            <a:schemeClr val="bg1"/>
                          </a:solidFill>
                          <a:effectLst/>
                          <a:latin typeface="Times New Roman" panose="02020603050405020304" pitchFamily="18" charset="0"/>
                          <a:cs typeface="Times New Roman" panose="02020603050405020304" pitchFamily="18" charset="0"/>
                        </a:rPr>
                        <a:t>On premises (Traditional)</a:t>
                      </a:r>
                      <a:endParaRPr lang="en-US" sz="1400" b="1" i="0" dirty="0">
                        <a:solidFill>
                          <a:schemeClr val="bg1"/>
                        </a:solidFill>
                        <a:effectLst/>
                        <a:latin typeface="Times New Roman" panose="02020603050405020304" pitchFamily="18" charset="0"/>
                        <a:cs typeface="Times New Roman" panose="02020603050405020304" pitchFamily="18" charset="0"/>
                      </a:endParaRP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US" sz="1400" b="1" dirty="0">
                          <a:solidFill>
                            <a:schemeClr val="bg1"/>
                          </a:solidFill>
                          <a:effectLst/>
                          <a:latin typeface="Times New Roman" panose="02020603050405020304" pitchFamily="18" charset="0"/>
                          <a:cs typeface="Times New Roman" panose="02020603050405020304" pitchFamily="18" charset="0"/>
                        </a:rPr>
                        <a:t>Cloud</a:t>
                      </a:r>
                      <a:endParaRPr lang="en-US" sz="1400" b="1" i="0" dirty="0">
                        <a:solidFill>
                          <a:schemeClr val="bg1"/>
                        </a:solidFill>
                        <a:effectLst/>
                        <a:latin typeface="Times New Roman" panose="02020603050405020304" pitchFamily="18" charset="0"/>
                        <a:cs typeface="Times New Roman" panose="02020603050405020304" pitchFamily="18" charset="0"/>
                      </a:endParaRP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Upfront costs</a:t>
                      </a:r>
                    </a:p>
                  </a:txBody>
                  <a:tcPr marL="26880" marR="26880" marT="26880" marB="26880">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Requires significant upfront investment.</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Uses subscription, pay-as-you-go model.</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Resource deployment</a:t>
                      </a:r>
                    </a:p>
                  </a:txBody>
                  <a:tcPr marL="26880" marR="26880" marT="26880" marB="26880">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Resources managed and deployed in-house.</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Deployment and management done on third-party infrastructure.</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Security</a:t>
                      </a:r>
                    </a:p>
                  </a:txBody>
                  <a:tcPr marL="26880" marR="26880" marT="26880" marB="26880">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Offers complete control of data and systems.</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Offers high security but often doesn't meet specific regulatory requirements.</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Compliance</a:t>
                      </a:r>
                    </a:p>
                  </a:txBody>
                  <a:tcPr marL="26880" marR="26880" marT="26880" marB="26880">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Offers better visibility and storage options to meet compliance policies.</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Doesn't offer complete authority and transparency into data storage and usage, which often violates compliance policies.</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Scalability</a:t>
                      </a:r>
                    </a:p>
                  </a:txBody>
                  <a:tcPr marL="26880" marR="26880" marT="26880" marB="26880">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Offers less flexibility due to hardware and space limitations.</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Automates scalability as needed, often without intervention.</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Availability</a:t>
                      </a:r>
                    </a:p>
                  </a:txBody>
                  <a:tcPr marL="26880" marR="26880" marT="26880" marB="26880">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fontAlgn="t"/>
                      <a:r>
                        <a:rPr lang="en-US" sz="1400">
                          <a:solidFill>
                            <a:schemeClr val="bg1"/>
                          </a:solidFill>
                          <a:effectLst/>
                          <a:latin typeface="Times New Roman" panose="02020603050405020304" pitchFamily="18" charset="0"/>
                          <a:cs typeface="Times New Roman" panose="02020603050405020304" pitchFamily="18" charset="0"/>
                        </a:rPr>
                        <a:t>Vulnerable to single points of failure and can have more downtime.</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fontAlgn="t"/>
                      <a:r>
                        <a:rPr lang="en-US" sz="1400" dirty="0">
                          <a:solidFill>
                            <a:schemeClr val="bg1"/>
                          </a:solidFill>
                          <a:effectLst/>
                          <a:latin typeface="Times New Roman" panose="02020603050405020304" pitchFamily="18" charset="0"/>
                          <a:cs typeface="Times New Roman" panose="02020603050405020304" pitchFamily="18" charset="0"/>
                        </a:rPr>
                        <a:t>Better prevention and downtime recovery with continuous monitoring and built-in redundant systems.</a:t>
                      </a:r>
                    </a:p>
                  </a:txBody>
                  <a:tcPr marL="26880" marR="26880" marT="26880" marB="26880">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1065425595"/>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Cloud Essentials Characteristics </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271282" y="1765090"/>
            <a:ext cx="5457632" cy="3684588"/>
          </a:xfrm>
        </p:spPr>
        <p:txBody>
          <a:bodyPr/>
          <a:lstStyle/>
          <a:p>
            <a:pPr marL="300038" indent="-300038" algn="just">
              <a:lnSpc>
                <a:spcPct val="150000"/>
              </a:lnSpc>
              <a:spcAft>
                <a:spcPts val="26"/>
              </a:spcAft>
              <a:buFont typeface="Arial" panose="020B0604020202020204" pitchFamily="34" charset="0"/>
              <a:buChar char="•"/>
            </a:pPr>
            <a:r>
              <a:rPr lang="en-US" sz="1800" dirty="0">
                <a:latin typeface="Times New Roman" panose="02020603050405020304" pitchFamily="18" charset="0"/>
                <a:ea typeface="Calibri" panose="020F0502020204030204" pitchFamily="34" charset="0"/>
                <a:cs typeface="Times New Roman" panose="02020603050405020304" pitchFamily="18" charset="0"/>
              </a:rPr>
              <a:t>On-demand Self Service</a:t>
            </a:r>
          </a:p>
          <a:p>
            <a:pPr marL="300038" indent="-300038" algn="just">
              <a:lnSpc>
                <a:spcPct val="150000"/>
              </a:lnSpc>
              <a:buFont typeface="Arial" panose="020B0604020202020204" pitchFamily="34" charset="0"/>
              <a:buChar char="•"/>
            </a:pPr>
            <a:r>
              <a:rPr lang="en-US" sz="1800" spc="-26" dirty="0">
                <a:latin typeface="Times New Roman" panose="02020603050405020304" pitchFamily="18" charset="0"/>
                <a:ea typeface="Times New Roman" panose="02020603050405020304" pitchFamily="18" charset="0"/>
                <a:cs typeface="Times New Roman" panose="02020603050405020304" pitchFamily="18" charset="0"/>
              </a:rPr>
              <a:t>Broad Network Access</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00038" indent="-300038" algn="just">
              <a:lnSpc>
                <a:spcPct val="150000"/>
              </a:lnSpc>
              <a:buFont typeface="Arial" panose="020B0604020202020204" pitchFamily="34" charset="0"/>
              <a:buChar char="•"/>
            </a:pPr>
            <a:r>
              <a:rPr lang="en-US" sz="1800" spc="-26" dirty="0">
                <a:latin typeface="Times New Roman" panose="02020603050405020304" pitchFamily="18" charset="0"/>
                <a:ea typeface="Times New Roman" panose="02020603050405020304" pitchFamily="18" charset="0"/>
                <a:cs typeface="Times New Roman" panose="02020603050405020304" pitchFamily="18" charset="0"/>
              </a:rPr>
              <a:t>Resource Pooling and Multi-tenancy</a:t>
            </a: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a:p>
            <a:pPr marL="300038" indent="-300038">
              <a:lnSpc>
                <a:spcPct val="150000"/>
              </a:lnSpc>
              <a:buFont typeface="Arial" panose="020B0604020202020204" pitchFamily="34" charset="0"/>
              <a:buChar char="•"/>
            </a:pPr>
            <a:r>
              <a:rPr lang="en-US" sz="1800" spc="-26" dirty="0">
                <a:latin typeface="Times New Roman" panose="02020603050405020304" pitchFamily="18" charset="0"/>
                <a:ea typeface="Times New Roman" panose="02020603050405020304" pitchFamily="18" charset="0"/>
                <a:cs typeface="Times New Roman" panose="02020603050405020304" pitchFamily="18" charset="0"/>
              </a:rPr>
              <a:t>Scalability </a:t>
            </a:r>
          </a:p>
          <a:p>
            <a:pPr marL="300038" indent="-300038">
              <a:lnSpc>
                <a:spcPct val="150000"/>
              </a:lnSpc>
              <a:buFont typeface="Arial" panose="020B0604020202020204" pitchFamily="34" charset="0"/>
              <a:buChar char="•"/>
            </a:pPr>
            <a:r>
              <a:rPr lang="en-US" sz="1800" spc="-26" dirty="0">
                <a:latin typeface="Times New Roman" panose="02020603050405020304" pitchFamily="18" charset="0"/>
                <a:ea typeface="Times New Roman" panose="02020603050405020304" pitchFamily="18" charset="0"/>
                <a:cs typeface="Times New Roman" panose="02020603050405020304" pitchFamily="18" charset="0"/>
              </a:rPr>
              <a:t>Measured Service </a:t>
            </a:r>
            <a:endParaRPr lang="en-US" dirty="0"/>
          </a:p>
          <a:p>
            <a:pPr>
              <a:lnSpc>
                <a:spcPct val="200000"/>
              </a:lnSpc>
            </a:pPr>
            <a:endParaRPr lang="en-US" dirty="0"/>
          </a:p>
        </p:txBody>
      </p:sp>
      <p:pic>
        <p:nvPicPr>
          <p:cNvPr id="3" name="Picture 2">
            <a:extLst>
              <a:ext uri="{FF2B5EF4-FFF2-40B4-BE49-F238E27FC236}">
                <a16:creationId xmlns:a16="http://schemas.microsoft.com/office/drawing/2014/main" id="{63AE1EB9-04CC-6666-FF72-3B383D9011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3629" y="1385144"/>
            <a:ext cx="4823461" cy="4823461"/>
          </a:xfrm>
          <a:prstGeom prst="rect">
            <a:avLst/>
          </a:prstGeom>
        </p:spPr>
      </p:pic>
      <p:sp>
        <p:nvSpPr>
          <p:cNvPr id="5" name="Slide Number Placeholder 1">
            <a:extLst>
              <a:ext uri="{FF2B5EF4-FFF2-40B4-BE49-F238E27FC236}">
                <a16:creationId xmlns:a16="http://schemas.microsoft.com/office/drawing/2014/main" id="{F1AD6062-6D4B-14AD-D19D-FB5F4B433FFC}"/>
              </a:ext>
            </a:extLst>
          </p:cNvPr>
          <p:cNvSpPr txBox="1">
            <a:spLocks/>
          </p:cNvSpPr>
          <p:nvPr/>
        </p:nvSpPr>
        <p:spPr>
          <a:xfrm>
            <a:off x="9041130" y="6780107"/>
            <a:ext cx="2880360" cy="389467"/>
          </a:xfrm>
          <a:prstGeom prst="rect">
            <a:avLst/>
          </a:prstGeom>
          <a:noFill/>
          <a:ln>
            <a:noFill/>
          </a:ln>
        </p:spPr>
        <p:txBody>
          <a:bodyPr spcFirstLastPara="1" vert="horz" wrap="square" lIns="91425" tIns="91425" rIns="91425" bIns="91425" rtlCol="0" anchor="ctr" anchorCtr="0">
            <a:noAutofit/>
          </a:bodyPr>
          <a:lstStyle>
            <a:defPPr>
              <a:defRPr lang="en-US"/>
            </a:defPPr>
            <a:lvl1pPr marL="0" lvl="0" algn="r" defTabSz="914400" rtl="0" eaLnBrk="1" latinLnBrk="0" hangingPunct="1">
              <a:buNone/>
              <a:defRPr sz="1600" b="1" kern="1200">
                <a:solidFill>
                  <a:srgbClr val="FFFFFF"/>
                </a:solidFill>
                <a:latin typeface="Roboto Condensed"/>
                <a:ea typeface="Roboto Condensed"/>
                <a:cs typeface="Roboto Condensed"/>
                <a:sym typeface="Roboto Condensed"/>
              </a:defRPr>
            </a:lvl1pPr>
            <a:lvl2pPr marL="457200" lvl="1" algn="r" defTabSz="914400" rtl="0" eaLnBrk="1" latinLnBrk="0" hangingPunct="1">
              <a:buNone/>
              <a:defRPr sz="1600" b="1" kern="1200">
                <a:solidFill>
                  <a:srgbClr val="FFFFFF"/>
                </a:solidFill>
                <a:latin typeface="Roboto Condensed"/>
                <a:ea typeface="Roboto Condensed"/>
                <a:cs typeface="Roboto Condensed"/>
                <a:sym typeface="Roboto Condensed"/>
              </a:defRPr>
            </a:lvl2pPr>
            <a:lvl3pPr marL="914400" lvl="2" algn="r" defTabSz="914400" rtl="0" eaLnBrk="1" latinLnBrk="0" hangingPunct="1">
              <a:buNone/>
              <a:defRPr sz="1600" b="1" kern="1200">
                <a:solidFill>
                  <a:srgbClr val="FFFFFF"/>
                </a:solidFill>
                <a:latin typeface="Roboto Condensed"/>
                <a:ea typeface="Roboto Condensed"/>
                <a:cs typeface="Roboto Condensed"/>
                <a:sym typeface="Roboto Condensed"/>
              </a:defRPr>
            </a:lvl3pPr>
            <a:lvl4pPr marL="1371600" lvl="3" algn="r" defTabSz="914400" rtl="0" eaLnBrk="1" latinLnBrk="0" hangingPunct="1">
              <a:buNone/>
              <a:defRPr sz="1600" b="1" kern="1200">
                <a:solidFill>
                  <a:srgbClr val="FFFFFF"/>
                </a:solidFill>
                <a:latin typeface="Roboto Condensed"/>
                <a:ea typeface="Roboto Condensed"/>
                <a:cs typeface="Roboto Condensed"/>
                <a:sym typeface="Roboto Condensed"/>
              </a:defRPr>
            </a:lvl4pPr>
            <a:lvl5pPr marL="1828800" lvl="4" algn="r" defTabSz="914400" rtl="0" eaLnBrk="1" latinLnBrk="0" hangingPunct="1">
              <a:buNone/>
              <a:defRPr sz="1600" b="1" kern="1200">
                <a:solidFill>
                  <a:srgbClr val="FFFFFF"/>
                </a:solidFill>
                <a:latin typeface="Roboto Condensed"/>
                <a:ea typeface="Roboto Condensed"/>
                <a:cs typeface="Roboto Condensed"/>
                <a:sym typeface="Roboto Condensed"/>
              </a:defRPr>
            </a:lvl5pPr>
            <a:lvl6pPr marL="2286000" lvl="5" algn="r" defTabSz="914400" rtl="0" eaLnBrk="1" latinLnBrk="0" hangingPunct="1">
              <a:buNone/>
              <a:defRPr sz="1600" b="1" kern="1200">
                <a:solidFill>
                  <a:srgbClr val="FFFFFF"/>
                </a:solidFill>
                <a:latin typeface="Roboto Condensed"/>
                <a:ea typeface="Roboto Condensed"/>
                <a:cs typeface="Roboto Condensed"/>
                <a:sym typeface="Roboto Condensed"/>
              </a:defRPr>
            </a:lvl6pPr>
            <a:lvl7pPr marL="2743200" lvl="6" algn="r" defTabSz="914400" rtl="0" eaLnBrk="1" latinLnBrk="0" hangingPunct="1">
              <a:buNone/>
              <a:defRPr sz="1600" b="1" kern="1200">
                <a:solidFill>
                  <a:srgbClr val="FFFFFF"/>
                </a:solidFill>
                <a:latin typeface="Roboto Condensed"/>
                <a:ea typeface="Roboto Condensed"/>
                <a:cs typeface="Roboto Condensed"/>
                <a:sym typeface="Roboto Condensed"/>
              </a:defRPr>
            </a:lvl7pPr>
            <a:lvl8pPr marL="3200400" lvl="7" algn="r" defTabSz="914400" rtl="0" eaLnBrk="1" latinLnBrk="0" hangingPunct="1">
              <a:buNone/>
              <a:defRPr sz="1600" b="1" kern="1200">
                <a:solidFill>
                  <a:srgbClr val="FFFFFF"/>
                </a:solidFill>
                <a:latin typeface="Roboto Condensed"/>
                <a:ea typeface="Roboto Condensed"/>
                <a:cs typeface="Roboto Condensed"/>
                <a:sym typeface="Roboto Condensed"/>
              </a:defRPr>
            </a:lvl8pPr>
            <a:lvl9pPr marL="3657600" lvl="8" algn="r" defTabSz="914400" rtl="0" eaLnBrk="1" latinLnBrk="0" hangingPunct="1">
              <a:buNone/>
              <a:defRPr sz="1600" b="1" kern="1200">
                <a:solidFill>
                  <a:srgbClr val="FFFFFF"/>
                </a:solidFill>
                <a:latin typeface="Roboto Condensed"/>
                <a:ea typeface="Roboto Condensed"/>
                <a:cs typeface="Roboto Condensed"/>
                <a:sym typeface="Roboto Condensed"/>
              </a:defRPr>
            </a:lvl9pPr>
          </a:lstStyle>
          <a:p>
            <a:fld id="{00000000-1234-1234-1234-123412341234}" type="slidenum">
              <a:rPr lang="en" smtClean="0"/>
              <a:pPr/>
              <a:t>5</a:t>
            </a:fld>
            <a:endParaRPr lang="en"/>
          </a:p>
        </p:txBody>
      </p:sp>
      <p:pic>
        <p:nvPicPr>
          <p:cNvPr id="6" name="Picture 5">
            <a:extLst>
              <a:ext uri="{FF2B5EF4-FFF2-40B4-BE49-F238E27FC236}">
                <a16:creationId xmlns:a16="http://schemas.microsoft.com/office/drawing/2014/main" id="{9BD3C3A4-B553-71B2-8F0A-D12F333EB6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00417" y="1678142"/>
            <a:ext cx="1222387" cy="1222387"/>
          </a:xfrm>
          <a:prstGeom prst="rect">
            <a:avLst/>
          </a:prstGeom>
        </p:spPr>
      </p:pic>
      <p:pic>
        <p:nvPicPr>
          <p:cNvPr id="7" name="Picture 6">
            <a:extLst>
              <a:ext uri="{FF2B5EF4-FFF2-40B4-BE49-F238E27FC236}">
                <a16:creationId xmlns:a16="http://schemas.microsoft.com/office/drawing/2014/main" id="{71B0779E-1B55-AE27-C5CD-926B2098CC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91207" y="2471861"/>
            <a:ext cx="1558109" cy="1558109"/>
          </a:xfrm>
          <a:prstGeom prst="rect">
            <a:avLst/>
          </a:prstGeom>
        </p:spPr>
      </p:pic>
      <p:pic>
        <p:nvPicPr>
          <p:cNvPr id="9" name="Picture 8">
            <a:extLst>
              <a:ext uri="{FF2B5EF4-FFF2-40B4-BE49-F238E27FC236}">
                <a16:creationId xmlns:a16="http://schemas.microsoft.com/office/drawing/2014/main" id="{08551010-C1D6-B103-8466-98A264024F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2403" y="4468338"/>
            <a:ext cx="1347725" cy="1347725"/>
          </a:xfrm>
          <a:prstGeom prst="rect">
            <a:avLst/>
          </a:prstGeom>
        </p:spPr>
      </p:pic>
      <p:pic>
        <p:nvPicPr>
          <p:cNvPr id="10" name="Picture 9">
            <a:extLst>
              <a:ext uri="{FF2B5EF4-FFF2-40B4-BE49-F238E27FC236}">
                <a16:creationId xmlns:a16="http://schemas.microsoft.com/office/drawing/2014/main" id="{D2DC3AF2-50EB-BE07-1EC3-DA0A044A8E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692945" y="4545236"/>
            <a:ext cx="1152599" cy="1152599"/>
          </a:xfrm>
          <a:prstGeom prst="rect">
            <a:avLst/>
          </a:prstGeom>
        </p:spPr>
      </p:pic>
      <p:pic>
        <p:nvPicPr>
          <p:cNvPr id="11" name="Picture 10">
            <a:extLst>
              <a:ext uri="{FF2B5EF4-FFF2-40B4-BE49-F238E27FC236}">
                <a16:creationId xmlns:a16="http://schemas.microsoft.com/office/drawing/2014/main" id="{C1E7715F-7BF8-7EB6-ABE4-3844986BF6D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25671" y="2529395"/>
            <a:ext cx="1077989" cy="1077989"/>
          </a:xfrm>
          <a:prstGeom prst="rect">
            <a:avLst/>
          </a:prstGeom>
        </p:spPr>
      </p:pic>
    </p:spTree>
    <p:extLst>
      <p:ext uri="{BB962C8B-B14F-4D97-AF65-F5344CB8AC3E}">
        <p14:creationId xmlns:p14="http://schemas.microsoft.com/office/powerpoint/2010/main" val="404526045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Effect transition="in" filter="fade">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1000" fill="hold"/>
                                        <p:tgtEl>
                                          <p:spTgt spid="7"/>
                                        </p:tgtEl>
                                        <p:attrNameLst>
                                          <p:attrName>ppt_w</p:attrName>
                                        </p:attrNameLst>
                                      </p:cBhvr>
                                      <p:tavLst>
                                        <p:tav tm="0">
                                          <p:val>
                                            <p:fltVal val="0"/>
                                          </p:val>
                                        </p:tav>
                                        <p:tav tm="100000">
                                          <p:val>
                                            <p:strVal val="#ppt_w"/>
                                          </p:val>
                                        </p:tav>
                                      </p:tavLst>
                                    </p:anim>
                                    <p:anim calcmode="lin" valueType="num">
                                      <p:cBhvr>
                                        <p:cTn id="22" dur="1000" fill="hold"/>
                                        <p:tgtEl>
                                          <p:spTgt spid="7"/>
                                        </p:tgtEl>
                                        <p:attrNameLst>
                                          <p:attrName>ppt_h</p:attrName>
                                        </p:attrNameLst>
                                      </p:cBhvr>
                                      <p:tavLst>
                                        <p:tav tm="0">
                                          <p:val>
                                            <p:fltVal val="0"/>
                                          </p:val>
                                        </p:tav>
                                        <p:tav tm="100000">
                                          <p:val>
                                            <p:strVal val="#ppt_h"/>
                                          </p:val>
                                        </p:tav>
                                      </p:tavLst>
                                    </p:anim>
                                    <p:animEffect transition="in" filter="fade">
                                      <p:cBhvr>
                                        <p:cTn id="23" dur="1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Effect transition="in" filter="fade">
                                      <p:cBhvr>
                                        <p:cTn id="30" dur="10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Effect transition="in" filter="fade">
                                      <p:cBhvr>
                                        <p:cTn id="37" dur="1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1000" fill="hold"/>
                                        <p:tgtEl>
                                          <p:spTgt spid="11"/>
                                        </p:tgtEl>
                                        <p:attrNameLst>
                                          <p:attrName>ppt_w</p:attrName>
                                        </p:attrNameLst>
                                      </p:cBhvr>
                                      <p:tavLst>
                                        <p:tav tm="0">
                                          <p:val>
                                            <p:fltVal val="0"/>
                                          </p:val>
                                        </p:tav>
                                        <p:tav tm="100000">
                                          <p:val>
                                            <p:strVal val="#ppt_w"/>
                                          </p:val>
                                        </p:tav>
                                      </p:tavLst>
                                    </p:anim>
                                    <p:anim calcmode="lin" valueType="num">
                                      <p:cBhvr>
                                        <p:cTn id="43" dur="1000" fill="hold"/>
                                        <p:tgtEl>
                                          <p:spTgt spid="11"/>
                                        </p:tgtEl>
                                        <p:attrNameLst>
                                          <p:attrName>ppt_h</p:attrName>
                                        </p:attrNameLst>
                                      </p:cBhvr>
                                      <p:tavLst>
                                        <p:tav tm="0">
                                          <p:val>
                                            <p:fltVal val="0"/>
                                          </p:val>
                                        </p:tav>
                                        <p:tav tm="100000">
                                          <p:val>
                                            <p:strVal val="#ppt_h"/>
                                          </p:val>
                                        </p:tav>
                                      </p:tavLst>
                                    </p:anim>
                                    <p:animEffect transition="in" filter="fade">
                                      <p:cBhvr>
                                        <p:cTn id="4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Cloud Essentials Characteristics </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271282" y="1765090"/>
            <a:ext cx="11387318" cy="4355792"/>
          </a:xfrm>
        </p:spPr>
        <p:txBody>
          <a:bodyPr>
            <a:normAutofit/>
          </a:bodyPr>
          <a:lstStyle/>
          <a:p>
            <a:pPr marL="0" indent="0" algn="l">
              <a:lnSpc>
                <a:spcPct val="150000"/>
              </a:lnSpc>
              <a:buNone/>
            </a:pPr>
            <a:r>
              <a:rPr lang="en-US" b="1" i="0" dirty="0">
                <a:effectLst/>
                <a:latin typeface="Times New Roman" panose="02020603050405020304" pitchFamily="18" charset="0"/>
                <a:cs typeface="Times New Roman" panose="02020603050405020304" pitchFamily="18" charset="0"/>
              </a:rPr>
              <a:t>On-demand Self-Service:</a:t>
            </a:r>
            <a:r>
              <a:rPr lang="en-US" b="0" i="0" dirty="0">
                <a:effectLst/>
                <a:latin typeface="Times New Roman" panose="02020603050405020304" pitchFamily="18" charset="0"/>
                <a:cs typeface="Times New Roman" panose="02020603050405020304" pitchFamily="18" charset="0"/>
              </a:rPr>
              <a:t> Cloud consumers can provision and manage computing resources, such as server instances, storage, and networking, without requiring human intervention from the service provider side. Users can provision resources as needed, typically using a web-based interface or API.</a:t>
            </a:r>
          </a:p>
          <a:p>
            <a:pPr marL="0" indent="0" algn="l">
              <a:lnSpc>
                <a:spcPct val="150000"/>
              </a:lnSpc>
              <a:buNone/>
            </a:pPr>
            <a:endParaRPr lang="en-US" b="0" i="0" dirty="0">
              <a:effectLst/>
              <a:latin typeface="Times New Roman" panose="02020603050405020304" pitchFamily="18" charset="0"/>
              <a:cs typeface="Times New Roman" panose="02020603050405020304" pitchFamily="18" charset="0"/>
            </a:endParaRPr>
          </a:p>
          <a:p>
            <a:pPr marL="0" indent="0" algn="l">
              <a:lnSpc>
                <a:spcPct val="150000"/>
              </a:lnSpc>
              <a:buNone/>
            </a:pPr>
            <a:r>
              <a:rPr lang="en-US" b="1" i="0" dirty="0">
                <a:effectLst/>
                <a:latin typeface="Times New Roman" panose="02020603050405020304" pitchFamily="18" charset="0"/>
                <a:cs typeface="Times New Roman" panose="02020603050405020304" pitchFamily="18" charset="0"/>
              </a:rPr>
              <a:t>Broad Network Access:</a:t>
            </a:r>
            <a:r>
              <a:rPr lang="en-US" b="0" i="0" dirty="0">
                <a:effectLst/>
                <a:latin typeface="Times New Roman" panose="02020603050405020304" pitchFamily="18" charset="0"/>
                <a:cs typeface="Times New Roman" panose="02020603050405020304" pitchFamily="18" charset="0"/>
              </a:rPr>
              <a:t> Cloud services are accessible over the network and can be accessed by any devices, such as laptops, smartphones, and tablets, using standard mechanisms. This accessibility promotes unlimited usage and allows access from anywhere with an internet connection.</a:t>
            </a:r>
          </a:p>
        </p:txBody>
      </p:sp>
    </p:spTree>
    <p:extLst>
      <p:ext uri="{BB962C8B-B14F-4D97-AF65-F5344CB8AC3E}">
        <p14:creationId xmlns:p14="http://schemas.microsoft.com/office/powerpoint/2010/main" val="2082883232"/>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Cloud Essentials Characteristics </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271281" y="1765090"/>
            <a:ext cx="11662571" cy="4355792"/>
          </a:xfrm>
        </p:spPr>
        <p:txBody>
          <a:bodyPr>
            <a:normAutofit/>
          </a:bodyPr>
          <a:lstStyle/>
          <a:p>
            <a:pPr marL="0" indent="0" algn="l">
              <a:lnSpc>
                <a:spcPct val="150000"/>
              </a:lnSpc>
              <a:buNone/>
            </a:pPr>
            <a:r>
              <a:rPr lang="en-US" b="1" i="0" dirty="0">
                <a:effectLst/>
                <a:latin typeface="Times New Roman" panose="02020603050405020304" pitchFamily="18" charset="0"/>
                <a:cs typeface="Times New Roman" panose="02020603050405020304" pitchFamily="18" charset="0"/>
              </a:rPr>
              <a:t>Resource Pooling and Multi-tenancy:</a:t>
            </a:r>
            <a:r>
              <a:rPr lang="en-US" b="0" i="0" dirty="0">
                <a:effectLst/>
                <a:latin typeface="Times New Roman" panose="02020603050405020304" pitchFamily="18" charset="0"/>
                <a:cs typeface="Times New Roman" panose="02020603050405020304" pitchFamily="18" charset="0"/>
              </a:rPr>
              <a:t> Cloud resources are shared among multiple users (multi-tenancy) while remaining dynamically assigned and reassigned based on demand. Physical and virtual resources are pooled to serve multiple consumers, allowing for cost efficiency and optimal resource utilization.</a:t>
            </a:r>
          </a:p>
          <a:p>
            <a:pPr marL="0" indent="0" algn="l">
              <a:lnSpc>
                <a:spcPct val="150000"/>
              </a:lnSpc>
              <a:buNone/>
            </a:pPr>
            <a:endParaRPr lang="en-US" b="0" i="0" dirty="0">
              <a:effectLst/>
              <a:latin typeface="Times New Roman" panose="02020603050405020304" pitchFamily="18" charset="0"/>
              <a:cs typeface="Times New Roman" panose="02020603050405020304" pitchFamily="18" charset="0"/>
            </a:endParaRPr>
          </a:p>
          <a:p>
            <a:pPr marL="0" indent="0" algn="l">
              <a:lnSpc>
                <a:spcPct val="150000"/>
              </a:lnSpc>
              <a:buNone/>
            </a:pPr>
            <a:r>
              <a:rPr lang="en-US" b="1" i="0" dirty="0">
                <a:effectLst/>
                <a:latin typeface="Times New Roman" panose="02020603050405020304" pitchFamily="18" charset="0"/>
                <a:cs typeface="Times New Roman" panose="02020603050405020304" pitchFamily="18" charset="0"/>
              </a:rPr>
              <a:t>Scalability:</a:t>
            </a:r>
            <a:r>
              <a:rPr lang="en-US" b="0" i="0" dirty="0">
                <a:effectLst/>
                <a:latin typeface="Times New Roman" panose="02020603050405020304" pitchFamily="18" charset="0"/>
                <a:cs typeface="Times New Roman" panose="02020603050405020304" pitchFamily="18" charset="0"/>
              </a:rPr>
              <a:t> Cloud services provide the capability to scale resources both vertically (increasing the power of individual resources) and horizontally (adding more instances of resources) to meet changing demand dynamically. This scalability enables users to rapidly scale up or down based on workload fluctuations.</a:t>
            </a:r>
          </a:p>
        </p:txBody>
      </p:sp>
    </p:spTree>
    <p:extLst>
      <p:ext uri="{BB962C8B-B14F-4D97-AF65-F5344CB8AC3E}">
        <p14:creationId xmlns:p14="http://schemas.microsoft.com/office/powerpoint/2010/main" val="998776306"/>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Cloud Essentials Characteristics </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271281" y="1765090"/>
            <a:ext cx="11662571" cy="4355792"/>
          </a:xfrm>
        </p:spPr>
        <p:txBody>
          <a:bodyPr>
            <a:normAutofit/>
          </a:bodyPr>
          <a:lstStyle/>
          <a:p>
            <a:pPr marL="0" indent="0" algn="l">
              <a:lnSpc>
                <a:spcPct val="150000"/>
              </a:lnSpc>
              <a:buNone/>
            </a:pPr>
            <a:r>
              <a:rPr lang="en-US" b="1" i="0" dirty="0">
                <a:effectLst/>
                <a:latin typeface="Times New Roman" panose="02020603050405020304" pitchFamily="18" charset="0"/>
                <a:cs typeface="Times New Roman" panose="02020603050405020304" pitchFamily="18" charset="0"/>
              </a:rPr>
              <a:t>Measured Service: </a:t>
            </a:r>
            <a:r>
              <a:rPr lang="en-US" i="0" dirty="0">
                <a:effectLst/>
                <a:latin typeface="Times New Roman" panose="02020603050405020304" pitchFamily="18" charset="0"/>
                <a:cs typeface="Times New Roman" panose="02020603050405020304" pitchFamily="18" charset="0"/>
              </a:rPr>
              <a:t>Cloud systems automatically control and optimize resource use by leveraging metering capabilities to monitor, measure, and report resource usage. This measurement facilitates transparent and optimized resource utilization while providing insights for billing, capacity planning, and performance optimization.</a:t>
            </a:r>
          </a:p>
        </p:txBody>
      </p:sp>
    </p:spTree>
    <p:extLst>
      <p:ext uri="{BB962C8B-B14F-4D97-AF65-F5344CB8AC3E}">
        <p14:creationId xmlns:p14="http://schemas.microsoft.com/office/powerpoint/2010/main" val="2146256998"/>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42646" y="2569945"/>
            <a:ext cx="7781544" cy="859055"/>
          </a:xfrm>
        </p:spPr>
        <p:txBody>
          <a:bodyPr>
            <a:normAutofit fontScale="90000"/>
          </a:bodyPr>
          <a:lstStyle/>
          <a:p>
            <a:r>
              <a:rPr lang="en-US" dirty="0"/>
              <a:t>Types of Cloud Computing</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2269237426"/>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Types of Cloud Computing</a:t>
            </a:r>
          </a:p>
        </p:txBody>
      </p:sp>
      <p:sp>
        <p:nvSpPr>
          <p:cNvPr id="2" name="TextBox 1">
            <a:extLst>
              <a:ext uri="{FF2B5EF4-FFF2-40B4-BE49-F238E27FC236}">
                <a16:creationId xmlns:a16="http://schemas.microsoft.com/office/drawing/2014/main" id="{3D038038-9CC1-7426-C450-7A553111F6A3}"/>
              </a:ext>
            </a:extLst>
          </p:cNvPr>
          <p:cNvSpPr txBox="1"/>
          <p:nvPr/>
        </p:nvSpPr>
        <p:spPr>
          <a:xfrm>
            <a:off x="1065847" y="1512337"/>
            <a:ext cx="11027093" cy="2619563"/>
          </a:xfrm>
          <a:prstGeom prst="rect">
            <a:avLst/>
          </a:prstGeom>
          <a:noFill/>
        </p:spPr>
        <p:txBody>
          <a:bodyPr wrap="square">
            <a:spAutoFit/>
          </a:bodyPr>
          <a:lstStyle/>
          <a:p>
            <a:r>
              <a:rPr lang="en-US" sz="2100" dirty="0">
                <a:solidFill>
                  <a:schemeClr val="bg1"/>
                </a:solidFill>
                <a:latin typeface="Times New Roman" panose="02020603050405020304" pitchFamily="18" charset="0"/>
                <a:cs typeface="Times New Roman" panose="02020603050405020304" pitchFamily="18" charset="0"/>
              </a:rPr>
              <a:t>There are the following 4 types of cloud that you can deploy according to the organization's needs-</a:t>
            </a:r>
          </a:p>
          <a:p>
            <a:endParaRPr lang="en-US" sz="2100" dirty="0">
              <a:solidFill>
                <a:schemeClr val="bg1"/>
              </a:solidFill>
              <a:latin typeface="Times New Roman" panose="02020603050405020304" pitchFamily="18" charset="0"/>
              <a:cs typeface="Times New Roman" panose="02020603050405020304" pitchFamily="18" charset="0"/>
            </a:endParaRPr>
          </a:p>
          <a:p>
            <a:pPr marL="360045" indent="-360045">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Public Cloud</a:t>
            </a:r>
          </a:p>
          <a:p>
            <a:pPr marL="360045" indent="-360045">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Private Cloud</a:t>
            </a:r>
          </a:p>
          <a:p>
            <a:pPr marL="360045" indent="-360045">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Hybrid Cloud</a:t>
            </a:r>
          </a:p>
          <a:p>
            <a:pPr marL="360045" indent="-360045">
              <a:lnSpc>
                <a:spcPct val="150000"/>
              </a:lnSpc>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Community Cloud</a:t>
            </a:r>
          </a:p>
        </p:txBody>
      </p:sp>
      <p:pic>
        <p:nvPicPr>
          <p:cNvPr id="3" name="Picture 2" descr="7 Different Types of Cloud Computing Structures | UniPrint.net">
            <a:extLst>
              <a:ext uri="{FF2B5EF4-FFF2-40B4-BE49-F238E27FC236}">
                <a16:creationId xmlns:a16="http://schemas.microsoft.com/office/drawing/2014/main" id="{E7D6F59D-AA84-1DC8-1AC0-2D39AC6D7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132" y="2238241"/>
            <a:ext cx="7202021" cy="30542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FBFF457-E6D8-DB0E-5463-A0B9768AF0D9}"/>
              </a:ext>
            </a:extLst>
          </p:cNvPr>
          <p:cNvPicPr>
            <a:picLocks noChangeAspect="1"/>
          </p:cNvPicPr>
          <p:nvPr/>
        </p:nvPicPr>
        <p:blipFill>
          <a:blip r:embed="rId3"/>
          <a:stretch>
            <a:fillRect/>
          </a:stretch>
        </p:blipFill>
        <p:spPr>
          <a:xfrm>
            <a:off x="4973661" y="2358376"/>
            <a:ext cx="4198984" cy="312447"/>
          </a:xfrm>
          <a:prstGeom prst="rect">
            <a:avLst/>
          </a:prstGeom>
        </p:spPr>
      </p:pic>
    </p:spTree>
    <p:extLst>
      <p:ext uri="{BB962C8B-B14F-4D97-AF65-F5344CB8AC3E}">
        <p14:creationId xmlns:p14="http://schemas.microsoft.com/office/powerpoint/2010/main" val="9505505"/>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Public Cloud </a:t>
            </a:r>
            <a:endParaRPr lang="en-US" sz="3200" dirty="0"/>
          </a:p>
        </p:txBody>
      </p:sp>
      <p:sp>
        <p:nvSpPr>
          <p:cNvPr id="2" name="TextBox 1">
            <a:extLst>
              <a:ext uri="{FF2B5EF4-FFF2-40B4-BE49-F238E27FC236}">
                <a16:creationId xmlns:a16="http://schemas.microsoft.com/office/drawing/2014/main" id="{3D038038-9CC1-7426-C450-7A553111F6A3}"/>
              </a:ext>
            </a:extLst>
          </p:cNvPr>
          <p:cNvSpPr txBox="1"/>
          <p:nvPr/>
        </p:nvSpPr>
        <p:spPr>
          <a:xfrm>
            <a:off x="338060" y="1596313"/>
            <a:ext cx="7747162" cy="4197559"/>
          </a:xfrm>
          <a:prstGeom prst="rect">
            <a:avLst/>
          </a:prstGeom>
          <a:noFill/>
        </p:spPr>
        <p:txBody>
          <a:bodyPr wrap="square">
            <a:spAutoFit/>
          </a:bodyPr>
          <a:lstStyle/>
          <a:p>
            <a:pPr>
              <a:lnSpc>
                <a:spcPct val="150000"/>
              </a:lnSpc>
            </a:pPr>
            <a:r>
              <a:rPr lang="en-US" dirty="0">
                <a:solidFill>
                  <a:schemeClr val="bg1"/>
                </a:solidFill>
                <a:latin typeface="Times New Roman" panose="02020603050405020304" pitchFamily="18" charset="0"/>
                <a:cs typeface="Times New Roman" panose="02020603050405020304" pitchFamily="18" charset="0"/>
              </a:rPr>
              <a:t>Public cloud is open to all to store and access information via the Internet using the pay-per-usage method. </a:t>
            </a:r>
          </a:p>
          <a:p>
            <a:pPr marL="342900" indent="-34290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Public cloud is maintained by the cloud service provider.</a:t>
            </a:r>
          </a:p>
          <a:p>
            <a:pPr marL="342900" indent="-34290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Public cloud is easier to integrate. Hence it offers a better flexibility approach to consumers.</a:t>
            </a:r>
          </a:p>
          <a:p>
            <a:pPr marL="342900" indent="-34290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Public cloud is location independent because its services are delivered through the internet.</a:t>
            </a:r>
          </a:p>
          <a:p>
            <a:pPr marL="342900" indent="-34290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Public cloud is highly scalable as per the requirement of computing resources.</a:t>
            </a:r>
          </a:p>
          <a:p>
            <a:pPr marL="342900" indent="-34290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It is accessible by the general public, so there is no limit to the number of users.</a:t>
            </a:r>
          </a:p>
        </p:txBody>
      </p:sp>
      <p:pic>
        <p:nvPicPr>
          <p:cNvPr id="5" name="Picture 2" descr="Public Cloud">
            <a:extLst>
              <a:ext uri="{FF2B5EF4-FFF2-40B4-BE49-F238E27FC236}">
                <a16:creationId xmlns:a16="http://schemas.microsoft.com/office/drawing/2014/main" id="{7071C2DD-EECC-0892-2942-2F8A54A6C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5222" y="2594469"/>
            <a:ext cx="3978155" cy="2201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621864"/>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Private Cloud</a:t>
            </a:r>
          </a:p>
        </p:txBody>
      </p:sp>
      <p:sp>
        <p:nvSpPr>
          <p:cNvPr id="2" name="TextBox 1">
            <a:extLst>
              <a:ext uri="{FF2B5EF4-FFF2-40B4-BE49-F238E27FC236}">
                <a16:creationId xmlns:a16="http://schemas.microsoft.com/office/drawing/2014/main" id="{3D038038-9CC1-7426-C450-7A553111F6A3}"/>
              </a:ext>
            </a:extLst>
          </p:cNvPr>
          <p:cNvSpPr txBox="1"/>
          <p:nvPr/>
        </p:nvSpPr>
        <p:spPr>
          <a:xfrm>
            <a:off x="119363" y="1488533"/>
            <a:ext cx="11431935" cy="4613058"/>
          </a:xfrm>
          <a:prstGeom prst="rect">
            <a:avLst/>
          </a:prstGeom>
          <a:noFill/>
        </p:spPr>
        <p:txBody>
          <a:bodyPr wrap="square">
            <a:spAutoFit/>
          </a:bodyPr>
          <a:lstStyle/>
          <a:p>
            <a:pPr>
              <a:lnSpc>
                <a:spcPct val="150000"/>
              </a:lnSpc>
            </a:pPr>
            <a:r>
              <a:rPr lang="en-US" dirty="0">
                <a:solidFill>
                  <a:schemeClr val="bg1"/>
                </a:solidFill>
                <a:latin typeface="Times New Roman" panose="02020603050405020304" pitchFamily="18" charset="0"/>
                <a:cs typeface="Times New Roman" panose="02020603050405020304" pitchFamily="18" charset="0"/>
              </a:rPr>
              <a:t>Private cloud is also known as an internal cloud or corporate cloud. It is used by organizations to build and manage their own data centers internally or by the third party. It can be deployed using Opensource tools such as </a:t>
            </a:r>
            <a:r>
              <a:rPr lang="en-US" dirty="0" err="1">
                <a:solidFill>
                  <a:schemeClr val="bg1"/>
                </a:solidFill>
                <a:latin typeface="Times New Roman" panose="02020603050405020304" pitchFamily="18" charset="0"/>
                <a:cs typeface="Times New Roman" panose="02020603050405020304" pitchFamily="18" charset="0"/>
              </a:rPr>
              <a:t>Openstack</a:t>
            </a:r>
            <a:r>
              <a:rPr lang="en-US" dirty="0">
                <a:solidFill>
                  <a:schemeClr val="bg1"/>
                </a:solidFill>
                <a:latin typeface="Times New Roman" panose="02020603050405020304" pitchFamily="18" charset="0"/>
                <a:cs typeface="Times New Roman" panose="02020603050405020304" pitchFamily="18" charset="0"/>
              </a:rPr>
              <a:t> and Eucalyptus.</a:t>
            </a:r>
          </a:p>
          <a:p>
            <a:pPr marL="342900" indent="-34290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Private cloud provides a high level of security and privacy to the users.</a:t>
            </a:r>
          </a:p>
          <a:p>
            <a:pPr marL="342900" indent="-34290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Private cloud offers better performance with improved speed and space capacity.</a:t>
            </a:r>
          </a:p>
          <a:p>
            <a:pPr marL="342900" indent="-34290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It allows the IT team to quickly allocate and deliver on-demand IT resources.</a:t>
            </a:r>
          </a:p>
          <a:p>
            <a:pPr marL="342900" indent="-34290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The organization has full control over the cloud because it is managed by the organization itself. So, there is no need for the organization to depends on anybody.</a:t>
            </a:r>
          </a:p>
          <a:p>
            <a:pPr marL="342900" indent="-34290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It is suitable for organizations that require a separate cloud for their personal use and data security is the first priority</a:t>
            </a:r>
          </a:p>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a:p>
            <a:pPr marL="360045" indent="-360045">
              <a:lnSpc>
                <a:spcPct val="150000"/>
              </a:lnSpc>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0491667"/>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Hybrid cloud </a:t>
            </a:r>
          </a:p>
        </p:txBody>
      </p:sp>
      <p:sp>
        <p:nvSpPr>
          <p:cNvPr id="2" name="TextBox 1">
            <a:extLst>
              <a:ext uri="{FF2B5EF4-FFF2-40B4-BE49-F238E27FC236}">
                <a16:creationId xmlns:a16="http://schemas.microsoft.com/office/drawing/2014/main" id="{3D038038-9CC1-7426-C450-7A553111F6A3}"/>
              </a:ext>
            </a:extLst>
          </p:cNvPr>
          <p:cNvSpPr txBox="1"/>
          <p:nvPr/>
        </p:nvSpPr>
        <p:spPr>
          <a:xfrm>
            <a:off x="444500" y="1577651"/>
            <a:ext cx="11027093" cy="2951064"/>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Hybrid cloud is a combination of public and private clouds.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The main aim to combine these cloud (Public and Private) is to create a unified, automated, and well-managed computing environment.</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In the Hybrid cloud, non-critical activities are performed by the public cloud and critical activities are performed by the private cloud.</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Mainly, a hybrid cloud is used in finance, healthcare, and Universities.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The best hybrid cloud provider companies are Amazon, Microsoft, Google, Cisco, and NetApp..</a:t>
            </a:r>
          </a:p>
        </p:txBody>
      </p:sp>
    </p:spTree>
    <p:extLst>
      <p:ext uri="{BB962C8B-B14F-4D97-AF65-F5344CB8AC3E}">
        <p14:creationId xmlns:p14="http://schemas.microsoft.com/office/powerpoint/2010/main" val="2553589938"/>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3200" dirty="0"/>
              <a:t>Community Cloud</a:t>
            </a:r>
          </a:p>
        </p:txBody>
      </p:sp>
      <p:sp>
        <p:nvSpPr>
          <p:cNvPr id="2" name="TextBox 1">
            <a:extLst>
              <a:ext uri="{FF2B5EF4-FFF2-40B4-BE49-F238E27FC236}">
                <a16:creationId xmlns:a16="http://schemas.microsoft.com/office/drawing/2014/main" id="{3D038038-9CC1-7426-C450-7A553111F6A3}"/>
              </a:ext>
            </a:extLst>
          </p:cNvPr>
          <p:cNvSpPr txBox="1"/>
          <p:nvPr/>
        </p:nvSpPr>
        <p:spPr>
          <a:xfrm>
            <a:off x="231658" y="1488533"/>
            <a:ext cx="11027093" cy="2223942"/>
          </a:xfrm>
          <a:prstGeom prst="rect">
            <a:avLst/>
          </a:prstGeom>
          <a:noFill/>
        </p:spPr>
        <p:txBody>
          <a:bodyPr wrap="square">
            <a:spAutoFit/>
          </a:bodyPr>
          <a:lstStyle/>
          <a:p>
            <a:pPr algn="just">
              <a:lnSpc>
                <a:spcPct val="200000"/>
              </a:lnSpc>
            </a:pPr>
            <a:r>
              <a:rPr lang="en-US" dirty="0">
                <a:solidFill>
                  <a:schemeClr val="bg1"/>
                </a:solidFill>
                <a:latin typeface="Times New Roman" panose="02020603050405020304" pitchFamily="18" charset="0"/>
                <a:cs typeface="Times New Roman" panose="02020603050405020304" pitchFamily="18" charset="0"/>
              </a:rPr>
              <a:t>Community cloud allows systems and services to be accessible by a group of several organizations to share the information between the organization and a specific community. It is owned, managed, and operated by one or more organizations in the community, a third party, or a combination of them.</a:t>
            </a:r>
          </a:p>
          <a:p>
            <a:pPr marL="360045" indent="-360045" algn="just">
              <a:lnSpc>
                <a:spcPct val="200000"/>
              </a:lnSpc>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741357"/>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42646" y="2569945"/>
            <a:ext cx="7781544" cy="859055"/>
          </a:xfrm>
        </p:spPr>
        <p:txBody>
          <a:bodyPr/>
          <a:lstStyle/>
          <a:p>
            <a:r>
              <a:rPr lang="en-US" sz="5400" b="1" dirty="0"/>
              <a:t>Cloud Service Models </a:t>
            </a:r>
            <a:endParaRPr lang="en-US"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Tree>
    <p:extLst>
      <p:ext uri="{BB962C8B-B14F-4D97-AF65-F5344CB8AC3E}">
        <p14:creationId xmlns:p14="http://schemas.microsoft.com/office/powerpoint/2010/main" val="1101166043"/>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4500" y="542925"/>
            <a:ext cx="5763795" cy="535531"/>
          </a:xfrm>
        </p:spPr>
        <p:txBody>
          <a:bodyPr>
            <a:normAutofit fontScale="90000"/>
          </a:bodyPr>
          <a:lstStyle/>
          <a:p>
            <a:pPr algn="ctr"/>
            <a:r>
              <a:rPr lang="en-US" sz="4219" dirty="0"/>
              <a:t>Cloud Service Models </a:t>
            </a:r>
          </a:p>
        </p:txBody>
      </p:sp>
      <p:sp>
        <p:nvSpPr>
          <p:cNvPr id="2" name="Content Placeholder 1"/>
          <p:cNvSpPr>
            <a:spLocks noGrp="1"/>
          </p:cNvSpPr>
          <p:nvPr>
            <p:ph idx="1"/>
          </p:nvPr>
        </p:nvSpPr>
        <p:spPr>
          <a:xfrm>
            <a:off x="309563" y="1690689"/>
            <a:ext cx="11644313" cy="4351338"/>
          </a:xfrm>
        </p:spPr>
        <p:txBody>
          <a:bodyPr>
            <a:normAutofit/>
          </a:bodyPr>
          <a:lstStyle/>
          <a:p>
            <a:pPr marL="0" indent="0">
              <a:buNone/>
            </a:pPr>
            <a:r>
              <a:rPr lang="en-US" sz="2156" dirty="0"/>
              <a:t>There are three Cloud Computing Service Models:</a:t>
            </a:r>
          </a:p>
          <a:p>
            <a:endParaRPr lang="en-US" sz="2156" dirty="0"/>
          </a:p>
          <a:p>
            <a:endParaRPr lang="en-US" sz="2156" dirty="0"/>
          </a:p>
          <a:p>
            <a:pPr lvl="1"/>
            <a:r>
              <a:rPr lang="en-US" sz="1875" dirty="0"/>
              <a:t>Infrastructure as a Service (IaaS)</a:t>
            </a:r>
          </a:p>
          <a:p>
            <a:pPr lvl="1"/>
            <a:endParaRPr lang="en-US" sz="1875" dirty="0"/>
          </a:p>
          <a:p>
            <a:pPr lvl="1"/>
            <a:endParaRPr lang="en-US" sz="1875" dirty="0"/>
          </a:p>
          <a:p>
            <a:pPr lvl="1"/>
            <a:r>
              <a:rPr lang="en-US" sz="1875" dirty="0"/>
              <a:t>Platform as a Service (PaaS)</a:t>
            </a:r>
          </a:p>
          <a:p>
            <a:pPr lvl="1"/>
            <a:endParaRPr lang="en-US" sz="1875" dirty="0"/>
          </a:p>
          <a:p>
            <a:pPr lvl="1"/>
            <a:endParaRPr lang="en-US" sz="1875" dirty="0"/>
          </a:p>
          <a:p>
            <a:pPr lvl="1"/>
            <a:r>
              <a:rPr lang="en-US" sz="1875" dirty="0"/>
              <a:t>Software as a Service (SaaS)</a:t>
            </a:r>
          </a:p>
          <a:p>
            <a:endParaRPr lang="en-US" sz="2156" dirty="0"/>
          </a:p>
          <a:p>
            <a:pPr marL="129263" indent="0">
              <a:buNone/>
            </a:pPr>
            <a:endParaRPr lang="en-US" sz="2813" dirty="0"/>
          </a:p>
          <a:p>
            <a:endParaRPr lang="en-US" dirty="0"/>
          </a:p>
        </p:txBody>
      </p:sp>
      <p:sp>
        <p:nvSpPr>
          <p:cNvPr id="3" name="Footer Placeholder 2"/>
          <p:cNvSpPr>
            <a:spLocks noGrp="1"/>
          </p:cNvSpPr>
          <p:nvPr>
            <p:ph type="ftr" sz="quarter" idx="11"/>
          </p:nvPr>
        </p:nvSpPr>
        <p:spPr>
          <a:xfrm>
            <a:off x="4240530" y="6780107"/>
            <a:ext cx="4320540" cy="389467"/>
          </a:xfrm>
          <a:prstGeom prst="rect">
            <a:avLst/>
          </a:prstGeom>
        </p:spPr>
        <p:txBody>
          <a:bodyPr vert="horz" lIns="91440" tIns="45720" rIns="91440" bIns="45720" rtlCol="0" anchor="ctr"/>
          <a:lstStyle>
            <a:defPPr>
              <a:defRPr lang="en-US"/>
            </a:defPPr>
            <a:lvl1pPr marL="0" algn="ctr" defTabSz="914400" rtl="0" eaLnBrk="1" latinLnBrk="0" hangingPunct="1">
              <a:defRPr sz="126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16</a:t>
            </a:fld>
            <a:endParaRPr lang="en-US"/>
          </a:p>
        </p:txBody>
      </p:sp>
      <p:pic>
        <p:nvPicPr>
          <p:cNvPr id="2050" name="Picture 2" descr="Top 3 Cloud Computing Service Models: SaaS | PaaS | IaaS">
            <a:extLst>
              <a:ext uri="{FF2B5EF4-FFF2-40B4-BE49-F238E27FC236}">
                <a16:creationId xmlns:a16="http://schemas.microsoft.com/office/drawing/2014/main" id="{21F8B751-97F6-D62D-4BE1-DFCD39462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1" y="2571751"/>
            <a:ext cx="5600245" cy="3004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02454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1000"/>
                                        <p:tgtEl>
                                          <p:spTgt spid="2">
                                            <p:txEl>
                                              <p:pRg st="3" end="3"/>
                                            </p:txEl>
                                          </p:spTgt>
                                        </p:tgtEl>
                                      </p:cBhvr>
                                    </p:animEffect>
                                    <p:anim calcmode="lin" valueType="num">
                                      <p:cBhvr>
                                        <p:cTn id="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6" end="6"/>
                                            </p:txEl>
                                          </p:spTgt>
                                        </p:tgtEl>
                                        <p:attrNameLst>
                                          <p:attrName>style.visibility</p:attrName>
                                        </p:attrNameLst>
                                      </p:cBhvr>
                                      <p:to>
                                        <p:strVal val="visible"/>
                                      </p:to>
                                    </p:set>
                                    <p:animEffect transition="in" filter="fade">
                                      <p:cBhvr>
                                        <p:cTn id="14" dur="1000"/>
                                        <p:tgtEl>
                                          <p:spTgt spid="2">
                                            <p:txEl>
                                              <p:pRg st="6" end="6"/>
                                            </p:txEl>
                                          </p:spTgt>
                                        </p:tgtEl>
                                      </p:cBhvr>
                                    </p:animEffect>
                                    <p:anim calcmode="lin" valueType="num">
                                      <p:cBhvr>
                                        <p:cTn id="1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animEffect transition="in" filter="fade">
                                      <p:cBhvr>
                                        <p:cTn id="21" dur="1000"/>
                                        <p:tgtEl>
                                          <p:spTgt spid="2">
                                            <p:txEl>
                                              <p:pRg st="9" end="9"/>
                                            </p:txEl>
                                          </p:spTgt>
                                        </p:tgtEl>
                                      </p:cBhvr>
                                    </p:animEffect>
                                    <p:anim calcmode="lin" valueType="num">
                                      <p:cBhvr>
                                        <p:cTn id="22"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558967"/>
            <a:ext cx="7512384" cy="535531"/>
          </a:xfrm>
        </p:spPr>
        <p:txBody>
          <a:bodyPr>
            <a:normAutofit fontScale="90000"/>
          </a:bodyPr>
          <a:lstStyle/>
          <a:p>
            <a:pPr algn="ctr"/>
            <a:r>
              <a:rPr lang="en-US" sz="4219" dirty="0"/>
              <a:t>Infrastructure as a Service (IaaS)</a:t>
            </a:r>
            <a:br>
              <a:rPr lang="en-US" sz="4219" dirty="0"/>
            </a:br>
            <a:endParaRPr lang="en-US" sz="4219" dirty="0"/>
          </a:p>
        </p:txBody>
      </p:sp>
      <p:sp>
        <p:nvSpPr>
          <p:cNvPr id="2" name="Content Placeholder 1"/>
          <p:cNvSpPr>
            <a:spLocks noGrp="1"/>
          </p:cNvSpPr>
          <p:nvPr>
            <p:ph idx="1"/>
          </p:nvPr>
        </p:nvSpPr>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Cloud infrastructure services, known as Infrastructure as a Service (IaaS), are made of highly scalable and automated compute resources. IaaS is fully self-service for accessing and monitoring computers, networking, storage, and other services. IaaS allows businesses to purchase resources on-demand and as-needed instead of having to buy hardware outright.</a:t>
            </a:r>
          </a:p>
        </p:txBody>
      </p:sp>
      <p:sp>
        <p:nvSpPr>
          <p:cNvPr id="3" name="Footer Placeholder 2"/>
          <p:cNvSpPr>
            <a:spLocks noGrp="1"/>
          </p:cNvSpPr>
          <p:nvPr>
            <p:ph type="ftr" sz="quarter" idx="11"/>
          </p:nvPr>
        </p:nvSpPr>
        <p:spPr>
          <a:xfrm>
            <a:off x="4240530" y="6780107"/>
            <a:ext cx="4320540" cy="389467"/>
          </a:xfrm>
          <a:prstGeom prst="rect">
            <a:avLst/>
          </a:prstGeom>
        </p:spPr>
        <p:txBody>
          <a:bodyPr vert="horz" lIns="91440" tIns="45720" rIns="91440" bIns="45720" rtlCol="0" anchor="ctr"/>
          <a:lstStyle>
            <a:defPPr>
              <a:defRPr lang="en-US"/>
            </a:defPPr>
            <a:lvl1pPr marL="0" algn="ctr" defTabSz="914400" rtl="0" eaLnBrk="1" latinLnBrk="0" hangingPunct="1">
              <a:defRPr sz="126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17</a:t>
            </a:fld>
            <a:endParaRPr lang="en-US"/>
          </a:p>
        </p:txBody>
      </p:sp>
    </p:spTree>
    <p:extLst>
      <p:ext uri="{BB962C8B-B14F-4D97-AF65-F5344CB8AC3E}">
        <p14:creationId xmlns:p14="http://schemas.microsoft.com/office/powerpoint/2010/main" val="3598034799"/>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4500" y="542925"/>
            <a:ext cx="6516137" cy="535531"/>
          </a:xfrm>
        </p:spPr>
        <p:txBody>
          <a:bodyPr>
            <a:normAutofit fontScale="90000"/>
          </a:bodyPr>
          <a:lstStyle/>
          <a:p>
            <a:pPr algn="ctr"/>
            <a:r>
              <a:rPr lang="en-US" sz="4219" dirty="0"/>
              <a:t>Platform as a Service (PaaS)</a:t>
            </a:r>
          </a:p>
        </p:txBody>
      </p:sp>
      <p:sp>
        <p:nvSpPr>
          <p:cNvPr id="2" name="Content Placeholder 1"/>
          <p:cNvSpPr>
            <a:spLocks noGrp="1"/>
          </p:cNvSpPr>
          <p:nvPr>
            <p:ph idx="1"/>
          </p:nvPr>
        </p:nvSpPr>
        <p:spPr/>
        <p:txBody>
          <a:bodyPr>
            <a:normAutofit/>
          </a:bodyPr>
          <a:lstStyle/>
          <a:p>
            <a:pPr marL="0" indent="0" algn="just">
              <a:lnSpc>
                <a:spcPct val="150000"/>
              </a:lnSpc>
              <a:buNone/>
            </a:pPr>
            <a:r>
              <a:rPr lang="en-US" sz="1875" dirty="0">
                <a:latin typeface="Times New Roman" panose="02020603050405020304" pitchFamily="18" charset="0"/>
                <a:cs typeface="Times New Roman" panose="02020603050405020304" pitchFamily="18" charset="0"/>
              </a:rPr>
              <a:t>Platform As A Service (PAAS) is a cloud delivery model for applications composed of services managed by a </a:t>
            </a:r>
            <a:r>
              <a:rPr lang="en-US" sz="2250" dirty="0">
                <a:latin typeface="Times New Roman" panose="02020603050405020304" pitchFamily="18" charset="0"/>
                <a:cs typeface="Times New Roman" panose="02020603050405020304" pitchFamily="18" charset="0"/>
              </a:rPr>
              <a:t>third</a:t>
            </a:r>
            <a:r>
              <a:rPr lang="en-US" sz="1875" dirty="0">
                <a:latin typeface="Times New Roman" panose="02020603050405020304" pitchFamily="18" charset="0"/>
                <a:cs typeface="Times New Roman" panose="02020603050405020304" pitchFamily="18" charset="0"/>
              </a:rPr>
              <a:t> party. It provides elastic scaling of your application which allows developers to build applications and services over the internet and the deployment models include public, private and hybrid. </a:t>
            </a:r>
          </a:p>
          <a:p>
            <a:pPr marL="129263" indent="0" algn="just">
              <a:lnSpc>
                <a:spcPct val="150000"/>
              </a:lnSpc>
              <a:buNone/>
            </a:pPr>
            <a:endParaRPr lang="en-US" sz="1875"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4240530" y="6780107"/>
            <a:ext cx="4320540" cy="389467"/>
          </a:xfrm>
          <a:prstGeom prst="rect">
            <a:avLst/>
          </a:prstGeom>
        </p:spPr>
        <p:txBody>
          <a:bodyPr vert="horz" lIns="91440" tIns="45720" rIns="91440" bIns="45720" rtlCol="0" anchor="ctr"/>
          <a:lstStyle>
            <a:defPPr>
              <a:defRPr lang="en-US"/>
            </a:defPPr>
            <a:lvl1pPr marL="0" algn="ctr" defTabSz="914400" rtl="0" eaLnBrk="1" latinLnBrk="0" hangingPunct="1">
              <a:defRPr sz="126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18</a:t>
            </a:fld>
            <a:endParaRPr lang="en-US"/>
          </a:p>
        </p:txBody>
      </p:sp>
    </p:spTree>
    <p:extLst>
      <p:ext uri="{BB962C8B-B14F-4D97-AF65-F5344CB8AC3E}">
        <p14:creationId xmlns:p14="http://schemas.microsoft.com/office/powerpoint/2010/main" val="3131015720"/>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4500" y="542925"/>
            <a:ext cx="6348186" cy="535531"/>
          </a:xfrm>
        </p:spPr>
        <p:txBody>
          <a:bodyPr>
            <a:normAutofit fontScale="90000"/>
          </a:bodyPr>
          <a:lstStyle/>
          <a:p>
            <a:pPr algn="ctr"/>
            <a:r>
              <a:rPr lang="en-US" sz="4219" dirty="0"/>
              <a:t>Software as a Service (SaaS)</a:t>
            </a:r>
          </a:p>
        </p:txBody>
      </p:sp>
      <p:sp>
        <p:nvSpPr>
          <p:cNvPr id="2" name="Content Placeholder 1"/>
          <p:cNvSpPr>
            <a:spLocks noGrp="1"/>
          </p:cNvSpPr>
          <p:nvPr>
            <p:ph idx="1"/>
          </p:nvPr>
        </p:nvSpPr>
        <p:spPr/>
        <p:txBody>
          <a:bodyPr>
            <a:normAutofit/>
          </a:bodyPr>
          <a:lstStyle/>
          <a:p>
            <a:pPr marL="0" indent="0" algn="just">
              <a:lnSpc>
                <a:spcPct val="150000"/>
              </a:lnSpc>
              <a:buNone/>
            </a:pPr>
            <a:r>
              <a:rPr lang="en-US" sz="2156" dirty="0">
                <a:latin typeface="Times New Roman" panose="02020603050405020304" pitchFamily="18" charset="0"/>
                <a:cs typeface="Times New Roman" panose="02020603050405020304" pitchFamily="18" charset="0"/>
              </a:rPr>
              <a:t> Software As A Service (SAAS) allows users to run existing online applications and it is a model software that is deployed as a hosting service and is accessed over Output Rephrased/Re-written Text the internet or software delivery model during which software and its associated data are hosted centrally and accessed using their client, usually an online browser over the web. SAAS services are used for the development and deployment of modern applications. </a:t>
            </a:r>
          </a:p>
          <a:p>
            <a:pPr marL="129263" indent="0" algn="just">
              <a:lnSpc>
                <a:spcPct val="150000"/>
              </a:lnSpc>
              <a:buNone/>
            </a:pPr>
            <a:endParaRPr lang="en-US" sz="2156" dirty="0">
              <a:latin typeface="Times New Roman" panose="02020603050405020304" pitchFamily="18" charset="0"/>
              <a:cs typeface="Times New Roman" panose="02020603050405020304" pitchFamily="18" charset="0"/>
            </a:endParaRPr>
          </a:p>
          <a:p>
            <a:endParaRPr lang="en-US" sz="2156"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4240530" y="6780107"/>
            <a:ext cx="4320540" cy="389467"/>
          </a:xfrm>
          <a:prstGeom prst="rect">
            <a:avLst/>
          </a:prstGeom>
        </p:spPr>
        <p:txBody>
          <a:bodyPr vert="horz" lIns="91440" tIns="45720" rIns="91440" bIns="45720" rtlCol="0" anchor="ctr"/>
          <a:lstStyle>
            <a:defPPr>
              <a:defRPr lang="en-US"/>
            </a:defPPr>
            <a:lvl1pPr marL="0" algn="ctr" defTabSz="914400" rtl="0" eaLnBrk="1" latinLnBrk="0" hangingPunct="1">
              <a:defRPr sz="126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19</a:t>
            </a:fld>
            <a:endParaRPr lang="en-US"/>
          </a:p>
        </p:txBody>
      </p:sp>
    </p:spTree>
    <p:extLst>
      <p:ext uri="{BB962C8B-B14F-4D97-AF65-F5344CB8AC3E}">
        <p14:creationId xmlns:p14="http://schemas.microsoft.com/office/powerpoint/2010/main" val="3496646784"/>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4"/>
          <p:cNvSpPr>
            <a:spLocks noGrp="1"/>
          </p:cNvSpPr>
          <p:nvPr>
            <p:ph type="title"/>
          </p:nvPr>
        </p:nvSpPr>
        <p:spPr/>
        <p:txBody>
          <a:bodyPr>
            <a:normAutofit fontScale="90000"/>
          </a:bodyPr>
          <a:lstStyle/>
          <a:p>
            <a:r>
              <a:rPr lang="en-US" sz="4219" dirty="0"/>
              <a:t>Responsibility- Who owns What?</a:t>
            </a:r>
          </a:p>
        </p:txBody>
      </p:sp>
      <p:sp>
        <p:nvSpPr>
          <p:cNvPr id="4" name="Footer Placeholder 3"/>
          <p:cNvSpPr>
            <a:spLocks noGrp="1"/>
          </p:cNvSpPr>
          <p:nvPr>
            <p:ph type="ftr" sz="quarter" idx="11"/>
          </p:nvPr>
        </p:nvSpPr>
        <p:spPr>
          <a:xfrm>
            <a:off x="4240530" y="6780107"/>
            <a:ext cx="4320540" cy="389467"/>
          </a:xfrm>
          <a:prstGeom prst="rect">
            <a:avLst/>
          </a:prstGeom>
        </p:spPr>
        <p:txBody>
          <a:bodyPr vert="horz" lIns="91440" tIns="45720" rIns="91440" bIns="45720" rtlCol="0" anchor="ctr"/>
          <a:lstStyle>
            <a:defPPr>
              <a:defRPr lang="en-US"/>
            </a:defPPr>
            <a:lvl1pPr marL="0" algn="ctr" defTabSz="914400" rtl="0" eaLnBrk="1" latinLnBrk="0" hangingPunct="1">
              <a:defRPr sz="126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 Techlanders Solutions</a:t>
            </a: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4119462B-DC2E-4E97-BC89-145590C3647E}" type="slidenum">
              <a:rPr lang="en-US" smtClean="0">
                <a:solidFill>
                  <a:prstClr val="black">
                    <a:tint val="75000"/>
                  </a:prstClr>
                </a:solidFill>
              </a:rPr>
              <a:pPr/>
              <a:t>20</a:t>
            </a:fld>
            <a:endParaRPr lang="en-US">
              <a:solidFill>
                <a:prstClr val="black">
                  <a:tint val="75000"/>
                </a:prstClr>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2078"/>
            <a:ext cx="12192000" cy="4992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391202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500" fill="hold"/>
                                        <p:tgtEl>
                                          <p:spTgt spid="4098"/>
                                        </p:tgtEl>
                                        <p:attrNameLst>
                                          <p:attrName>ppt_w</p:attrName>
                                        </p:attrNameLst>
                                      </p:cBhvr>
                                      <p:tavLst>
                                        <p:tav tm="0">
                                          <p:val>
                                            <p:fltVal val="0"/>
                                          </p:val>
                                        </p:tav>
                                        <p:tav tm="100000">
                                          <p:val>
                                            <p:strVal val="#ppt_w"/>
                                          </p:val>
                                        </p:tav>
                                      </p:tavLst>
                                    </p:anim>
                                    <p:anim calcmode="lin" valueType="num">
                                      <p:cBhvr>
                                        <p:cTn id="8" dur="500" fill="hold"/>
                                        <p:tgtEl>
                                          <p:spTgt spid="4098"/>
                                        </p:tgtEl>
                                        <p:attrNameLst>
                                          <p:attrName>ppt_h</p:attrName>
                                        </p:attrNameLst>
                                      </p:cBhvr>
                                      <p:tavLst>
                                        <p:tav tm="0">
                                          <p:val>
                                            <p:fltVal val="0"/>
                                          </p:val>
                                        </p:tav>
                                        <p:tav tm="100000">
                                          <p:val>
                                            <p:strVal val="#ppt_h"/>
                                          </p:val>
                                        </p:tav>
                                      </p:tavLst>
                                    </p:anim>
                                    <p:animEffect transition="in" filter="fade">
                                      <p:cBhvr>
                                        <p:cTn id="9"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2441" y="2845836"/>
            <a:ext cx="9271809" cy="1447800"/>
          </a:xfrm>
        </p:spPr>
        <p:txBody>
          <a:bodyPr>
            <a:normAutofit/>
          </a:bodyPr>
          <a:lstStyle/>
          <a:p>
            <a:pPr algn="ctr"/>
            <a:r>
              <a:rPr lang="en-US" dirty="0">
                <a:solidFill>
                  <a:schemeClr val="bg1"/>
                </a:solidFill>
              </a:rPr>
              <a:t>Amazon Web Services </a:t>
            </a:r>
          </a:p>
        </p:txBody>
      </p:sp>
      <p:sp>
        <p:nvSpPr>
          <p:cNvPr id="4" name="Footer Placeholder 3"/>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5" name="Slide Number Placeholder 4"/>
          <p:cNvSpPr>
            <a:spLocks noGrp="1"/>
          </p:cNvSpPr>
          <p:nvPr>
            <p:ph type="sldNum" sz="quarter" idx="12"/>
          </p:nvPr>
        </p:nvSpPr>
        <p:spPr>
          <a:xfrm>
            <a:off x="9174480" y="6780111"/>
            <a:ext cx="2987040" cy="389467"/>
          </a:xfrm>
          <a:prstGeom prst="rect">
            <a:avLst/>
          </a:prstGeom>
        </p:spPr>
        <p:txBody>
          <a:bodyPr vert="horz" lIns="114901" tIns="57454" rIns="114901" bIns="57454" rtlCol="0" anchor="ctr"/>
          <a:lstStyle>
            <a:defPPr>
              <a:defRPr lang="en-US"/>
            </a:defPPr>
            <a:lvl1pPr marL="0" algn="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fld id="{4119462B-DC2E-4E97-BC89-145590C3647E}" type="slidenum">
              <a:rPr lang="en-US" smtClean="0"/>
              <a:pPr/>
              <a:t>21</a:t>
            </a:fld>
            <a:endParaRPr lang="en-US"/>
          </a:p>
        </p:txBody>
      </p:sp>
      <p:pic>
        <p:nvPicPr>
          <p:cNvPr id="26626" name="Picture 2" descr="Download Amazon Web Services (AWS) Logo in SVG Vector or PNG File Format -  Logo.wine">
            <a:extLst>
              <a:ext uri="{FF2B5EF4-FFF2-40B4-BE49-F238E27FC236}">
                <a16:creationId xmlns:a16="http://schemas.microsoft.com/office/drawing/2014/main" id="{97BF5DC5-11C1-F14C-3E5F-6901B28FB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2793" y="607984"/>
            <a:ext cx="5586413" cy="3107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02009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49912" y="1371600"/>
            <a:ext cx="10801350" cy="4525963"/>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AWS (Amazon Web Services) is a group of web services (also known as cloud services) being provided by Amazon since 2006.</a:t>
            </a:r>
          </a:p>
          <a:p>
            <a:pPr algn="just">
              <a:lnSpc>
                <a:spcPct val="150000"/>
              </a:lnSpc>
            </a:pPr>
            <a:r>
              <a:rPr lang="en-US" sz="1800" dirty="0">
                <a:latin typeface="Times New Roman" panose="02020603050405020304" pitchFamily="18" charset="0"/>
                <a:cs typeface="Times New Roman" panose="02020603050405020304" pitchFamily="18" charset="0"/>
              </a:rPr>
              <a:t>AWS provides huge list of services starting from basic IT infrastructure like CPU, Storage as a service, to advance services like Database as a service, Serverless applications, IOT,  Machine Learning services etc..</a:t>
            </a:r>
          </a:p>
          <a:p>
            <a:pPr algn="just">
              <a:lnSpc>
                <a:spcPct val="150000"/>
              </a:lnSpc>
            </a:pPr>
            <a:r>
              <a:rPr lang="en-US" sz="1800" dirty="0">
                <a:latin typeface="Times New Roman" panose="02020603050405020304" pitchFamily="18" charset="0"/>
                <a:cs typeface="Times New Roman" panose="02020603050405020304" pitchFamily="18" charset="0"/>
              </a:rPr>
              <a:t>Hundreds of instances can be build and use in few minutes as and when required, which saves ample amount of hardware cost for any organizations and make them efficient to focus on their core business areas.</a:t>
            </a:r>
          </a:p>
          <a:p>
            <a:pPr algn="just">
              <a:lnSpc>
                <a:spcPct val="150000"/>
              </a:lnSpc>
            </a:pPr>
            <a:r>
              <a:rPr lang="en-US" sz="1800" dirty="0">
                <a:latin typeface="Times New Roman" panose="02020603050405020304" pitchFamily="18" charset="0"/>
                <a:cs typeface="Times New Roman" panose="02020603050405020304" pitchFamily="18" charset="0"/>
              </a:rPr>
              <a:t>Currently AWS is present and providing cloud services in more than 190 countries.</a:t>
            </a:r>
          </a:p>
          <a:p>
            <a:pPr algn="just">
              <a:lnSpc>
                <a:spcPct val="150000"/>
              </a:lnSpc>
            </a:pPr>
            <a:r>
              <a:rPr lang="en-US" sz="1800" dirty="0">
                <a:latin typeface="Times New Roman" panose="02020603050405020304" pitchFamily="18" charset="0"/>
                <a:cs typeface="Times New Roman" panose="02020603050405020304" pitchFamily="18" charset="0"/>
              </a:rPr>
              <a:t>Well-known for IaaS, but now growing fast in PaaS and SaaS. </a:t>
            </a:r>
          </a:p>
          <a:p>
            <a:pPr>
              <a:lnSpc>
                <a:spcPct val="150000"/>
              </a:lnSpc>
            </a:pPr>
            <a:endParaRPr lang="en-US" sz="1800" dirty="0">
              <a:latin typeface="Times New Roman" panose="02020603050405020304" pitchFamily="18" charset="0"/>
              <a:cs typeface="Times New Roman" panose="02020603050405020304" pitchFamily="18" charset="0"/>
            </a:endParaRPr>
          </a:p>
          <a:p>
            <a:pPr marL="129263" indent="0">
              <a:lnSpc>
                <a:spcPct val="150000"/>
              </a:lnSpc>
              <a:buNone/>
            </a:pPr>
            <a:endParaRPr lang="en-US" sz="1800" b="1" dirty="0">
              <a:latin typeface="Times New Roman" panose="02020603050405020304" pitchFamily="18" charset="0"/>
              <a:cs typeface="Times New Roman" panose="02020603050405020304" pitchFamily="18" charset="0"/>
            </a:endParaRPr>
          </a:p>
          <a:p>
            <a:pPr>
              <a:lnSpc>
                <a:spcPct val="150000"/>
              </a:lnSpc>
            </a:pPr>
            <a:endParaRPr lang="en-US" sz="1800" dirty="0">
              <a:latin typeface="Times New Roman" panose="02020603050405020304" pitchFamily="18" charset="0"/>
              <a:cs typeface="Times New Roman" panose="02020603050405020304" pitchFamily="18" charset="0"/>
            </a:endParaRPr>
          </a:p>
          <a:p>
            <a:pPr>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22</a:t>
            </a:fld>
            <a:endParaRPr lang="en-US"/>
          </a:p>
        </p:txBody>
      </p:sp>
      <p:sp>
        <p:nvSpPr>
          <p:cNvPr id="5" name="Title 4"/>
          <p:cNvSpPr>
            <a:spLocks noGrp="1"/>
          </p:cNvSpPr>
          <p:nvPr>
            <p:ph type="title"/>
          </p:nvPr>
        </p:nvSpPr>
        <p:spPr/>
        <p:txBody>
          <a:bodyPr>
            <a:normAutofit fontScale="90000"/>
          </a:bodyPr>
          <a:lstStyle/>
          <a:p>
            <a:r>
              <a:rPr lang="en-US" sz="4219" dirty="0"/>
              <a:t>Amazon Web Services</a:t>
            </a:r>
          </a:p>
        </p:txBody>
      </p:sp>
      <p:pic>
        <p:nvPicPr>
          <p:cNvPr id="6" name="Picture 2" descr="Download Amazon Web Services (AWS) Logo in SVG Vector or PNG File Format -  Logo.wine">
            <a:extLst>
              <a:ext uri="{FF2B5EF4-FFF2-40B4-BE49-F238E27FC236}">
                <a16:creationId xmlns:a16="http://schemas.microsoft.com/office/drawing/2014/main" id="{CA3A20C4-2AD0-BA3F-3351-D4D3E47FA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9725" y="104696"/>
            <a:ext cx="2014179" cy="1120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75076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438275"/>
            <a:ext cx="11601320" cy="4876800"/>
          </a:xfrm>
        </p:spPr>
        <p:txBody>
          <a:bodyPr>
            <a:noAutofit/>
          </a:bodyPr>
          <a:lstStyle/>
          <a:p>
            <a:pPr algn="just">
              <a:lnSpc>
                <a:spcPct val="150000"/>
              </a:lnSpc>
            </a:pPr>
            <a:r>
              <a:rPr lang="en-US" sz="1800" b="1" dirty="0">
                <a:latin typeface="Times New Roman" panose="02020603050405020304" pitchFamily="18" charset="0"/>
                <a:cs typeface="Times New Roman" panose="02020603050405020304" pitchFamily="18" charset="0"/>
              </a:rPr>
              <a:t>Low Cost: </a:t>
            </a:r>
            <a:r>
              <a:rPr lang="en-US" sz="1800" dirty="0">
                <a:latin typeface="Times New Roman" panose="02020603050405020304" pitchFamily="18" charset="0"/>
                <a:cs typeface="Times New Roman" panose="02020603050405020304" pitchFamily="18" charset="0"/>
              </a:rPr>
              <a:t>AWS offers, pay as you go pricing. AWS models are usually cheapest among other service providers in the market.</a:t>
            </a:r>
          </a:p>
          <a:p>
            <a:pPr algn="just">
              <a:lnSpc>
                <a:spcPct val="150000"/>
              </a:lnSpc>
            </a:pPr>
            <a:r>
              <a:rPr lang="en-US" sz="1800" b="1" dirty="0">
                <a:latin typeface="Times New Roman" panose="02020603050405020304" pitchFamily="18" charset="0"/>
                <a:cs typeface="Times New Roman" panose="02020603050405020304" pitchFamily="18" charset="0"/>
              </a:rPr>
              <a:t>Instant Elasticity: </a:t>
            </a:r>
            <a:r>
              <a:rPr lang="en-US" sz="1800" dirty="0">
                <a:latin typeface="Times New Roman" panose="02020603050405020304" pitchFamily="18" charset="0"/>
                <a:cs typeface="Times New Roman" panose="02020603050405020304" pitchFamily="18" charset="0"/>
              </a:rPr>
              <a:t>You need 1 server or 1000’s of servers, AWS has a massive infrastructure at backend to serve almost any kind of infrastructure demands, with pay for what you use policy.</a:t>
            </a:r>
          </a:p>
          <a:p>
            <a:pPr algn="just">
              <a:lnSpc>
                <a:spcPct val="150000"/>
              </a:lnSpc>
            </a:pPr>
            <a:r>
              <a:rPr lang="en-US" sz="1800" b="1" dirty="0">
                <a:latin typeface="Times New Roman" panose="02020603050405020304" pitchFamily="18" charset="0"/>
                <a:cs typeface="Times New Roman" panose="02020603050405020304" pitchFamily="18" charset="0"/>
              </a:rPr>
              <a:t>Scalability: </a:t>
            </a:r>
            <a:r>
              <a:rPr lang="en-US" sz="1800" dirty="0">
                <a:latin typeface="Times New Roman" panose="02020603050405020304" pitchFamily="18" charset="0"/>
                <a:cs typeface="Times New Roman" panose="02020603050405020304" pitchFamily="18" charset="0"/>
              </a:rPr>
              <a:t>Facing some resource issues, no problem within seconds you can scale up the resources and improve your application performance. This cannot be compared with traditional IT datacenters. </a:t>
            </a:r>
          </a:p>
          <a:p>
            <a:pPr algn="just">
              <a:lnSpc>
                <a:spcPct val="150000"/>
              </a:lnSpc>
            </a:pPr>
            <a:r>
              <a:rPr lang="en-US" sz="1800" b="1" dirty="0">
                <a:latin typeface="Times New Roman" panose="02020603050405020304" pitchFamily="18" charset="0"/>
                <a:cs typeface="Times New Roman" panose="02020603050405020304" pitchFamily="18" charset="0"/>
              </a:rPr>
              <a:t>Multiple OS’s: </a:t>
            </a:r>
            <a:r>
              <a:rPr lang="en-US" sz="1800" dirty="0">
                <a:latin typeface="Times New Roman" panose="02020603050405020304" pitchFamily="18" charset="0"/>
                <a:cs typeface="Times New Roman" panose="02020603050405020304" pitchFamily="18" charset="0"/>
              </a:rPr>
              <a:t>Choice and use any supported Operating systems.</a:t>
            </a:r>
          </a:p>
          <a:p>
            <a:pPr algn="just">
              <a:lnSpc>
                <a:spcPct val="150000"/>
              </a:lnSpc>
            </a:pPr>
            <a:r>
              <a:rPr lang="en-US" sz="1800" b="1" dirty="0">
                <a:latin typeface="Times New Roman" panose="02020603050405020304" pitchFamily="18" charset="0"/>
                <a:cs typeface="Times New Roman" panose="02020603050405020304" pitchFamily="18" charset="0"/>
              </a:rPr>
              <a:t>Multiple Storage Options: </a:t>
            </a:r>
            <a:r>
              <a:rPr lang="en-US" sz="1800" dirty="0">
                <a:latin typeface="Times New Roman" panose="02020603050405020304" pitchFamily="18" charset="0"/>
                <a:cs typeface="Times New Roman" panose="02020603050405020304" pitchFamily="18" charset="0"/>
              </a:rPr>
              <a:t>Choice of high I/O storage, low cost storage. All is available in AWS, use and pay what you want to use with almost any scalability.</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129263" indent="0">
              <a:lnSpc>
                <a:spcPct val="150000"/>
              </a:lnSpc>
              <a:buNone/>
            </a:pPr>
            <a:endParaRPr lang="en-US" sz="1800" b="1" dirty="0">
              <a:latin typeface="Times New Roman" panose="02020603050405020304" pitchFamily="18" charset="0"/>
              <a:cs typeface="Times New Roman" panose="02020603050405020304" pitchFamily="18" charset="0"/>
            </a:endParaRPr>
          </a:p>
          <a:p>
            <a:pPr>
              <a:lnSpc>
                <a:spcPct val="150000"/>
              </a:lnSpc>
            </a:pPr>
            <a:endParaRPr lang="en-US" sz="1800" dirty="0">
              <a:latin typeface="Times New Roman" panose="02020603050405020304" pitchFamily="18" charset="0"/>
              <a:cs typeface="Times New Roman" panose="02020603050405020304" pitchFamily="18" charset="0"/>
            </a:endParaRPr>
          </a:p>
          <a:p>
            <a:pPr>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23</a:t>
            </a:fld>
            <a:endParaRPr lang="en-US"/>
          </a:p>
        </p:txBody>
      </p:sp>
      <p:sp>
        <p:nvSpPr>
          <p:cNvPr id="5" name="Title 4"/>
          <p:cNvSpPr>
            <a:spLocks noGrp="1"/>
          </p:cNvSpPr>
          <p:nvPr>
            <p:ph type="title"/>
          </p:nvPr>
        </p:nvSpPr>
        <p:spPr/>
        <p:txBody>
          <a:bodyPr>
            <a:normAutofit fontScale="90000"/>
          </a:bodyPr>
          <a:lstStyle/>
          <a:p>
            <a:r>
              <a:rPr lang="en-US" sz="4219" dirty="0"/>
              <a:t>Why AWS?</a:t>
            </a:r>
          </a:p>
        </p:txBody>
      </p:sp>
      <p:pic>
        <p:nvPicPr>
          <p:cNvPr id="6" name="Picture 2" descr="Download Amazon Web Services (AWS) Logo in SVG Vector or PNG File Format -  Logo.wine">
            <a:extLst>
              <a:ext uri="{FF2B5EF4-FFF2-40B4-BE49-F238E27FC236}">
                <a16:creationId xmlns:a16="http://schemas.microsoft.com/office/drawing/2014/main" id="{F8E878B4-2A4C-E23B-BFA6-4FBE8AFD3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9725" y="104696"/>
            <a:ext cx="2014179" cy="1120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6848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3365" y="1611021"/>
            <a:ext cx="11215235" cy="4351338"/>
          </a:xfrm>
        </p:spPr>
        <p:txBody>
          <a:bodyPr>
            <a:normAutofit/>
          </a:bodyPr>
          <a:lstStyle/>
          <a:p>
            <a:pPr marL="129263" indent="0">
              <a:buNone/>
            </a:pPr>
            <a:endParaRPr lang="en-US" sz="2156" b="1" dirty="0"/>
          </a:p>
          <a:p>
            <a:pPr marL="0" indent="0">
              <a:buNone/>
            </a:pPr>
            <a:endParaRPr lang="en-US" sz="2156" dirty="0"/>
          </a:p>
          <a:p>
            <a:endParaRPr lang="en-US" sz="3281" dirty="0"/>
          </a:p>
          <a:p>
            <a:pPr marL="129263" indent="0">
              <a:buNone/>
            </a:pPr>
            <a:endParaRPr lang="en-US" sz="3281" b="1" dirty="0"/>
          </a:p>
          <a:p>
            <a:endParaRPr lang="en-US" dirty="0"/>
          </a:p>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24</a:t>
            </a:fld>
            <a:endParaRPr lang="en-US"/>
          </a:p>
        </p:txBody>
      </p:sp>
      <p:sp>
        <p:nvSpPr>
          <p:cNvPr id="5" name="Title 4"/>
          <p:cNvSpPr>
            <a:spLocks noGrp="1"/>
          </p:cNvSpPr>
          <p:nvPr>
            <p:ph type="title"/>
          </p:nvPr>
        </p:nvSpPr>
        <p:spPr/>
        <p:txBody>
          <a:bodyPr>
            <a:normAutofit fontScale="90000"/>
          </a:bodyPr>
          <a:lstStyle/>
          <a:p>
            <a:r>
              <a:rPr lang="en-US" sz="4219" dirty="0"/>
              <a:t>Global Infrastructure Regions &amp; AZs</a:t>
            </a:r>
          </a:p>
        </p:txBody>
      </p:sp>
      <p:pic>
        <p:nvPicPr>
          <p:cNvPr id="6" name="Picture 5">
            <a:extLst>
              <a:ext uri="{FF2B5EF4-FFF2-40B4-BE49-F238E27FC236}">
                <a16:creationId xmlns:a16="http://schemas.microsoft.com/office/drawing/2014/main" id="{50CAD37A-D29D-25A9-C60D-0B564A0E7077}"/>
              </a:ext>
            </a:extLst>
          </p:cNvPr>
          <p:cNvPicPr>
            <a:picLocks noChangeAspect="1"/>
          </p:cNvPicPr>
          <p:nvPr/>
        </p:nvPicPr>
        <p:blipFill>
          <a:blip r:embed="rId2"/>
          <a:stretch>
            <a:fillRect/>
          </a:stretch>
        </p:blipFill>
        <p:spPr>
          <a:xfrm>
            <a:off x="1909482" y="1367130"/>
            <a:ext cx="7557247" cy="4839119"/>
          </a:xfrm>
          <a:prstGeom prst="rect">
            <a:avLst/>
          </a:prstGeom>
        </p:spPr>
      </p:pic>
      <p:pic>
        <p:nvPicPr>
          <p:cNvPr id="3" name="Picture 2" descr="Download Amazon Web Services (AWS) Logo in SVG Vector or PNG File Format -  Logo.wine">
            <a:extLst>
              <a:ext uri="{FF2B5EF4-FFF2-40B4-BE49-F238E27FC236}">
                <a16:creationId xmlns:a16="http://schemas.microsoft.com/office/drawing/2014/main" id="{402F648C-19ED-3314-2F8F-E53AAA138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9725" y="104696"/>
            <a:ext cx="2014179" cy="1120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8858191"/>
      </p:ext>
    </p:extLst>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3365" y="1611021"/>
            <a:ext cx="11215235" cy="4351338"/>
          </a:xfrm>
        </p:spPr>
        <p:txBody>
          <a:bodyPr>
            <a:normAutofit/>
          </a:bodyPr>
          <a:lstStyle/>
          <a:p>
            <a:pPr>
              <a:lnSpc>
                <a:spcPct val="150000"/>
              </a:lnSpc>
            </a:pPr>
            <a:r>
              <a:rPr lang="en-US" sz="1900" dirty="0">
                <a:latin typeface="Times New Roman" panose="02020603050405020304" pitchFamily="18" charset="0"/>
                <a:cs typeface="Times New Roman" panose="02020603050405020304" pitchFamily="18" charset="0"/>
              </a:rPr>
              <a:t>An AWS Region is a cluster of data centers in a specific geographic area, such as the Northeastern United States or Western Europe. It is a best practice to choose a region that is geographically close to users; this reduces latency because data reaches the users more quickly.</a:t>
            </a:r>
          </a:p>
          <a:p>
            <a:pPr>
              <a:lnSpc>
                <a:spcPct val="150000"/>
              </a:lnSpc>
            </a:pPr>
            <a:r>
              <a:rPr lang="en-US" sz="1900" dirty="0">
                <a:latin typeface="Times New Roman" panose="02020603050405020304" pitchFamily="18" charset="0"/>
                <a:cs typeface="Times New Roman" panose="02020603050405020304" pitchFamily="18" charset="0"/>
              </a:rPr>
              <a:t>Each AWS Region includes multiple AZs. However, each AZ is restricted to a specific AWS Region. You can use multiple AZs within one Region, but you can't use the same AZ across multiple Regions. </a:t>
            </a:r>
          </a:p>
          <a:p>
            <a:pPr marL="129263" indent="0">
              <a:buNone/>
            </a:pPr>
            <a:endParaRPr lang="en-US" sz="3281" b="1" dirty="0"/>
          </a:p>
          <a:p>
            <a:endParaRPr lang="en-US" dirty="0"/>
          </a:p>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25</a:t>
            </a:fld>
            <a:endParaRPr lang="en-US"/>
          </a:p>
        </p:txBody>
      </p:sp>
      <p:sp>
        <p:nvSpPr>
          <p:cNvPr id="5" name="Title 4"/>
          <p:cNvSpPr>
            <a:spLocks noGrp="1"/>
          </p:cNvSpPr>
          <p:nvPr>
            <p:ph type="title"/>
          </p:nvPr>
        </p:nvSpPr>
        <p:spPr/>
        <p:txBody>
          <a:bodyPr>
            <a:normAutofit fontScale="90000"/>
          </a:bodyPr>
          <a:lstStyle/>
          <a:p>
            <a:r>
              <a:rPr lang="en-US" sz="4219" dirty="0"/>
              <a:t>AWS Region </a:t>
            </a:r>
          </a:p>
        </p:txBody>
      </p:sp>
      <p:pic>
        <p:nvPicPr>
          <p:cNvPr id="3" name="Picture 2" descr="Download Amazon Web Services (AWS) Logo in SVG Vector or PNG File Format -  Logo.wine">
            <a:extLst>
              <a:ext uri="{FF2B5EF4-FFF2-40B4-BE49-F238E27FC236}">
                <a16:creationId xmlns:a16="http://schemas.microsoft.com/office/drawing/2014/main" id="{021CF424-64E4-9F1C-F424-3261B045D1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9725" y="104696"/>
            <a:ext cx="2014179" cy="1120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1086116"/>
      </p:ext>
    </p:extLst>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3365" y="1611021"/>
            <a:ext cx="11215235" cy="4351338"/>
          </a:xfrm>
        </p:spPr>
        <p:txBody>
          <a:bodyPr>
            <a:normAutofit/>
          </a:bodyPr>
          <a:lstStyle/>
          <a:p>
            <a:pPr>
              <a:lnSpc>
                <a:spcPct val="150000"/>
              </a:lnSpc>
            </a:pPr>
            <a:r>
              <a:rPr lang="en-US" sz="1900" dirty="0">
                <a:latin typeface="Times New Roman" panose="02020603050405020304" pitchFamily="18" charset="0"/>
                <a:cs typeface="Times New Roman" panose="02020603050405020304" pitchFamily="18" charset="0"/>
              </a:rPr>
              <a:t>An AZ is a standalone data center or set of data centers within a Region. Each AZ operates independently, so a failure in one won't affect others. In disaster recovery plans, enterprises use multiple AZs to increase redundancy and reliability.</a:t>
            </a:r>
            <a:endParaRPr lang="en-US" sz="3281" b="1" dirty="0"/>
          </a:p>
          <a:p>
            <a:endParaRPr lang="en-US" dirty="0"/>
          </a:p>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26</a:t>
            </a:fld>
            <a:endParaRPr lang="en-US"/>
          </a:p>
        </p:txBody>
      </p:sp>
      <p:sp>
        <p:nvSpPr>
          <p:cNvPr id="5" name="Title 4"/>
          <p:cNvSpPr>
            <a:spLocks noGrp="1"/>
          </p:cNvSpPr>
          <p:nvPr>
            <p:ph type="title"/>
          </p:nvPr>
        </p:nvSpPr>
        <p:spPr/>
        <p:txBody>
          <a:bodyPr>
            <a:normAutofit/>
          </a:bodyPr>
          <a:lstStyle/>
          <a:p>
            <a:pPr algn="l"/>
            <a:r>
              <a:rPr lang="en-US" b="1" i="0" dirty="0">
                <a:effectLst/>
                <a:latin typeface="Times New Roman" panose="02020603050405020304" pitchFamily="18" charset="0"/>
                <a:cs typeface="Times New Roman" panose="02020603050405020304" pitchFamily="18" charset="0"/>
              </a:rPr>
              <a:t>AWS Availability Zone</a:t>
            </a:r>
          </a:p>
        </p:txBody>
      </p:sp>
      <p:pic>
        <p:nvPicPr>
          <p:cNvPr id="3" name="Picture 2" descr="Download Amazon Web Services (AWS) Logo in SVG Vector or PNG File Format -  Logo.wine">
            <a:extLst>
              <a:ext uri="{FF2B5EF4-FFF2-40B4-BE49-F238E27FC236}">
                <a16:creationId xmlns:a16="http://schemas.microsoft.com/office/drawing/2014/main" id="{3E09610C-F887-781E-D520-3B59C21675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9725" y="104696"/>
            <a:ext cx="2014179" cy="1120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6018025"/>
      </p:ext>
    </p:extLst>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27</a:t>
            </a:fld>
            <a:endParaRPr lang="en-US"/>
          </a:p>
        </p:txBody>
      </p:sp>
      <p:sp>
        <p:nvSpPr>
          <p:cNvPr id="5" name="Title 4"/>
          <p:cNvSpPr>
            <a:spLocks noGrp="1"/>
          </p:cNvSpPr>
          <p:nvPr>
            <p:ph type="title"/>
          </p:nvPr>
        </p:nvSpPr>
        <p:spPr/>
        <p:txBody>
          <a:bodyPr>
            <a:noAutofit/>
          </a:bodyPr>
          <a:lstStyle/>
          <a:p>
            <a:r>
              <a:rPr lang="en-US" sz="4219" dirty="0"/>
              <a:t>AWS Global Infrastructure</a:t>
            </a:r>
            <a:endParaRPr lang="en-US" dirty="0"/>
          </a:p>
        </p:txBody>
      </p:sp>
      <p:pic>
        <p:nvPicPr>
          <p:cNvPr id="3" name="Picture 2">
            <a:extLst>
              <a:ext uri="{FF2B5EF4-FFF2-40B4-BE49-F238E27FC236}">
                <a16:creationId xmlns:a16="http://schemas.microsoft.com/office/drawing/2014/main" id="{CDC8C5C8-BE9D-5AA4-1077-E493E1157C2D}"/>
              </a:ext>
            </a:extLst>
          </p:cNvPr>
          <p:cNvPicPr>
            <a:picLocks noChangeAspect="1"/>
          </p:cNvPicPr>
          <p:nvPr/>
        </p:nvPicPr>
        <p:blipFill>
          <a:blip r:embed="rId2"/>
          <a:stretch>
            <a:fillRect/>
          </a:stretch>
        </p:blipFill>
        <p:spPr>
          <a:xfrm>
            <a:off x="1397928" y="1539062"/>
            <a:ext cx="8920525" cy="4628656"/>
          </a:xfrm>
          <a:prstGeom prst="rect">
            <a:avLst/>
          </a:prstGeom>
        </p:spPr>
      </p:pic>
      <p:pic>
        <p:nvPicPr>
          <p:cNvPr id="2" name="Picture 2" descr="Download Amazon Web Services (AWS) Logo in SVG Vector or PNG File Format -  Logo.wine">
            <a:extLst>
              <a:ext uri="{FF2B5EF4-FFF2-40B4-BE49-F238E27FC236}">
                <a16:creationId xmlns:a16="http://schemas.microsoft.com/office/drawing/2014/main" id="{A8A64746-0873-A85B-DAEE-81E3E3D01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9725" y="104696"/>
            <a:ext cx="2014179" cy="1120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793406"/>
      </p:ext>
    </p:extLst>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28</a:t>
            </a:fld>
            <a:endParaRPr lang="en-US"/>
          </a:p>
        </p:txBody>
      </p:sp>
      <p:sp>
        <p:nvSpPr>
          <p:cNvPr id="5" name="Title 4"/>
          <p:cNvSpPr>
            <a:spLocks noGrp="1"/>
          </p:cNvSpPr>
          <p:nvPr>
            <p:ph type="title"/>
          </p:nvPr>
        </p:nvSpPr>
        <p:spPr/>
        <p:txBody>
          <a:bodyPr>
            <a:noAutofit/>
          </a:bodyPr>
          <a:lstStyle/>
          <a:p>
            <a:r>
              <a:rPr lang="en-US" sz="4219" dirty="0"/>
              <a:t>AWS Global Infrastructure</a:t>
            </a:r>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313" y="1371600"/>
            <a:ext cx="10955949" cy="4572000"/>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2170543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p:cTn id="7" dur="500" fill="hold"/>
                                        <p:tgtEl>
                                          <p:spTgt spid="2051"/>
                                        </p:tgtEl>
                                        <p:attrNameLst>
                                          <p:attrName>ppt_w</p:attrName>
                                        </p:attrNameLst>
                                      </p:cBhvr>
                                      <p:tavLst>
                                        <p:tav tm="0">
                                          <p:val>
                                            <p:fltVal val="0"/>
                                          </p:val>
                                        </p:tav>
                                        <p:tav tm="100000">
                                          <p:val>
                                            <p:strVal val="#ppt_w"/>
                                          </p:val>
                                        </p:tav>
                                      </p:tavLst>
                                    </p:anim>
                                    <p:anim calcmode="lin" valueType="num">
                                      <p:cBhvr>
                                        <p:cTn id="8" dur="500" fill="hold"/>
                                        <p:tgtEl>
                                          <p:spTgt spid="2051"/>
                                        </p:tgtEl>
                                        <p:attrNameLst>
                                          <p:attrName>ppt_h</p:attrName>
                                        </p:attrNameLst>
                                      </p:cBhvr>
                                      <p:tavLst>
                                        <p:tav tm="0">
                                          <p:val>
                                            <p:fltVal val="0"/>
                                          </p:val>
                                        </p:tav>
                                        <p:tav tm="100000">
                                          <p:val>
                                            <p:strVal val="#ppt_h"/>
                                          </p:val>
                                        </p:tav>
                                      </p:tavLst>
                                    </p:anim>
                                    <p:animEffect transition="in" filter="fade">
                                      <p:cBhvr>
                                        <p:cTn id="9"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29</a:t>
            </a:fld>
            <a:endParaRPr lang="en-US"/>
          </a:p>
        </p:txBody>
      </p:sp>
      <p:sp>
        <p:nvSpPr>
          <p:cNvPr id="5" name="Title 4"/>
          <p:cNvSpPr>
            <a:spLocks noGrp="1"/>
          </p:cNvSpPr>
          <p:nvPr>
            <p:ph type="title"/>
          </p:nvPr>
        </p:nvSpPr>
        <p:spPr/>
        <p:txBody>
          <a:bodyPr>
            <a:noAutofit/>
          </a:bodyPr>
          <a:lstStyle/>
          <a:p>
            <a:r>
              <a:rPr lang="en-US" sz="4219" dirty="0"/>
              <a:t>AWS Responsibility </a:t>
            </a:r>
            <a:endParaRPr lang="en-US" dirty="0"/>
          </a:p>
        </p:txBody>
      </p:sp>
      <p:pic>
        <p:nvPicPr>
          <p:cNvPr id="2" name="Picture 1">
            <a:extLst>
              <a:ext uri="{FF2B5EF4-FFF2-40B4-BE49-F238E27FC236}">
                <a16:creationId xmlns:a16="http://schemas.microsoft.com/office/drawing/2014/main" id="{C1198928-6542-D5F2-1091-AF594ABC1DEC}"/>
              </a:ext>
            </a:extLst>
          </p:cNvPr>
          <p:cNvPicPr>
            <a:picLocks noChangeAspect="1"/>
          </p:cNvPicPr>
          <p:nvPr/>
        </p:nvPicPr>
        <p:blipFill>
          <a:blip r:embed="rId2"/>
          <a:stretch>
            <a:fillRect/>
          </a:stretch>
        </p:blipFill>
        <p:spPr>
          <a:xfrm>
            <a:off x="234950" y="1603049"/>
            <a:ext cx="11036254" cy="4387697"/>
          </a:xfrm>
          <a:prstGeom prst="rect">
            <a:avLst/>
          </a:prstGeom>
        </p:spPr>
      </p:pic>
    </p:spTree>
    <p:extLst>
      <p:ext uri="{BB962C8B-B14F-4D97-AF65-F5344CB8AC3E}">
        <p14:creationId xmlns:p14="http://schemas.microsoft.com/office/powerpoint/2010/main" val="1139515822"/>
      </p:ext>
    </p:extLst>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4286" y="2202024"/>
            <a:ext cx="10201275" cy="1447800"/>
          </a:xfrm>
        </p:spPr>
        <p:txBody>
          <a:bodyPr>
            <a:normAutofit/>
          </a:bodyPr>
          <a:lstStyle/>
          <a:p>
            <a:r>
              <a:rPr lang="en-US" sz="4219" dirty="0">
                <a:solidFill>
                  <a:schemeClr val="bg1"/>
                </a:solidFill>
              </a:rPr>
              <a:t>AWS Compute Services</a:t>
            </a:r>
          </a:p>
        </p:txBody>
      </p:sp>
      <p:sp>
        <p:nvSpPr>
          <p:cNvPr id="4" name="Footer Placeholder 3"/>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5" name="Slide Number Placeholder 4"/>
          <p:cNvSpPr>
            <a:spLocks noGrp="1"/>
          </p:cNvSpPr>
          <p:nvPr>
            <p:ph type="sldNum" sz="quarter" idx="12"/>
          </p:nvPr>
        </p:nvSpPr>
        <p:spPr>
          <a:xfrm>
            <a:off x="9174480" y="6780111"/>
            <a:ext cx="2987040" cy="389467"/>
          </a:xfrm>
          <a:prstGeom prst="rect">
            <a:avLst/>
          </a:prstGeom>
        </p:spPr>
        <p:txBody>
          <a:bodyPr vert="horz" lIns="114901" tIns="57454" rIns="114901" bIns="57454" rtlCol="0" anchor="ctr"/>
          <a:lstStyle>
            <a:defPPr>
              <a:defRPr lang="en-US"/>
            </a:defPPr>
            <a:lvl1pPr marL="0" algn="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fld id="{4119462B-DC2E-4E97-BC89-145590C3647E}" type="slidenum">
              <a:rPr lang="en-US" smtClean="0"/>
              <a:pPr/>
              <a:t>30</a:t>
            </a:fld>
            <a:endParaRPr lang="en-US"/>
          </a:p>
        </p:txBody>
      </p:sp>
      <p:pic>
        <p:nvPicPr>
          <p:cNvPr id="27650" name="Picture 2" descr="How to deploy your server using AWS EC2 | by BAILLAHI Lemine | AWS in Plain  English">
            <a:extLst>
              <a:ext uri="{FF2B5EF4-FFF2-40B4-BE49-F238E27FC236}">
                <a16:creationId xmlns:a16="http://schemas.microsoft.com/office/drawing/2014/main" id="{4411F37A-1E74-21FB-C8AE-932D50D3F2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5300" y="763749"/>
            <a:ext cx="5651500"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43431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31</a:t>
            </a:fld>
            <a:endParaRPr lang="en-US"/>
          </a:p>
        </p:txBody>
      </p:sp>
      <p:sp>
        <p:nvSpPr>
          <p:cNvPr id="5" name="Title 4"/>
          <p:cNvSpPr>
            <a:spLocks noGrp="1"/>
          </p:cNvSpPr>
          <p:nvPr>
            <p:ph type="title"/>
          </p:nvPr>
        </p:nvSpPr>
        <p:spPr/>
        <p:txBody>
          <a:bodyPr>
            <a:normAutofit fontScale="90000"/>
          </a:bodyPr>
          <a:lstStyle/>
          <a:p>
            <a:r>
              <a:rPr lang="en-US" sz="4219" dirty="0"/>
              <a:t>Virtual Machines</a:t>
            </a:r>
          </a:p>
        </p:txBody>
      </p:sp>
      <p:sp>
        <p:nvSpPr>
          <p:cNvPr id="2" name="Content Placeholder 1"/>
          <p:cNvSpPr>
            <a:spLocks noGrp="1"/>
          </p:cNvSpPr>
          <p:nvPr>
            <p:ph idx="1"/>
          </p:nvPr>
        </p:nvSpPr>
        <p:spPr>
          <a:xfrm>
            <a:off x="610514" y="2328862"/>
            <a:ext cx="11215235" cy="4351338"/>
          </a:xfrm>
        </p:spPr>
        <p:txBody>
          <a:bodyPr>
            <a:normAutofit fontScale="85000" lnSpcReduction="20000"/>
          </a:bodyPr>
          <a:lstStyle/>
          <a:p>
            <a:pPr marL="0" indent="0">
              <a:buNone/>
            </a:pPr>
            <a:r>
              <a:rPr lang="en-US" sz="2156" dirty="0"/>
              <a:t>What are the bare minimum infrastructure requirements for any application?</a:t>
            </a:r>
          </a:p>
          <a:p>
            <a:endParaRPr lang="en-US" sz="2156" dirty="0"/>
          </a:p>
          <a:p>
            <a:r>
              <a:rPr lang="en-US" sz="2156" dirty="0"/>
              <a:t>Hardware (RAM, Processor, Processor type, HBA’s, etc.)</a:t>
            </a:r>
          </a:p>
          <a:p>
            <a:endParaRPr lang="en-US" sz="2156" dirty="0"/>
          </a:p>
          <a:p>
            <a:r>
              <a:rPr lang="en-US" sz="2156" dirty="0"/>
              <a:t>OS Disk &amp; Data Disk </a:t>
            </a:r>
          </a:p>
          <a:p>
            <a:endParaRPr lang="en-US" sz="2156" dirty="0"/>
          </a:p>
          <a:p>
            <a:r>
              <a:rPr lang="en-US" sz="2156" dirty="0"/>
              <a:t>OS Images</a:t>
            </a:r>
          </a:p>
          <a:p>
            <a:endParaRPr lang="en-US" sz="2156" dirty="0"/>
          </a:p>
          <a:p>
            <a:r>
              <a:rPr lang="en-US" sz="2156" dirty="0"/>
              <a:t>Network </a:t>
            </a:r>
          </a:p>
          <a:p>
            <a:endParaRPr lang="en-US" sz="2156" dirty="0"/>
          </a:p>
          <a:p>
            <a:r>
              <a:rPr lang="en-US" sz="2156" dirty="0"/>
              <a:t>Security (Firewall, Networking, Access Mechanism)</a:t>
            </a:r>
          </a:p>
          <a:p>
            <a:endParaRPr lang="en-US" sz="2156" dirty="0"/>
          </a:p>
          <a:p>
            <a:r>
              <a:rPr lang="en-US" sz="2156" dirty="0"/>
              <a:t>Credentials</a:t>
            </a:r>
          </a:p>
          <a:p>
            <a:endParaRPr lang="en-US" sz="2156" dirty="0"/>
          </a:p>
          <a:p>
            <a:endParaRPr lang="en-US" sz="2156" dirty="0"/>
          </a:p>
          <a:p>
            <a:endParaRPr lang="en-US" sz="2156" dirty="0"/>
          </a:p>
          <a:p>
            <a:endParaRPr lang="en-US" dirty="0"/>
          </a:p>
          <a:p>
            <a:endParaRPr lang="en-US" dirty="0"/>
          </a:p>
          <a:p>
            <a:pPr>
              <a:buFontTx/>
              <a:buChar char="-"/>
            </a:pPr>
            <a:endParaRPr lang="en-US" dirty="0"/>
          </a:p>
        </p:txBody>
      </p:sp>
      <p:pic>
        <p:nvPicPr>
          <p:cNvPr id="6" name="Picture 2" descr="How to deploy your server using AWS EC2 | by BAILLAHI Lemine | AWS in Plain  English">
            <a:extLst>
              <a:ext uri="{FF2B5EF4-FFF2-40B4-BE49-F238E27FC236}">
                <a16:creationId xmlns:a16="http://schemas.microsoft.com/office/drawing/2014/main" id="{5ED49989-CA89-D698-FBED-1A2392CD91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226694"/>
      </p:ext>
    </p:extLst>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32</a:t>
            </a:fld>
            <a:endParaRPr lang="en-US"/>
          </a:p>
        </p:txBody>
      </p:sp>
      <p:sp>
        <p:nvSpPr>
          <p:cNvPr id="5" name="Title 4"/>
          <p:cNvSpPr>
            <a:spLocks noGrp="1"/>
          </p:cNvSpPr>
          <p:nvPr>
            <p:ph type="title"/>
          </p:nvPr>
        </p:nvSpPr>
        <p:spPr/>
        <p:txBody>
          <a:bodyPr>
            <a:normAutofit fontScale="90000"/>
          </a:bodyPr>
          <a:lstStyle/>
          <a:p>
            <a:r>
              <a:rPr lang="en-US" sz="4219" dirty="0"/>
              <a:t>AWS </a:t>
            </a:r>
            <a:r>
              <a:rPr lang="en-US" sz="4219" dirty="0">
                <a:solidFill>
                  <a:schemeClr val="accent2">
                    <a:lumMod val="75000"/>
                  </a:schemeClr>
                </a:solidFill>
              </a:rPr>
              <a:t>E</a:t>
            </a:r>
            <a:r>
              <a:rPr lang="en-US" sz="4219" dirty="0"/>
              <a:t>lastic </a:t>
            </a:r>
            <a:r>
              <a:rPr lang="en-US" sz="4219" dirty="0">
                <a:solidFill>
                  <a:schemeClr val="accent2">
                    <a:lumMod val="75000"/>
                  </a:schemeClr>
                </a:solidFill>
              </a:rPr>
              <a:t>C</a:t>
            </a:r>
            <a:r>
              <a:rPr lang="en-US" sz="4219" dirty="0"/>
              <a:t>ompute </a:t>
            </a:r>
            <a:r>
              <a:rPr lang="en-US" sz="4219" dirty="0">
                <a:solidFill>
                  <a:schemeClr val="accent2">
                    <a:lumMod val="75000"/>
                  </a:schemeClr>
                </a:solidFill>
              </a:rPr>
              <a:t>C</a:t>
            </a:r>
            <a:r>
              <a:rPr lang="en-US" sz="4219" dirty="0"/>
              <a:t>loud</a:t>
            </a:r>
          </a:p>
        </p:txBody>
      </p:sp>
      <p:sp>
        <p:nvSpPr>
          <p:cNvPr id="2" name="Content Placeholder 1"/>
          <p:cNvSpPr>
            <a:spLocks noGrp="1"/>
          </p:cNvSpPr>
          <p:nvPr>
            <p:ph idx="1"/>
          </p:nvPr>
        </p:nvSpPr>
        <p:spPr/>
        <p:txBody>
          <a:bodyPr>
            <a:normAutofit/>
          </a:bodyPr>
          <a:lstStyle/>
          <a:p>
            <a:r>
              <a:rPr lang="en-US" sz="1700" dirty="0">
                <a:latin typeface="Times New Roman" panose="02020603050405020304" pitchFamily="18" charset="0"/>
                <a:cs typeface="Times New Roman" panose="02020603050405020304" pitchFamily="18" charset="0"/>
              </a:rPr>
              <a:t>Amazon </a:t>
            </a:r>
            <a:r>
              <a:rPr lang="en-US" sz="1700" b="1" dirty="0">
                <a:solidFill>
                  <a:schemeClr val="accent2">
                    <a:lumMod val="75000"/>
                  </a:schemeClr>
                </a:solidFill>
                <a:latin typeface="Times New Roman" panose="02020603050405020304" pitchFamily="18" charset="0"/>
                <a:cs typeface="Times New Roman" panose="02020603050405020304" pitchFamily="18" charset="0"/>
              </a:rPr>
              <a:t>EC2 </a:t>
            </a:r>
            <a:r>
              <a:rPr lang="en-US" sz="1700" dirty="0">
                <a:latin typeface="Times New Roman" panose="02020603050405020304" pitchFamily="18" charset="0"/>
                <a:cs typeface="Times New Roman" panose="02020603050405020304" pitchFamily="18" charset="0"/>
              </a:rPr>
              <a:t>stands for </a:t>
            </a:r>
            <a:r>
              <a:rPr lang="en-US" sz="1700" dirty="0">
                <a:solidFill>
                  <a:schemeClr val="accent2">
                    <a:lumMod val="75000"/>
                  </a:schemeClr>
                </a:solidFill>
                <a:latin typeface="Times New Roman" panose="02020603050405020304" pitchFamily="18" charset="0"/>
                <a:cs typeface="Times New Roman" panose="02020603050405020304" pitchFamily="18" charset="0"/>
              </a:rPr>
              <a:t>E</a:t>
            </a:r>
            <a:r>
              <a:rPr lang="en-US" sz="1700" dirty="0">
                <a:latin typeface="Times New Roman" panose="02020603050405020304" pitchFamily="18" charset="0"/>
                <a:cs typeface="Times New Roman" panose="02020603050405020304" pitchFamily="18" charset="0"/>
              </a:rPr>
              <a:t>lastic </a:t>
            </a:r>
            <a:r>
              <a:rPr lang="en-US" sz="1700" dirty="0">
                <a:solidFill>
                  <a:schemeClr val="accent2">
                    <a:lumMod val="75000"/>
                  </a:schemeClr>
                </a:solidFill>
                <a:latin typeface="Times New Roman" panose="02020603050405020304" pitchFamily="18" charset="0"/>
                <a:cs typeface="Times New Roman" panose="02020603050405020304" pitchFamily="18" charset="0"/>
              </a:rPr>
              <a:t>C</a:t>
            </a:r>
            <a:r>
              <a:rPr lang="en-US" sz="1700" dirty="0">
                <a:latin typeface="Times New Roman" panose="02020603050405020304" pitchFamily="18" charset="0"/>
                <a:cs typeface="Times New Roman" panose="02020603050405020304" pitchFamily="18" charset="0"/>
              </a:rPr>
              <a:t>ompute </a:t>
            </a:r>
            <a:r>
              <a:rPr lang="en-US" sz="1700" dirty="0">
                <a:solidFill>
                  <a:schemeClr val="accent2">
                    <a:lumMod val="75000"/>
                  </a:schemeClr>
                </a:solidFill>
                <a:latin typeface="Times New Roman" panose="02020603050405020304" pitchFamily="18" charset="0"/>
                <a:cs typeface="Times New Roman" panose="02020603050405020304" pitchFamily="18" charset="0"/>
              </a:rPr>
              <a:t>C</a:t>
            </a:r>
            <a:r>
              <a:rPr lang="en-US" sz="1700" dirty="0">
                <a:latin typeface="Times New Roman" panose="02020603050405020304" pitchFamily="18" charset="0"/>
                <a:cs typeface="Times New Roman" panose="02020603050405020304" pitchFamily="18" charset="0"/>
              </a:rPr>
              <a:t>loud, and is the Primary AWS web service. </a:t>
            </a:r>
          </a:p>
          <a:p>
            <a:r>
              <a:rPr lang="en-US" sz="1700" dirty="0">
                <a:latin typeface="Times New Roman" panose="02020603050405020304" pitchFamily="18" charset="0"/>
                <a:cs typeface="Times New Roman" panose="02020603050405020304" pitchFamily="18" charset="0"/>
              </a:rPr>
              <a:t>Provides Resizable compute capacity</a:t>
            </a:r>
          </a:p>
          <a:p>
            <a:r>
              <a:rPr lang="en-US" sz="1700" b="1" dirty="0">
                <a:latin typeface="Times New Roman" panose="02020603050405020304" pitchFamily="18" charset="0"/>
                <a:cs typeface="Times New Roman" panose="02020603050405020304" pitchFamily="18" charset="0"/>
              </a:rPr>
              <a:t>Reduces the time required </a:t>
            </a:r>
            <a:r>
              <a:rPr lang="en-US" sz="1700" dirty="0">
                <a:latin typeface="Times New Roman" panose="02020603050405020304" pitchFamily="18" charset="0"/>
                <a:cs typeface="Times New Roman" panose="02020603050405020304" pitchFamily="18" charset="0"/>
              </a:rPr>
              <a:t>to obtain and boot  new server instances to minutes </a:t>
            </a:r>
          </a:p>
          <a:p>
            <a:r>
              <a:rPr lang="en-US" sz="1700" dirty="0">
                <a:latin typeface="Times New Roman" panose="02020603050405020304" pitchFamily="18" charset="0"/>
                <a:cs typeface="Times New Roman" panose="02020603050405020304" pitchFamily="18" charset="0"/>
              </a:rPr>
              <a:t>There are two key concepts to Launch instances in AWS:</a:t>
            </a:r>
          </a:p>
          <a:p>
            <a:pPr lvl="1">
              <a:buFontTx/>
              <a:buChar char="-"/>
            </a:pPr>
            <a:r>
              <a:rPr lang="en-US" sz="1700" b="1" dirty="0">
                <a:latin typeface="Times New Roman" panose="02020603050405020304" pitchFamily="18" charset="0"/>
                <a:cs typeface="Times New Roman" panose="02020603050405020304" pitchFamily="18" charset="0"/>
              </a:rPr>
              <a:t>Instance Type</a:t>
            </a:r>
          </a:p>
          <a:p>
            <a:pPr lvl="1">
              <a:buFontTx/>
              <a:buChar char="-"/>
            </a:pPr>
            <a:r>
              <a:rPr lang="en-US" sz="1700" b="1" dirty="0">
                <a:latin typeface="Times New Roman" panose="02020603050405020304" pitchFamily="18" charset="0"/>
                <a:cs typeface="Times New Roman" panose="02020603050405020304" pitchFamily="18" charset="0"/>
              </a:rPr>
              <a:t>AMI </a:t>
            </a:r>
          </a:p>
          <a:p>
            <a:pPr marL="129263" indent="0">
              <a:buNone/>
            </a:pPr>
            <a:r>
              <a:rPr lang="en-US" sz="1700" b="1" dirty="0">
                <a:latin typeface="Times New Roman" panose="02020603050405020304" pitchFamily="18" charset="0"/>
                <a:cs typeface="Times New Roman" panose="02020603050405020304" pitchFamily="18" charset="0"/>
              </a:rPr>
              <a:t>EC2 Facts:</a:t>
            </a:r>
          </a:p>
          <a:p>
            <a:r>
              <a:rPr lang="en-US" sz="1700" dirty="0">
                <a:latin typeface="Times New Roman" panose="02020603050405020304" pitchFamily="18" charset="0"/>
                <a:cs typeface="Times New Roman" panose="02020603050405020304" pitchFamily="18" charset="0"/>
              </a:rPr>
              <a:t>Scale capacity as your computing requirements change </a:t>
            </a:r>
          </a:p>
          <a:p>
            <a:r>
              <a:rPr lang="en-US" sz="1700" dirty="0">
                <a:latin typeface="Times New Roman" panose="02020603050405020304" pitchFamily="18" charset="0"/>
                <a:cs typeface="Times New Roman" panose="02020603050405020304" pitchFamily="18" charset="0"/>
              </a:rPr>
              <a:t>Pay only for capacity that you actually use </a:t>
            </a:r>
          </a:p>
          <a:p>
            <a:r>
              <a:rPr lang="en-US" sz="1700" dirty="0">
                <a:latin typeface="Times New Roman" panose="02020603050405020304" pitchFamily="18" charset="0"/>
                <a:cs typeface="Times New Roman" panose="02020603050405020304" pitchFamily="18" charset="0"/>
              </a:rPr>
              <a:t>Choose Linux or Windows OS as per need.</a:t>
            </a:r>
          </a:p>
          <a:p>
            <a:r>
              <a:rPr lang="en-US" sz="1700" b="1" dirty="0">
                <a:latin typeface="Times New Roman" panose="02020603050405020304" pitchFamily="18" charset="0"/>
                <a:cs typeface="Times New Roman" panose="02020603050405020304" pitchFamily="18" charset="0"/>
              </a:rPr>
              <a:t>Deploy across AWS Regions and Availability Zones for reliability/HA</a:t>
            </a:r>
          </a:p>
          <a:p>
            <a:r>
              <a:rPr lang="en-US" sz="1700" dirty="0">
                <a:latin typeface="Times New Roman" panose="02020603050405020304" pitchFamily="18" charset="0"/>
                <a:cs typeface="Times New Roman" panose="02020603050405020304" pitchFamily="18" charset="0"/>
              </a:rPr>
              <a:t>Only X86 based OS supported. So platform specific OS are  not supported. </a:t>
            </a:r>
          </a:p>
          <a:p>
            <a:endParaRPr lang="en-US" sz="2156" dirty="0"/>
          </a:p>
        </p:txBody>
      </p:sp>
      <p:pic>
        <p:nvPicPr>
          <p:cNvPr id="6" name="Picture 2" descr="How to deploy your server using AWS EC2 | by BAILLAHI Lemine | AWS in Plain  English">
            <a:extLst>
              <a:ext uri="{FF2B5EF4-FFF2-40B4-BE49-F238E27FC236}">
                <a16:creationId xmlns:a16="http://schemas.microsoft.com/office/drawing/2014/main" id="{7F266A71-39E8-FBCB-F6D6-4EFBAD2E43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14425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Effect transition="in" filter="fade">
                                      <p:cBhvr>
                                        <p:cTn id="63" dur="1000"/>
                                        <p:tgtEl>
                                          <p:spTgt spid="2">
                                            <p:txEl>
                                              <p:pRg st="8" end="8"/>
                                            </p:txEl>
                                          </p:spTgt>
                                        </p:tgtEl>
                                      </p:cBhvr>
                                    </p:animEffect>
                                    <p:anim calcmode="lin" valueType="num">
                                      <p:cBhvr>
                                        <p:cTn id="6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2">
                                            <p:txEl>
                                              <p:pRg st="9" end="9"/>
                                            </p:txEl>
                                          </p:spTgt>
                                        </p:tgtEl>
                                        <p:attrNameLst>
                                          <p:attrName>style.visibility</p:attrName>
                                        </p:attrNameLst>
                                      </p:cBhvr>
                                      <p:to>
                                        <p:strVal val="visible"/>
                                      </p:to>
                                    </p:set>
                                    <p:animEffect transition="in" filter="fade">
                                      <p:cBhvr>
                                        <p:cTn id="70" dur="1000"/>
                                        <p:tgtEl>
                                          <p:spTgt spid="2">
                                            <p:txEl>
                                              <p:pRg st="9" end="9"/>
                                            </p:txEl>
                                          </p:spTgt>
                                        </p:tgtEl>
                                      </p:cBhvr>
                                    </p:animEffect>
                                    <p:anim calcmode="lin" valueType="num">
                                      <p:cBhvr>
                                        <p:cTn id="7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
                                            <p:txEl>
                                              <p:pRg st="10" end="10"/>
                                            </p:txEl>
                                          </p:spTgt>
                                        </p:tgtEl>
                                        <p:attrNameLst>
                                          <p:attrName>style.visibility</p:attrName>
                                        </p:attrNameLst>
                                      </p:cBhvr>
                                      <p:to>
                                        <p:strVal val="visible"/>
                                      </p:to>
                                    </p:set>
                                    <p:animEffect transition="in" filter="fade">
                                      <p:cBhvr>
                                        <p:cTn id="77" dur="1000"/>
                                        <p:tgtEl>
                                          <p:spTgt spid="2">
                                            <p:txEl>
                                              <p:pRg st="10" end="10"/>
                                            </p:txEl>
                                          </p:spTgt>
                                        </p:tgtEl>
                                      </p:cBhvr>
                                    </p:animEffect>
                                    <p:anim calcmode="lin" valueType="num">
                                      <p:cBhvr>
                                        <p:cTn id="78"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2">
                                            <p:txEl>
                                              <p:pRg st="11" end="11"/>
                                            </p:txEl>
                                          </p:spTgt>
                                        </p:tgtEl>
                                        <p:attrNameLst>
                                          <p:attrName>style.visibility</p:attrName>
                                        </p:attrNameLst>
                                      </p:cBhvr>
                                      <p:to>
                                        <p:strVal val="visible"/>
                                      </p:to>
                                    </p:set>
                                    <p:animEffect transition="in" filter="fade">
                                      <p:cBhvr>
                                        <p:cTn id="84" dur="1000"/>
                                        <p:tgtEl>
                                          <p:spTgt spid="2">
                                            <p:txEl>
                                              <p:pRg st="11" end="11"/>
                                            </p:txEl>
                                          </p:spTgt>
                                        </p:tgtEl>
                                      </p:cBhvr>
                                    </p:animEffect>
                                    <p:anim calcmode="lin" valueType="num">
                                      <p:cBhvr>
                                        <p:cTn id="85"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E099-68F6-BACC-19F0-D14465D2281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8759F9-8342-CB16-3DF1-C8B0AA7CF0CF}"/>
              </a:ext>
            </a:extLst>
          </p:cNvPr>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a:extLst>
              <a:ext uri="{FF2B5EF4-FFF2-40B4-BE49-F238E27FC236}">
                <a16:creationId xmlns:a16="http://schemas.microsoft.com/office/drawing/2014/main" id="{43B77D63-2DB2-B346-3AE3-3C244C65963A}"/>
              </a:ext>
            </a:extLst>
          </p:cNvPr>
          <p:cNvSpPr>
            <a:spLocks noGrp="1"/>
          </p:cNvSpPr>
          <p:nvPr>
            <p:ph type="sldNum" sz="quarter" idx="12"/>
          </p:nvPr>
        </p:nvSpPr>
        <p:spPr/>
        <p:txBody>
          <a:bodyPr/>
          <a:lstStyle/>
          <a:p>
            <a:fld id="{13F480B4-4699-41FE-89A7-96EFD1001786}" type="slidenum">
              <a:rPr lang="en-US" smtClean="0"/>
              <a:t>33</a:t>
            </a:fld>
            <a:endParaRPr lang="en-US"/>
          </a:p>
        </p:txBody>
      </p:sp>
      <p:sp>
        <p:nvSpPr>
          <p:cNvPr id="5" name="Title 4">
            <a:extLst>
              <a:ext uri="{FF2B5EF4-FFF2-40B4-BE49-F238E27FC236}">
                <a16:creationId xmlns:a16="http://schemas.microsoft.com/office/drawing/2014/main" id="{149B2C33-AF7B-BC7B-C194-95DDB81166F6}"/>
              </a:ext>
            </a:extLst>
          </p:cNvPr>
          <p:cNvSpPr>
            <a:spLocks noGrp="1"/>
          </p:cNvSpPr>
          <p:nvPr>
            <p:ph type="title"/>
          </p:nvPr>
        </p:nvSpPr>
        <p:spPr/>
        <p:txBody>
          <a:bodyPr>
            <a:normAutofit fontScale="90000"/>
          </a:bodyPr>
          <a:lstStyle/>
          <a:p>
            <a:r>
              <a:rPr lang="en-US" sz="4219" dirty="0"/>
              <a:t>AWS </a:t>
            </a:r>
            <a:r>
              <a:rPr lang="en-US" sz="4219" dirty="0">
                <a:solidFill>
                  <a:schemeClr val="accent2">
                    <a:lumMod val="75000"/>
                  </a:schemeClr>
                </a:solidFill>
              </a:rPr>
              <a:t>E</a:t>
            </a:r>
            <a:r>
              <a:rPr lang="en-US" sz="4219" dirty="0"/>
              <a:t>lastic </a:t>
            </a:r>
            <a:r>
              <a:rPr lang="en-US" sz="4219" dirty="0">
                <a:solidFill>
                  <a:schemeClr val="accent2">
                    <a:lumMod val="75000"/>
                  </a:schemeClr>
                </a:solidFill>
              </a:rPr>
              <a:t>C</a:t>
            </a:r>
            <a:r>
              <a:rPr lang="en-US" sz="4219" dirty="0"/>
              <a:t>ompute </a:t>
            </a:r>
            <a:r>
              <a:rPr lang="en-US" sz="4219" dirty="0">
                <a:solidFill>
                  <a:schemeClr val="accent2">
                    <a:lumMod val="75000"/>
                  </a:schemeClr>
                </a:solidFill>
              </a:rPr>
              <a:t>C</a:t>
            </a:r>
            <a:r>
              <a:rPr lang="en-US" sz="4219" dirty="0"/>
              <a:t>loud</a:t>
            </a:r>
          </a:p>
        </p:txBody>
      </p:sp>
      <p:pic>
        <p:nvPicPr>
          <p:cNvPr id="6" name="Picture 2" descr="How to deploy your server using AWS EC2 | by BAILLAHI Lemine | AWS in Plain  English">
            <a:extLst>
              <a:ext uri="{FF2B5EF4-FFF2-40B4-BE49-F238E27FC236}">
                <a16:creationId xmlns:a16="http://schemas.microsoft.com/office/drawing/2014/main" id="{3657255B-1148-06C9-37C3-8BF10C98A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10;   A basic architecture diagram of an EC2 instance within a VPC.&#10;  ">
            <a:extLst>
              <a:ext uri="{FF2B5EF4-FFF2-40B4-BE49-F238E27FC236}">
                <a16:creationId xmlns:a16="http://schemas.microsoft.com/office/drawing/2014/main" id="{C0C12A0A-CEE2-B93F-773D-AFCEC7C6C5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796" y="1313940"/>
            <a:ext cx="8916571" cy="5397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572344"/>
      </p:ext>
    </p:extLst>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34</a:t>
            </a:fld>
            <a:endParaRPr lang="en-US"/>
          </a:p>
        </p:txBody>
      </p:sp>
      <p:sp>
        <p:nvSpPr>
          <p:cNvPr id="5" name="Title 4"/>
          <p:cNvSpPr>
            <a:spLocks noGrp="1"/>
          </p:cNvSpPr>
          <p:nvPr>
            <p:ph type="title"/>
          </p:nvPr>
        </p:nvSpPr>
        <p:spPr/>
        <p:txBody>
          <a:bodyPr>
            <a:normAutofit fontScale="90000"/>
          </a:bodyPr>
          <a:lstStyle/>
          <a:p>
            <a:r>
              <a:rPr lang="en-US" sz="4219" dirty="0"/>
              <a:t>Instance Types (EC2)</a:t>
            </a:r>
          </a:p>
        </p:txBody>
      </p:sp>
      <p:sp>
        <p:nvSpPr>
          <p:cNvPr id="2" name="Content Placeholder 1"/>
          <p:cNvSpPr>
            <a:spLocks noGrp="1"/>
          </p:cNvSpPr>
          <p:nvPr>
            <p:ph idx="1"/>
          </p:nvPr>
        </p:nvSpPr>
        <p:spPr>
          <a:xfrm>
            <a:off x="371647" y="1521096"/>
            <a:ext cx="11215235" cy="4351338"/>
          </a:xfrm>
        </p:spPr>
        <p:txBody>
          <a:bodyPr>
            <a:normAutofit/>
          </a:bodyPr>
          <a:lstStyle/>
          <a:p>
            <a:pPr marL="0" indent="0">
              <a:lnSpc>
                <a:spcPct val="160000"/>
              </a:lnSpc>
              <a:buNone/>
            </a:pPr>
            <a:r>
              <a:rPr lang="en-US" sz="1600" dirty="0">
                <a:latin typeface="Times New Roman" panose="02020603050405020304" pitchFamily="18" charset="0"/>
                <a:cs typeface="Times New Roman" panose="02020603050405020304" pitchFamily="18" charset="0"/>
              </a:rPr>
              <a:t>The instance type defines the different virtual hardware Models (sizes) supporting an Amazon EC2 instance.</a:t>
            </a:r>
          </a:p>
          <a:p>
            <a:r>
              <a:rPr lang="en-US" sz="1600" dirty="0">
                <a:latin typeface="Times New Roman" panose="02020603050405020304" pitchFamily="18" charset="0"/>
                <a:cs typeface="Times New Roman" panose="02020603050405020304" pitchFamily="18" charset="0"/>
              </a:rPr>
              <a:t>There are dozens of instance types available, varying in the following dimensions:</a:t>
            </a:r>
          </a:p>
          <a:p>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Virtual CPUs (vCPUs)</a:t>
            </a:r>
          </a:p>
          <a:p>
            <a:pPr lvl="1"/>
            <a:r>
              <a:rPr lang="en-US" sz="1600" dirty="0">
                <a:latin typeface="Times New Roman" panose="02020603050405020304" pitchFamily="18" charset="0"/>
                <a:cs typeface="Times New Roman" panose="02020603050405020304" pitchFamily="18" charset="0"/>
              </a:rPr>
              <a:t>Memory</a:t>
            </a:r>
          </a:p>
          <a:p>
            <a:pPr lvl="1"/>
            <a:r>
              <a:rPr lang="en-US" sz="1600" dirty="0">
                <a:latin typeface="Times New Roman" panose="02020603050405020304" pitchFamily="18" charset="0"/>
                <a:cs typeface="Times New Roman" panose="02020603050405020304" pitchFamily="18" charset="0"/>
              </a:rPr>
              <a:t>Storage (size and type)</a:t>
            </a:r>
          </a:p>
          <a:p>
            <a:pPr lvl="1"/>
            <a:r>
              <a:rPr lang="en-US" sz="1600" dirty="0">
                <a:latin typeface="Times New Roman" panose="02020603050405020304" pitchFamily="18" charset="0"/>
                <a:cs typeface="Times New Roman" panose="02020603050405020304" pitchFamily="18" charset="0"/>
              </a:rPr>
              <a:t>Network performance</a:t>
            </a:r>
          </a:p>
          <a:p>
            <a:pPr lvl="1"/>
            <a:r>
              <a:rPr lang="en-US" sz="1600" dirty="0">
                <a:latin typeface="Times New Roman" panose="02020603050405020304" pitchFamily="18" charset="0"/>
                <a:cs typeface="Times New Roman" panose="02020603050405020304" pitchFamily="18" charset="0"/>
              </a:rPr>
              <a:t>Graphical Processing</a:t>
            </a:r>
          </a:p>
          <a:p>
            <a:r>
              <a:rPr lang="en-US" sz="1600" dirty="0">
                <a:latin typeface="Times New Roman" panose="02020603050405020304" pitchFamily="18" charset="0"/>
                <a:cs typeface="Times New Roman" panose="02020603050405020304" pitchFamily="18" charset="0"/>
              </a:rPr>
              <a:t>Instance types are grouped into families based on the ratio of these values to each other.</a:t>
            </a:r>
          </a:p>
        </p:txBody>
      </p:sp>
      <p:pic>
        <p:nvPicPr>
          <p:cNvPr id="6" name="Picture 2" descr="How to deploy your server using AWS EC2 | by BAILLAHI Lemine | AWS in Plain  English">
            <a:extLst>
              <a:ext uri="{FF2B5EF4-FFF2-40B4-BE49-F238E27FC236}">
                <a16:creationId xmlns:a16="http://schemas.microsoft.com/office/drawing/2014/main" id="{C1DBD1A7-F390-BF86-30B6-0C3B523873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00042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fade">
                                      <p:cBhvr>
                                        <p:cTn id="26" dur="1000"/>
                                        <p:tgtEl>
                                          <p:spTgt spid="2">
                                            <p:txEl>
                                              <p:pRg st="4" end="4"/>
                                            </p:txEl>
                                          </p:spTgt>
                                        </p:tgtEl>
                                      </p:cBhvr>
                                    </p:animEffect>
                                    <p:anim calcmode="lin" valueType="num">
                                      <p:cBhvr>
                                        <p:cTn id="2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fade">
                                      <p:cBhvr>
                                        <p:cTn id="31" dur="1000"/>
                                        <p:tgtEl>
                                          <p:spTgt spid="2">
                                            <p:txEl>
                                              <p:pRg st="5" end="5"/>
                                            </p:txEl>
                                          </p:spTgt>
                                        </p:tgtEl>
                                      </p:cBhvr>
                                    </p:animEffect>
                                    <p:anim calcmode="lin" valueType="num">
                                      <p:cBhvr>
                                        <p:cTn id="3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fade">
                                      <p:cBhvr>
                                        <p:cTn id="36" dur="1000"/>
                                        <p:tgtEl>
                                          <p:spTgt spid="2">
                                            <p:txEl>
                                              <p:pRg st="6" end="6"/>
                                            </p:txEl>
                                          </p:spTgt>
                                        </p:tgtEl>
                                      </p:cBhvr>
                                    </p:animEffect>
                                    <p:anim calcmode="lin" valueType="num">
                                      <p:cBhvr>
                                        <p:cTn id="3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Effect transition="in" filter="fade">
                                      <p:cBhvr>
                                        <p:cTn id="41" dur="1000"/>
                                        <p:tgtEl>
                                          <p:spTgt spid="2">
                                            <p:txEl>
                                              <p:pRg st="7" end="7"/>
                                            </p:txEl>
                                          </p:spTgt>
                                        </p:tgtEl>
                                      </p:cBhvr>
                                    </p:animEffect>
                                    <p:anim calcmode="lin" valueType="num">
                                      <p:cBhvr>
                                        <p:cTn id="42"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
                                            <p:txEl>
                                              <p:pRg st="8" end="8"/>
                                            </p:txEl>
                                          </p:spTgt>
                                        </p:tgtEl>
                                        <p:attrNameLst>
                                          <p:attrName>style.visibility</p:attrName>
                                        </p:attrNameLst>
                                      </p:cBhvr>
                                      <p:to>
                                        <p:strVal val="visible"/>
                                      </p:to>
                                    </p:set>
                                    <p:animEffect transition="in" filter="fade">
                                      <p:cBhvr>
                                        <p:cTn id="48" dur="1000"/>
                                        <p:tgtEl>
                                          <p:spTgt spid="2">
                                            <p:txEl>
                                              <p:pRg st="8" end="8"/>
                                            </p:txEl>
                                          </p:spTgt>
                                        </p:tgtEl>
                                      </p:cBhvr>
                                    </p:animEffect>
                                    <p:anim calcmode="lin" valueType="num">
                                      <p:cBhvr>
                                        <p:cTn id="49"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35</a:t>
            </a:fld>
            <a:endParaRPr lang="en-US"/>
          </a:p>
        </p:txBody>
      </p:sp>
      <p:sp>
        <p:nvSpPr>
          <p:cNvPr id="2" name="Content Placeholder 1"/>
          <p:cNvSpPr>
            <a:spLocks noGrp="1"/>
          </p:cNvSpPr>
          <p:nvPr>
            <p:ph idx="1"/>
          </p:nvPr>
        </p:nvSpPr>
        <p:spPr>
          <a:xfrm>
            <a:off x="443365" y="1825625"/>
            <a:ext cx="11461764" cy="4351338"/>
          </a:xfrm>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EC2 instance types are optimized for different use cases and come in multiple sizes. This allows you to optimally scale resources to your workload requirements. </a:t>
            </a:r>
          </a:p>
          <a:p>
            <a:pPr>
              <a:lnSpc>
                <a:spcPct val="150000"/>
              </a:lnSpc>
            </a:pPr>
            <a:r>
              <a:rPr lang="en-US" sz="1600" dirty="0">
                <a:latin typeface="Times New Roman" panose="02020603050405020304" pitchFamily="18" charset="0"/>
                <a:cs typeface="Times New Roman" panose="02020603050405020304" pitchFamily="18" charset="0"/>
              </a:rPr>
              <a:t>AWS uses Intel® Xeon® processors for EC2 instances, providing customers with high performance and value. </a:t>
            </a:r>
          </a:p>
          <a:p>
            <a:pPr>
              <a:lnSpc>
                <a:spcPct val="150000"/>
              </a:lnSpc>
            </a:pPr>
            <a:r>
              <a:rPr lang="en-US" sz="1600" dirty="0">
                <a:latin typeface="Times New Roman" panose="02020603050405020304" pitchFamily="18" charset="0"/>
                <a:cs typeface="Times New Roman" panose="02020603050405020304" pitchFamily="18" charset="0"/>
              </a:rPr>
              <a:t>Consider the following when choosing your instances: Core count, memory size, storage size and type, network performance, and CPU technologies. </a:t>
            </a:r>
          </a:p>
          <a:p>
            <a:pPr>
              <a:lnSpc>
                <a:spcPct val="150000"/>
              </a:lnSpc>
            </a:pPr>
            <a:r>
              <a:rPr lang="en-US" sz="1600" dirty="0">
                <a:latin typeface="Times New Roman" panose="02020603050405020304" pitchFamily="18" charset="0"/>
                <a:cs typeface="Times New Roman" panose="02020603050405020304" pitchFamily="18" charset="0"/>
              </a:rPr>
              <a:t>Hurry Up and Go Idle - A larger compute instance can save you time and money, therefore paying more per hour for a shorter amount of time can be less expensive. </a:t>
            </a:r>
          </a:p>
          <a:p>
            <a:endParaRPr lang="en-US" sz="1600" dirty="0">
              <a:latin typeface="Times New Roman" panose="02020603050405020304" pitchFamily="18" charset="0"/>
              <a:cs typeface="Times New Roman" panose="02020603050405020304" pitchFamily="18" charset="0"/>
            </a:endParaRPr>
          </a:p>
        </p:txBody>
      </p:sp>
      <p:sp>
        <p:nvSpPr>
          <p:cNvPr id="9" name="Title 4"/>
          <p:cNvSpPr>
            <a:spLocks noGrp="1"/>
          </p:cNvSpPr>
          <p:nvPr>
            <p:ph type="title"/>
          </p:nvPr>
        </p:nvSpPr>
        <p:spPr>
          <a:xfrm>
            <a:off x="695325" y="274638"/>
            <a:ext cx="10801350" cy="1143000"/>
          </a:xfrm>
        </p:spPr>
        <p:txBody>
          <a:bodyPr>
            <a:normAutofit/>
          </a:bodyPr>
          <a:lstStyle/>
          <a:p>
            <a:r>
              <a:rPr lang="en-US" sz="4219" dirty="0"/>
              <a:t>Instance Types (EC2)</a:t>
            </a:r>
          </a:p>
        </p:txBody>
      </p:sp>
      <p:pic>
        <p:nvPicPr>
          <p:cNvPr id="5" name="Picture 2" descr="How to deploy your server using AWS EC2 | by BAILLAHI Lemine | AWS in Plain  English">
            <a:extLst>
              <a:ext uri="{FF2B5EF4-FFF2-40B4-BE49-F238E27FC236}">
                <a16:creationId xmlns:a16="http://schemas.microsoft.com/office/drawing/2014/main" id="{F033E8C0-B802-0CBB-64B1-B169F90171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0032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36</a:t>
            </a:fld>
            <a:endParaRPr lang="en-US"/>
          </a:p>
        </p:txBody>
      </p:sp>
      <p:sp>
        <p:nvSpPr>
          <p:cNvPr id="9" name="Title 4"/>
          <p:cNvSpPr>
            <a:spLocks noGrp="1"/>
          </p:cNvSpPr>
          <p:nvPr>
            <p:ph type="title"/>
          </p:nvPr>
        </p:nvSpPr>
        <p:spPr>
          <a:xfrm>
            <a:off x="695325" y="274638"/>
            <a:ext cx="10801350" cy="1143000"/>
          </a:xfrm>
        </p:spPr>
        <p:txBody>
          <a:bodyPr>
            <a:normAutofit/>
          </a:bodyPr>
          <a:lstStyle/>
          <a:p>
            <a:r>
              <a:rPr lang="en-US" sz="4219" dirty="0"/>
              <a:t>Instance Types with AWS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 y="1552124"/>
            <a:ext cx="10244588" cy="44583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2" descr="How to deploy your server using AWS EC2 | by BAILLAHI Lemine | AWS in Plain  English">
            <a:extLst>
              <a:ext uri="{FF2B5EF4-FFF2-40B4-BE49-F238E27FC236}">
                <a16:creationId xmlns:a16="http://schemas.microsoft.com/office/drawing/2014/main" id="{D859F08A-8C42-A71C-2619-2A60501445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44561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 fill="hold"/>
                                        <p:tgtEl>
                                          <p:spTgt spid="2050"/>
                                        </p:tgtEl>
                                        <p:attrNameLst>
                                          <p:attrName>ppt_w</p:attrName>
                                        </p:attrNameLst>
                                      </p:cBhvr>
                                      <p:tavLst>
                                        <p:tav tm="0">
                                          <p:val>
                                            <p:fltVal val="0"/>
                                          </p:val>
                                        </p:tav>
                                        <p:tav tm="100000">
                                          <p:val>
                                            <p:strVal val="#ppt_w"/>
                                          </p:val>
                                        </p:tav>
                                      </p:tavLst>
                                    </p:anim>
                                    <p:anim calcmode="lin" valueType="num">
                                      <p:cBhvr>
                                        <p:cTn id="8" dur="500" fill="hold"/>
                                        <p:tgtEl>
                                          <p:spTgt spid="2050"/>
                                        </p:tgtEl>
                                        <p:attrNameLst>
                                          <p:attrName>ppt_h</p:attrName>
                                        </p:attrNameLst>
                                      </p:cBhvr>
                                      <p:tavLst>
                                        <p:tav tm="0">
                                          <p:val>
                                            <p:fltVal val="0"/>
                                          </p:val>
                                        </p:tav>
                                        <p:tav tm="100000">
                                          <p:val>
                                            <p:strVal val="#ppt_h"/>
                                          </p:val>
                                        </p:tav>
                                      </p:tavLst>
                                    </p:anim>
                                    <p:animEffect transition="in" filter="fade">
                                      <p:cBhvr>
                                        <p:cTn id="9"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37</a:t>
            </a:fld>
            <a:endParaRPr lang="en-US">
              <a:solidFill>
                <a:prstClr val="black">
                  <a:tint val="75000"/>
                </a:prstClr>
              </a:solidFill>
            </a:endParaRPr>
          </a:p>
        </p:txBody>
      </p:sp>
      <p:sp>
        <p:nvSpPr>
          <p:cNvPr id="5" name="Title 4"/>
          <p:cNvSpPr>
            <a:spLocks noGrp="1"/>
          </p:cNvSpPr>
          <p:nvPr>
            <p:ph type="title"/>
          </p:nvPr>
        </p:nvSpPr>
        <p:spPr/>
        <p:txBody>
          <a:bodyPr>
            <a:normAutofit fontScale="90000"/>
          </a:bodyPr>
          <a:lstStyle/>
          <a:p>
            <a:r>
              <a:rPr lang="en-US" sz="4219" dirty="0"/>
              <a:t>AMI’s</a:t>
            </a:r>
          </a:p>
        </p:txBody>
      </p:sp>
      <p:sp>
        <p:nvSpPr>
          <p:cNvPr id="2" name="Content Placeholder 1"/>
          <p:cNvSpPr>
            <a:spLocks noGrp="1"/>
          </p:cNvSpPr>
          <p:nvPr>
            <p:ph idx="1"/>
          </p:nvPr>
        </p:nvSpPr>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AMI Stands for </a:t>
            </a:r>
            <a:r>
              <a:rPr lang="en-US" sz="1600" b="1" dirty="0">
                <a:latin typeface="Times New Roman" panose="02020603050405020304" pitchFamily="18" charset="0"/>
                <a:cs typeface="Times New Roman" panose="02020603050405020304" pitchFamily="18" charset="0"/>
              </a:rPr>
              <a:t>Amazon Machine Image</a:t>
            </a:r>
          </a:p>
          <a:p>
            <a:pPr marL="129263" indent="0">
              <a:buNone/>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AMI is a template for the root volume </a:t>
            </a:r>
            <a:r>
              <a:rPr lang="en-US" sz="1600" dirty="0">
                <a:latin typeface="Times New Roman" panose="02020603050405020304" pitchFamily="18" charset="0"/>
                <a:cs typeface="Times New Roman" panose="02020603050405020304" pitchFamily="18" charset="0"/>
              </a:rPr>
              <a:t>for the instance (example: an OS image, a webserver, an application server etc.)</a:t>
            </a:r>
          </a:p>
          <a:p>
            <a:pPr marL="129263"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It also includes the launch permissions that control which AWS accounts can use the AMI to launch instances. </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All AMIs are based on x86 OSs, either Linux or Windows.</a:t>
            </a:r>
          </a:p>
          <a:p>
            <a:endParaRPr lang="en-US" sz="1600" dirty="0">
              <a:latin typeface="Times New Roman" panose="02020603050405020304" pitchFamily="18" charset="0"/>
              <a:cs typeface="Times New Roman" panose="02020603050405020304" pitchFamily="18" charset="0"/>
            </a:endParaRPr>
          </a:p>
          <a:p>
            <a:pPr marL="129263" indent="0">
              <a:buNone/>
            </a:pPr>
            <a:endParaRPr lang="en-US" sz="1600" dirty="0">
              <a:latin typeface="Times New Roman" panose="02020603050405020304" pitchFamily="18" charset="0"/>
              <a:cs typeface="Times New Roman" panose="02020603050405020304" pitchFamily="18" charset="0"/>
            </a:endParaRPr>
          </a:p>
        </p:txBody>
      </p:sp>
      <p:pic>
        <p:nvPicPr>
          <p:cNvPr id="3" name="Picture 2" descr="How to deploy your server using AWS EC2 | by BAILLAHI Lemine | AWS in Plain  English">
            <a:extLst>
              <a:ext uri="{FF2B5EF4-FFF2-40B4-BE49-F238E27FC236}">
                <a16:creationId xmlns:a16="http://schemas.microsoft.com/office/drawing/2014/main" id="{9DC1F715-D77D-9430-E0A9-B6BC92856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93091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38</a:t>
            </a:fld>
            <a:endParaRPr lang="en-US">
              <a:solidFill>
                <a:prstClr val="black">
                  <a:tint val="75000"/>
                </a:prstClr>
              </a:solidFill>
            </a:endParaRPr>
          </a:p>
        </p:txBody>
      </p:sp>
      <p:sp>
        <p:nvSpPr>
          <p:cNvPr id="5" name="Title 4"/>
          <p:cNvSpPr>
            <a:spLocks noGrp="1"/>
          </p:cNvSpPr>
          <p:nvPr>
            <p:ph type="title"/>
          </p:nvPr>
        </p:nvSpPr>
        <p:spPr/>
        <p:txBody>
          <a:bodyPr>
            <a:normAutofit fontScale="90000"/>
          </a:bodyPr>
          <a:lstStyle/>
          <a:p>
            <a:r>
              <a:rPr lang="en-US" sz="4219" dirty="0"/>
              <a:t>Instances and AMI’s</a:t>
            </a:r>
          </a:p>
        </p:txBody>
      </p:sp>
      <p:sp>
        <p:nvSpPr>
          <p:cNvPr id="2" name="Content Placeholder 1"/>
          <p:cNvSpPr>
            <a:spLocks noGrp="1"/>
          </p:cNvSpPr>
          <p:nvPr>
            <p:ph idx="1"/>
          </p:nvPr>
        </p:nvSpPr>
        <p:spPr>
          <a:xfrm>
            <a:off x="695325" y="1481333"/>
            <a:ext cx="10855937" cy="4525963"/>
          </a:xfrm>
        </p:spPr>
        <p:txBody>
          <a:bodyPr>
            <a:normAutofit fontScale="85000" lnSpcReduction="20000"/>
          </a:bodyPr>
          <a:lstStyle/>
          <a:p>
            <a:pPr marL="0" indent="0">
              <a:buNone/>
            </a:pPr>
            <a:endParaRPr lang="en-US" sz="2156" dirty="0"/>
          </a:p>
          <a:p>
            <a:pPr marL="0" indent="0">
              <a:buNone/>
            </a:pPr>
            <a:r>
              <a:rPr lang="en-US" sz="2156" dirty="0"/>
              <a:t>Select an AMI based on: </a:t>
            </a:r>
          </a:p>
          <a:p>
            <a:pPr marL="129263" indent="0">
              <a:buNone/>
            </a:pPr>
            <a:endParaRPr lang="en-US" sz="2156" dirty="0"/>
          </a:p>
          <a:p>
            <a:pPr>
              <a:buFont typeface="Arial" panose="020B0604020202020204" pitchFamily="34" charset="0"/>
              <a:buChar char="•"/>
            </a:pPr>
            <a:r>
              <a:rPr lang="en-US" sz="2156" dirty="0"/>
              <a:t>Region </a:t>
            </a:r>
          </a:p>
          <a:p>
            <a:pPr>
              <a:buFont typeface="Arial" panose="020B0604020202020204" pitchFamily="34" charset="0"/>
              <a:buChar char="•"/>
            </a:pPr>
            <a:endParaRPr lang="en-US" sz="2156" dirty="0"/>
          </a:p>
          <a:p>
            <a:pPr>
              <a:buFont typeface="Arial" panose="020B0604020202020204" pitchFamily="34" charset="0"/>
              <a:buChar char="•"/>
            </a:pPr>
            <a:r>
              <a:rPr lang="en-US" sz="2156" dirty="0"/>
              <a:t>Operating system </a:t>
            </a:r>
          </a:p>
          <a:p>
            <a:pPr>
              <a:buFont typeface="Arial" panose="020B0604020202020204" pitchFamily="34" charset="0"/>
              <a:buChar char="•"/>
            </a:pPr>
            <a:endParaRPr lang="en-US" sz="2156" dirty="0"/>
          </a:p>
          <a:p>
            <a:pPr>
              <a:buFont typeface="Arial" panose="020B0604020202020204" pitchFamily="34" charset="0"/>
              <a:buChar char="•"/>
            </a:pPr>
            <a:r>
              <a:rPr lang="en-US" sz="2156" dirty="0"/>
              <a:t>Architecture  (32-bit or 64-bit)</a:t>
            </a:r>
          </a:p>
          <a:p>
            <a:pPr>
              <a:buFont typeface="Arial" panose="020B0604020202020204" pitchFamily="34" charset="0"/>
              <a:buChar char="•"/>
            </a:pPr>
            <a:endParaRPr lang="en-US" sz="2156" dirty="0"/>
          </a:p>
          <a:p>
            <a:pPr>
              <a:buFont typeface="Arial" panose="020B0604020202020204" pitchFamily="34" charset="0"/>
              <a:buChar char="•"/>
            </a:pPr>
            <a:r>
              <a:rPr lang="en-US" sz="2156" dirty="0"/>
              <a:t>Launch permissions</a:t>
            </a:r>
          </a:p>
          <a:p>
            <a:pPr>
              <a:buFont typeface="Arial" panose="020B0604020202020204" pitchFamily="34" charset="0"/>
              <a:buChar char="•"/>
            </a:pPr>
            <a:endParaRPr lang="en-US" sz="2156" dirty="0"/>
          </a:p>
          <a:p>
            <a:pPr>
              <a:buFont typeface="Arial" panose="020B0604020202020204" pitchFamily="34" charset="0"/>
              <a:buChar char="•"/>
            </a:pPr>
            <a:r>
              <a:rPr lang="en-US" sz="2156" dirty="0"/>
              <a:t>Storage for the root device </a:t>
            </a:r>
          </a:p>
          <a:p>
            <a:pPr>
              <a:buFont typeface="Arial" panose="020B0604020202020204" pitchFamily="34" charset="0"/>
              <a:buChar char="•"/>
            </a:pPr>
            <a:endParaRPr lang="en-US" sz="2156" dirty="0"/>
          </a:p>
          <a:p>
            <a:pPr>
              <a:buFont typeface="Arial" panose="020B0604020202020204" pitchFamily="34" charset="0"/>
              <a:buChar char="•"/>
            </a:pPr>
            <a:r>
              <a:rPr lang="en-US" sz="2156" dirty="0"/>
              <a:t>Virtualization Type </a:t>
            </a:r>
          </a:p>
          <a:p>
            <a:pPr marL="129263" indent="0">
              <a:buNone/>
            </a:pPr>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6088" y="1676405"/>
            <a:ext cx="4600575" cy="40417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3" name="Picture 2" descr="How to deploy your server using AWS EC2 | by BAILLAHI Lemine | AWS in Plain  English">
            <a:extLst>
              <a:ext uri="{FF2B5EF4-FFF2-40B4-BE49-F238E27FC236}">
                <a16:creationId xmlns:a16="http://schemas.microsoft.com/office/drawing/2014/main" id="{444873B6-B0DF-E91E-2BCC-25A061269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87651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1000"/>
                                        <p:tgtEl>
                                          <p:spTgt spid="2">
                                            <p:txEl>
                                              <p:pRg st="5" end="5"/>
                                            </p:txEl>
                                          </p:spTgt>
                                        </p:tgtEl>
                                      </p:cBhvr>
                                    </p:animEffect>
                                    <p:anim calcmode="lin" valueType="num">
                                      <p:cBhvr>
                                        <p:cTn id="2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fade">
                                      <p:cBhvr>
                                        <p:cTn id="35" dur="1000"/>
                                        <p:tgtEl>
                                          <p:spTgt spid="2">
                                            <p:txEl>
                                              <p:pRg st="7" end="7"/>
                                            </p:txEl>
                                          </p:spTgt>
                                        </p:tgtEl>
                                      </p:cBhvr>
                                    </p:animEffect>
                                    <p:anim calcmode="lin" valueType="num">
                                      <p:cBhvr>
                                        <p:cTn id="36"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fade">
                                      <p:cBhvr>
                                        <p:cTn id="42" dur="1000"/>
                                        <p:tgtEl>
                                          <p:spTgt spid="2">
                                            <p:txEl>
                                              <p:pRg st="9" end="9"/>
                                            </p:txEl>
                                          </p:spTgt>
                                        </p:tgtEl>
                                      </p:cBhvr>
                                    </p:animEffect>
                                    <p:anim calcmode="lin" valueType="num">
                                      <p:cBhvr>
                                        <p:cTn id="43"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11" end="11"/>
                                            </p:txEl>
                                          </p:spTgt>
                                        </p:tgtEl>
                                        <p:attrNameLst>
                                          <p:attrName>style.visibility</p:attrName>
                                        </p:attrNameLst>
                                      </p:cBhvr>
                                      <p:to>
                                        <p:strVal val="visible"/>
                                      </p:to>
                                    </p:set>
                                    <p:animEffect transition="in" filter="fade">
                                      <p:cBhvr>
                                        <p:cTn id="49" dur="1000"/>
                                        <p:tgtEl>
                                          <p:spTgt spid="2">
                                            <p:txEl>
                                              <p:pRg st="11" end="11"/>
                                            </p:txEl>
                                          </p:spTgt>
                                        </p:tgtEl>
                                      </p:cBhvr>
                                    </p:animEffect>
                                    <p:anim calcmode="lin" valueType="num">
                                      <p:cBhvr>
                                        <p:cTn id="50"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xEl>
                                              <p:pRg st="13" end="13"/>
                                            </p:txEl>
                                          </p:spTgt>
                                        </p:tgtEl>
                                        <p:attrNameLst>
                                          <p:attrName>style.visibility</p:attrName>
                                        </p:attrNameLst>
                                      </p:cBhvr>
                                      <p:to>
                                        <p:strVal val="visible"/>
                                      </p:to>
                                    </p:set>
                                    <p:animEffect transition="in" filter="fade">
                                      <p:cBhvr>
                                        <p:cTn id="56" dur="1000"/>
                                        <p:tgtEl>
                                          <p:spTgt spid="2">
                                            <p:txEl>
                                              <p:pRg st="13" end="13"/>
                                            </p:txEl>
                                          </p:spTgt>
                                        </p:tgtEl>
                                      </p:cBhvr>
                                    </p:animEffect>
                                    <p:anim calcmode="lin" valueType="num">
                                      <p:cBhvr>
                                        <p:cTn id="57"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39</a:t>
            </a:fld>
            <a:endParaRPr lang="en-US"/>
          </a:p>
        </p:txBody>
      </p:sp>
      <p:sp>
        <p:nvSpPr>
          <p:cNvPr id="5" name="Title 4"/>
          <p:cNvSpPr>
            <a:spLocks noGrp="1"/>
          </p:cNvSpPr>
          <p:nvPr>
            <p:ph type="title"/>
          </p:nvPr>
        </p:nvSpPr>
        <p:spPr/>
        <p:txBody>
          <a:bodyPr>
            <a:normAutofit fontScale="90000"/>
          </a:bodyPr>
          <a:lstStyle/>
          <a:p>
            <a:r>
              <a:rPr lang="en-US" sz="4219" dirty="0"/>
              <a:t>Credentials</a:t>
            </a:r>
          </a:p>
        </p:txBody>
      </p:sp>
      <p:sp>
        <p:nvSpPr>
          <p:cNvPr id="2" name="Content Placeholder 1"/>
          <p:cNvSpPr>
            <a:spLocks noGrp="1"/>
          </p:cNvSpPr>
          <p:nvPr>
            <p:ph idx="1"/>
          </p:nvPr>
        </p:nvSpPr>
        <p:spPr>
          <a:xfrm>
            <a:off x="695325" y="1295400"/>
            <a:ext cx="10801350" cy="4830763"/>
          </a:xfrm>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Used to access an Instance.</a:t>
            </a:r>
          </a:p>
          <a:p>
            <a:pPr>
              <a:lnSpc>
                <a:spcPct val="150000"/>
              </a:lnSpc>
            </a:pPr>
            <a:r>
              <a:rPr lang="en-US" sz="1800" dirty="0">
                <a:latin typeface="Times New Roman" panose="02020603050405020304" pitchFamily="18" charset="0"/>
                <a:cs typeface="Times New Roman" panose="02020603050405020304" pitchFamily="18" charset="0"/>
              </a:rPr>
              <a:t>Amazon EC2 uses public-key cryptography to encrypt and decrypt login information.</a:t>
            </a:r>
          </a:p>
          <a:p>
            <a:pPr>
              <a:lnSpc>
                <a:spcPct val="150000"/>
              </a:lnSpc>
            </a:pPr>
            <a:r>
              <a:rPr lang="en-US" sz="1800" dirty="0">
                <a:latin typeface="Times New Roman" panose="02020603050405020304" pitchFamily="18" charset="0"/>
                <a:cs typeface="Times New Roman" panose="02020603050405020304" pitchFamily="18" charset="0"/>
              </a:rPr>
              <a:t>Public-key cryptography uses a public key to encrypt a piece of data and an associated private key to decrypt the data.</a:t>
            </a:r>
          </a:p>
          <a:p>
            <a:pPr>
              <a:lnSpc>
                <a:spcPct val="150000"/>
              </a:lnSpc>
            </a:pPr>
            <a:r>
              <a:rPr lang="en-US" sz="1800" dirty="0">
                <a:latin typeface="Times New Roman" panose="02020603050405020304" pitchFamily="18" charset="0"/>
                <a:cs typeface="Times New Roman" panose="02020603050405020304" pitchFamily="18" charset="0"/>
              </a:rPr>
              <a:t>These two keys together are called a </a:t>
            </a:r>
            <a:r>
              <a:rPr lang="en-US" sz="1800" i="1" dirty="0">
                <a:latin typeface="Times New Roman" panose="02020603050405020304" pitchFamily="18" charset="0"/>
                <a:cs typeface="Times New Roman" panose="02020603050405020304" pitchFamily="18" charset="0"/>
              </a:rPr>
              <a:t>key pair</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AWS stores the public key, and the private key is kept by the customer. The private key is essential to acquiring secure access to an instance for the first time.</a:t>
            </a:r>
          </a:p>
          <a:p>
            <a:pPr>
              <a:lnSpc>
                <a:spcPct val="150000"/>
              </a:lnSpc>
            </a:pPr>
            <a:r>
              <a:rPr lang="en-US" sz="1800" dirty="0">
                <a:latin typeface="Times New Roman" panose="02020603050405020304" pitchFamily="18" charset="0"/>
                <a:cs typeface="Times New Roman" panose="02020603050405020304" pitchFamily="18" charset="0"/>
              </a:rPr>
              <a:t>When launching a Windows instance, Amazon EC2 generates a random password for the local administrator account and encrypts the password using the public key.</a:t>
            </a:r>
          </a:p>
        </p:txBody>
      </p:sp>
      <p:pic>
        <p:nvPicPr>
          <p:cNvPr id="3" name="Picture 2" descr="How to deploy your server using AWS EC2 | by BAILLAHI Lemine | AWS in Plain  English">
            <a:extLst>
              <a:ext uri="{FF2B5EF4-FFF2-40B4-BE49-F238E27FC236}">
                <a16:creationId xmlns:a16="http://schemas.microsoft.com/office/drawing/2014/main" id="{BCEB078F-21DA-65C5-1F61-9E809D503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77950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40</a:t>
            </a:fld>
            <a:endParaRPr lang="en-US"/>
          </a:p>
        </p:txBody>
      </p:sp>
      <p:sp>
        <p:nvSpPr>
          <p:cNvPr id="5" name="Title 4"/>
          <p:cNvSpPr>
            <a:spLocks noGrp="1"/>
          </p:cNvSpPr>
          <p:nvPr>
            <p:ph type="title"/>
          </p:nvPr>
        </p:nvSpPr>
        <p:spPr/>
        <p:txBody>
          <a:bodyPr>
            <a:normAutofit fontScale="90000"/>
          </a:bodyPr>
          <a:lstStyle/>
          <a:p>
            <a:r>
              <a:rPr lang="en-US" sz="4219" dirty="0"/>
              <a:t>Launching EC2 Instance</a:t>
            </a:r>
          </a:p>
        </p:txBody>
      </p:sp>
      <p:sp>
        <p:nvSpPr>
          <p:cNvPr id="2" name="Content Placeholder 1"/>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Procedure to launch EC2 instance in minutes:</a:t>
            </a:r>
          </a:p>
          <a:p>
            <a:pPr marL="129263"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Determine the AWS Region in which you want to launch the Amazon EC2 instance. </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Launch an Amazon EC2 instance from a pre-configured Amazon Machine Image (AMI). </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Choose an instance type based on CPU, memory, storage, and network requirements. </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Configure network, security groups, storage volume, tags, and key pair; or directly launch instance post selecting AMI and Instance type.</a:t>
            </a:r>
          </a:p>
          <a:p>
            <a:pPr marL="129263" indent="0">
              <a:buNone/>
            </a:pPr>
            <a:endParaRPr lang="en-US" dirty="0"/>
          </a:p>
        </p:txBody>
      </p:sp>
      <p:pic>
        <p:nvPicPr>
          <p:cNvPr id="3" name="Picture 2" descr="How to deploy your server using AWS EC2 | by BAILLAHI Lemine | AWS in Plain  English">
            <a:extLst>
              <a:ext uri="{FF2B5EF4-FFF2-40B4-BE49-F238E27FC236}">
                <a16:creationId xmlns:a16="http://schemas.microsoft.com/office/drawing/2014/main" id="{E1836AA0-7AB1-1D8A-3F3D-932787235D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361393"/>
      </p:ext>
    </p:extLst>
  </p:cSld>
  <p:clrMapOvr>
    <a:masterClrMapping/>
  </p:clrMapOvr>
  <p:transition spd="slow">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41</a:t>
            </a:fld>
            <a:endParaRPr lang="en-US"/>
          </a:p>
        </p:txBody>
      </p:sp>
      <p:sp>
        <p:nvSpPr>
          <p:cNvPr id="5" name="Title 4"/>
          <p:cNvSpPr>
            <a:spLocks noGrp="1"/>
          </p:cNvSpPr>
          <p:nvPr>
            <p:ph type="title"/>
          </p:nvPr>
        </p:nvSpPr>
        <p:spPr>
          <a:xfrm>
            <a:off x="-18733" y="413271"/>
            <a:ext cx="8785225" cy="535531"/>
          </a:xfrm>
        </p:spPr>
        <p:txBody>
          <a:bodyPr>
            <a:noAutofit/>
          </a:bodyPr>
          <a:lstStyle/>
          <a:p>
            <a:r>
              <a:rPr lang="en-US" sz="4219" dirty="0">
                <a:latin typeface="Times New Roman" panose="02020603050405020304" pitchFamily="18" charset="0"/>
                <a:cs typeface="Times New Roman" panose="02020603050405020304" pitchFamily="18" charset="0"/>
              </a:rPr>
              <a:t>LAB : Create an EC2 Linux Instance</a:t>
            </a:r>
          </a:p>
        </p:txBody>
      </p:sp>
      <p:sp>
        <p:nvSpPr>
          <p:cNvPr id="2" name="Content Placeholder 1"/>
          <p:cNvSpPr>
            <a:spLocks noGrp="1"/>
          </p:cNvSpPr>
          <p:nvPr>
            <p:ph idx="1"/>
          </p:nvPr>
        </p:nvSpPr>
        <p:spPr>
          <a:xfrm>
            <a:off x="310015" y="1592622"/>
            <a:ext cx="11215235" cy="4351338"/>
          </a:xfrm>
        </p:spPr>
        <p:txBody>
          <a:bodyPr>
            <a:noAutofit/>
          </a:bodyPr>
          <a:lstStyle/>
          <a:p>
            <a:pPr marL="129263" indent="0">
              <a:buNone/>
            </a:pPr>
            <a:r>
              <a:rPr lang="en-US" sz="1600" dirty="0">
                <a:latin typeface="Times New Roman" panose="02020603050405020304" pitchFamily="18" charset="0"/>
                <a:cs typeface="Times New Roman" panose="02020603050405020304" pitchFamily="18" charset="0"/>
              </a:rPr>
              <a:t>Console Access: https://console.aws.amazon.com/</a:t>
            </a:r>
          </a:p>
          <a:p>
            <a:pPr marL="129263" indent="0">
              <a:buNone/>
            </a:pPr>
            <a:endParaRPr lang="en-US" sz="1600" dirty="0">
              <a:latin typeface="Times New Roman" panose="02020603050405020304" pitchFamily="18" charset="0"/>
              <a:cs typeface="Times New Roman" panose="02020603050405020304" pitchFamily="18" charset="0"/>
            </a:endParaRPr>
          </a:p>
          <a:p>
            <a:pPr marL="465893" indent="-336627"/>
            <a:r>
              <a:rPr lang="en-US" sz="1600" dirty="0">
                <a:latin typeface="Times New Roman" panose="02020603050405020304" pitchFamily="18" charset="0"/>
                <a:cs typeface="Times New Roman" panose="02020603050405020304" pitchFamily="18" charset="0"/>
              </a:rPr>
              <a:t>Observe different available AMIs and Instance types</a:t>
            </a:r>
          </a:p>
          <a:p>
            <a:pPr marL="465893" indent="-336627"/>
            <a:r>
              <a:rPr lang="en-US" sz="1600" dirty="0">
                <a:latin typeface="Times New Roman" panose="02020603050405020304" pitchFamily="18" charset="0"/>
                <a:cs typeface="Times New Roman" panose="02020603050405020304" pitchFamily="18" charset="0"/>
              </a:rPr>
              <a:t>Exercise: </a:t>
            </a:r>
          </a:p>
          <a:p>
            <a:pPr marL="129263" indent="0">
              <a:buNone/>
            </a:pPr>
            <a:r>
              <a:rPr lang="en-US" sz="1600" dirty="0">
                <a:latin typeface="Times New Roman" panose="02020603050405020304" pitchFamily="18" charset="0"/>
                <a:cs typeface="Times New Roman" panose="02020603050405020304" pitchFamily="18" charset="0"/>
              </a:rPr>
              <a:t>      Create a Linux Operating System using mandatory configurations:</a:t>
            </a:r>
          </a:p>
          <a:p>
            <a:pPr marL="937168" lvl="1"/>
            <a:r>
              <a:rPr lang="en-US" sz="1600" dirty="0">
                <a:latin typeface="Times New Roman" panose="02020603050405020304" pitchFamily="18" charset="0"/>
                <a:cs typeface="Times New Roman" panose="02020603050405020304" pitchFamily="18" charset="0"/>
              </a:rPr>
              <a:t>Instance Type : </a:t>
            </a:r>
            <a:r>
              <a:rPr lang="en-US" sz="1600" b="1" dirty="0">
                <a:latin typeface="Times New Roman" panose="02020603050405020304" pitchFamily="18" charset="0"/>
                <a:cs typeface="Times New Roman" panose="02020603050405020304" pitchFamily="18" charset="0"/>
              </a:rPr>
              <a:t>T2.Micro</a:t>
            </a:r>
          </a:p>
          <a:p>
            <a:pPr marL="937168" lvl="1"/>
            <a:r>
              <a:rPr lang="en-US" sz="1600" dirty="0">
                <a:latin typeface="Times New Roman" panose="02020603050405020304" pitchFamily="18" charset="0"/>
                <a:cs typeface="Times New Roman" panose="02020603050405020304" pitchFamily="18" charset="0"/>
              </a:rPr>
              <a:t>AMI : </a:t>
            </a:r>
            <a:r>
              <a:rPr lang="en-US" sz="1600" b="1" dirty="0">
                <a:latin typeface="Times New Roman" panose="02020603050405020304" pitchFamily="18" charset="0"/>
                <a:cs typeface="Times New Roman" panose="02020603050405020304" pitchFamily="18" charset="0"/>
              </a:rPr>
              <a:t>Amazon Linux 2 AMI</a:t>
            </a:r>
          </a:p>
          <a:p>
            <a:pPr marL="937168" lvl="1"/>
            <a:r>
              <a:rPr lang="en-US" sz="1600" dirty="0">
                <a:latin typeface="Times New Roman" panose="02020603050405020304" pitchFamily="18" charset="0"/>
                <a:cs typeface="Times New Roman" panose="02020603050405020304" pitchFamily="18" charset="0"/>
              </a:rPr>
              <a:t>Credentials: </a:t>
            </a:r>
            <a:r>
              <a:rPr lang="en-US" sz="1600" b="1" dirty="0">
                <a:latin typeface="Times New Roman" panose="02020603050405020304" pitchFamily="18" charset="0"/>
                <a:cs typeface="Times New Roman" panose="02020603050405020304" pitchFamily="18" charset="0"/>
              </a:rPr>
              <a:t>Create/download your own key pair and use same</a:t>
            </a:r>
            <a:r>
              <a:rPr lang="en-US" sz="1600" dirty="0">
                <a:latin typeface="Times New Roman" panose="02020603050405020304" pitchFamily="18" charset="0"/>
                <a:cs typeface="Times New Roman" panose="02020603050405020304" pitchFamily="18" charset="0"/>
              </a:rPr>
              <a:t>.</a:t>
            </a:r>
          </a:p>
          <a:p>
            <a:pPr marL="937168" lvl="1"/>
            <a:endParaRPr lang="en-US" sz="1600" dirty="0">
              <a:latin typeface="Times New Roman" panose="02020603050405020304" pitchFamily="18" charset="0"/>
              <a:cs typeface="Times New Roman" panose="02020603050405020304" pitchFamily="18" charset="0"/>
            </a:endParaRPr>
          </a:p>
          <a:p>
            <a:pPr marL="465893" indent="-336627"/>
            <a:r>
              <a:rPr lang="en-US" sz="1600" dirty="0">
                <a:latin typeface="Times New Roman" panose="02020603050405020304" pitchFamily="18" charset="0"/>
                <a:cs typeface="Times New Roman" panose="02020603050405020304" pitchFamily="18" charset="0"/>
              </a:rPr>
              <a:t>Observe the instance details and navigate through the diff tabs  </a:t>
            </a:r>
          </a:p>
          <a:p>
            <a:pPr marL="465893" indent="-336627"/>
            <a:r>
              <a:rPr lang="en-US" sz="1600" dirty="0">
                <a:latin typeface="Times New Roman" panose="02020603050405020304" pitchFamily="18" charset="0"/>
                <a:cs typeface="Times New Roman" panose="02020603050405020304" pitchFamily="18" charset="0"/>
              </a:rPr>
              <a:t>Reboot, Stop, Start your server</a:t>
            </a:r>
          </a:p>
          <a:p>
            <a:pPr marL="465893" indent="-336627"/>
            <a:r>
              <a:rPr lang="en-US" sz="1600" dirty="0">
                <a:latin typeface="Times New Roman" panose="02020603050405020304" pitchFamily="18" charset="0"/>
                <a:cs typeface="Times New Roman" panose="02020603050405020304" pitchFamily="18" charset="0"/>
              </a:rPr>
              <a:t>Access your instance using above downloaded key pair using different platforms </a:t>
            </a:r>
            <a:r>
              <a:rPr lang="en-US" sz="1600" dirty="0" err="1">
                <a:latin typeface="Times New Roman" panose="02020603050405020304" pitchFamily="18" charset="0"/>
                <a:cs typeface="Times New Roman" panose="02020603050405020304" pitchFamily="18" charset="0"/>
              </a:rPr>
              <a:t>i.e</a:t>
            </a:r>
            <a:r>
              <a:rPr lang="en-US" sz="1600" dirty="0">
                <a:latin typeface="Times New Roman" panose="02020603050405020304" pitchFamily="18" charset="0"/>
                <a:cs typeface="Times New Roman" panose="02020603050405020304" pitchFamily="18" charset="0"/>
              </a:rPr>
              <a:t> , instance connect , using putty , cli.</a:t>
            </a:r>
          </a:p>
          <a:p>
            <a:pPr marL="129263" indent="0">
              <a:buNone/>
            </a:pPr>
            <a:r>
              <a:rPr lang="en-US" sz="1600" b="1" dirty="0">
                <a:solidFill>
                  <a:srgbClr val="C00000"/>
                </a:solidFill>
                <a:highlight>
                  <a:srgbClr val="FFFF00"/>
                </a:highlight>
                <a:latin typeface="Times New Roman" panose="02020603050405020304" pitchFamily="18" charset="0"/>
                <a:cs typeface="Times New Roman" panose="02020603050405020304" pitchFamily="18" charset="0"/>
              </a:rPr>
              <a:t>Note: </a:t>
            </a:r>
            <a:r>
              <a:rPr lang="en-US" sz="1600" dirty="0">
                <a:solidFill>
                  <a:srgbClr val="C00000"/>
                </a:solidFill>
                <a:highlight>
                  <a:srgbClr val="FFFF00"/>
                </a:highlight>
                <a:latin typeface="Times New Roman" panose="02020603050405020304" pitchFamily="18" charset="0"/>
                <a:cs typeface="Times New Roman" panose="02020603050405020304" pitchFamily="18" charset="0"/>
              </a:rPr>
              <a:t>(For the first instance take the default parameters wherever inputs required)</a:t>
            </a:r>
          </a:p>
          <a:p>
            <a:pPr marL="129263" indent="0">
              <a:buNone/>
            </a:pPr>
            <a:endParaRPr lang="en-US" sz="1600" dirty="0">
              <a:latin typeface="Times New Roman" panose="02020603050405020304" pitchFamily="18" charset="0"/>
              <a:cs typeface="Times New Roman" panose="02020603050405020304" pitchFamily="18" charset="0"/>
            </a:endParaRPr>
          </a:p>
          <a:p>
            <a:pPr marL="465893" indent="-336627"/>
            <a:endParaRPr lang="en-US" sz="1600" dirty="0">
              <a:latin typeface="Times New Roman" panose="02020603050405020304" pitchFamily="18" charset="0"/>
              <a:cs typeface="Times New Roman" panose="02020603050405020304" pitchFamily="18" charset="0"/>
            </a:endParaRPr>
          </a:p>
        </p:txBody>
      </p:sp>
      <p:pic>
        <p:nvPicPr>
          <p:cNvPr id="6" name="Picture 2" descr="How to deploy your server using AWS EC2 | by BAILLAHI Lemine | AWS in Plain  English">
            <a:extLst>
              <a:ext uri="{FF2B5EF4-FFF2-40B4-BE49-F238E27FC236}">
                <a16:creationId xmlns:a16="http://schemas.microsoft.com/office/drawing/2014/main" id="{F3C82A45-E672-785A-2A65-97127485E9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761821"/>
      </p:ext>
    </p:extLst>
  </p:cSld>
  <p:clrMapOvr>
    <a:masterClrMapping/>
  </p:clrMapOvr>
  <p:transition spd="slow">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42</a:t>
            </a:fld>
            <a:endParaRPr lang="en-US"/>
          </a:p>
        </p:txBody>
      </p:sp>
      <p:sp>
        <p:nvSpPr>
          <p:cNvPr id="5" name="Title 4"/>
          <p:cNvSpPr>
            <a:spLocks noGrp="1"/>
          </p:cNvSpPr>
          <p:nvPr>
            <p:ph type="title"/>
          </p:nvPr>
        </p:nvSpPr>
        <p:spPr/>
        <p:txBody>
          <a:bodyPr>
            <a:normAutofit fontScale="90000"/>
          </a:bodyPr>
          <a:lstStyle/>
          <a:p>
            <a:r>
              <a:rPr lang="en-US" sz="4219" dirty="0"/>
              <a:t>Instance Lifecycle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101" y="1620437"/>
            <a:ext cx="9998723" cy="431519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 name="Picture 2" descr="How to deploy your server using AWS EC2 | by BAILLAHI Lemine | AWS in Plain  English">
            <a:extLst>
              <a:ext uri="{FF2B5EF4-FFF2-40B4-BE49-F238E27FC236}">
                <a16:creationId xmlns:a16="http://schemas.microsoft.com/office/drawing/2014/main" id="{AAC4F954-F96B-1B2B-9272-B40CED57B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8143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p:cTn id="7" dur="500" fill="hold"/>
                                        <p:tgtEl>
                                          <p:spTgt spid="5122"/>
                                        </p:tgtEl>
                                        <p:attrNameLst>
                                          <p:attrName>ppt_w</p:attrName>
                                        </p:attrNameLst>
                                      </p:cBhvr>
                                      <p:tavLst>
                                        <p:tav tm="0">
                                          <p:val>
                                            <p:fltVal val="0"/>
                                          </p:val>
                                        </p:tav>
                                        <p:tav tm="100000">
                                          <p:val>
                                            <p:strVal val="#ppt_w"/>
                                          </p:val>
                                        </p:tav>
                                      </p:tavLst>
                                    </p:anim>
                                    <p:anim calcmode="lin" valueType="num">
                                      <p:cBhvr>
                                        <p:cTn id="8" dur="500" fill="hold"/>
                                        <p:tgtEl>
                                          <p:spTgt spid="5122"/>
                                        </p:tgtEl>
                                        <p:attrNameLst>
                                          <p:attrName>ppt_h</p:attrName>
                                        </p:attrNameLst>
                                      </p:cBhvr>
                                      <p:tavLst>
                                        <p:tav tm="0">
                                          <p:val>
                                            <p:fltVal val="0"/>
                                          </p:val>
                                        </p:tav>
                                        <p:tav tm="100000">
                                          <p:val>
                                            <p:strVal val="#ppt_h"/>
                                          </p:val>
                                        </p:tav>
                                      </p:tavLst>
                                    </p:anim>
                                    <p:animEffect transition="in" filter="fade">
                                      <p:cBhvr>
                                        <p:cTn id="9"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43</a:t>
            </a:fld>
            <a:endParaRPr lang="en-US"/>
          </a:p>
        </p:txBody>
      </p:sp>
      <p:sp>
        <p:nvSpPr>
          <p:cNvPr id="5" name="Title 4"/>
          <p:cNvSpPr>
            <a:spLocks noGrp="1"/>
          </p:cNvSpPr>
          <p:nvPr>
            <p:ph type="title"/>
          </p:nvPr>
        </p:nvSpPr>
        <p:spPr/>
        <p:txBody>
          <a:bodyPr>
            <a:normAutofit fontScale="90000"/>
          </a:bodyPr>
          <a:lstStyle/>
          <a:p>
            <a:r>
              <a:rPr lang="en-US" sz="4219" dirty="0"/>
              <a:t>Network part</a:t>
            </a:r>
          </a:p>
        </p:txBody>
      </p:sp>
      <p:sp>
        <p:nvSpPr>
          <p:cNvPr id="2" name="Content Placeholder 1"/>
          <p:cNvSpPr>
            <a:spLocks noGrp="1"/>
          </p:cNvSpPr>
          <p:nvPr>
            <p:ph idx="1"/>
          </p:nvPr>
        </p:nvSpPr>
        <p:spPr>
          <a:xfrm>
            <a:off x="695325" y="1078456"/>
            <a:ext cx="10801350" cy="5047707"/>
          </a:xfrm>
        </p:spPr>
        <p:txBody>
          <a:bodyPr>
            <a:normAutofit fontScale="92500" lnSpcReduction="10000"/>
          </a:bodyPr>
          <a:lstStyle/>
          <a:p>
            <a:pPr marL="0" indent="0">
              <a:lnSpc>
                <a:spcPct val="150000"/>
              </a:lnSpc>
              <a:buNone/>
            </a:pPr>
            <a:endParaRPr lang="en-US" sz="1800" b="1" dirty="0">
              <a:latin typeface="Times New Roman" panose="02020603050405020304" pitchFamily="18" charset="0"/>
              <a:cs typeface="Times New Roman" panose="02020603050405020304" pitchFamily="18" charset="0"/>
            </a:endParaRPr>
          </a:p>
          <a:p>
            <a:pPr>
              <a:lnSpc>
                <a:spcPct val="150000"/>
              </a:lnSpc>
            </a:pPr>
            <a:r>
              <a:rPr lang="en-US" sz="1800" b="1" dirty="0">
                <a:latin typeface="Times New Roman" panose="02020603050405020304" pitchFamily="18" charset="0"/>
                <a:cs typeface="Times New Roman" panose="02020603050405020304" pitchFamily="18" charset="0"/>
              </a:rPr>
              <a:t>Private IP: </a:t>
            </a:r>
            <a:r>
              <a:rPr lang="en-US" sz="1800" dirty="0">
                <a:latin typeface="Times New Roman" panose="02020603050405020304" pitchFamily="18" charset="0"/>
                <a:cs typeface="Times New Roman" panose="02020603050405020304" pitchFamily="18" charset="0"/>
              </a:rPr>
              <a:t>Alike traditional VMs/hosts, each EC2 instance must at least belong to one network (VPC in AWS) and must have at least one Private IP from that network/subnet.</a:t>
            </a:r>
          </a:p>
          <a:p>
            <a:pPr>
              <a:lnSpc>
                <a:spcPct val="150000"/>
              </a:lnSpc>
            </a:pPr>
            <a:r>
              <a:rPr lang="en-US" sz="1800" b="1" dirty="0">
                <a:latin typeface="Times New Roman" panose="02020603050405020304" pitchFamily="18" charset="0"/>
                <a:cs typeface="Times New Roman" panose="02020603050405020304" pitchFamily="18" charset="0"/>
              </a:rPr>
              <a:t>Public IP: </a:t>
            </a:r>
            <a:r>
              <a:rPr lang="en-US" sz="1800" dirty="0">
                <a:latin typeface="Times New Roman" panose="02020603050405020304" pitchFamily="18" charset="0"/>
                <a:cs typeface="Times New Roman" panose="02020603050405020304" pitchFamily="18" charset="0"/>
              </a:rPr>
              <a:t>A launched instance may also have a public IP address assigned. This IP address is assigned from the addresses reserved by AWS and cannot be specified. This IP address is unique on the Internet, persists only while the instance is running, and cannot be transferred to another instance.</a:t>
            </a:r>
          </a:p>
          <a:p>
            <a:pPr>
              <a:lnSpc>
                <a:spcPct val="150000"/>
              </a:lnSpc>
            </a:pPr>
            <a:r>
              <a:rPr lang="en-US" sz="1800" b="1" dirty="0">
                <a:latin typeface="Times New Roman" panose="02020603050405020304" pitchFamily="18" charset="0"/>
                <a:cs typeface="Times New Roman" panose="02020603050405020304" pitchFamily="18" charset="0"/>
              </a:rPr>
              <a:t>Private/Public Domain Name System (DNS): </a:t>
            </a:r>
            <a:r>
              <a:rPr lang="en-US" sz="1800" dirty="0">
                <a:latin typeface="Times New Roman" panose="02020603050405020304" pitchFamily="18" charset="0"/>
                <a:cs typeface="Times New Roman" panose="02020603050405020304" pitchFamily="18" charset="0"/>
              </a:rPr>
              <a:t>When you launch an instance, AWS</a:t>
            </a:r>
          </a:p>
          <a:p>
            <a:pPr>
              <a:lnSpc>
                <a:spcPct val="150000"/>
              </a:lnSpc>
            </a:pPr>
            <a:r>
              <a:rPr lang="en-US" sz="1800" dirty="0">
                <a:latin typeface="Times New Roman" panose="02020603050405020304" pitchFamily="18" charset="0"/>
                <a:cs typeface="Times New Roman" panose="02020603050405020304" pitchFamily="18" charset="0"/>
              </a:rPr>
              <a:t>creates one private and one Public DNS name that can be used to access the instance. This DNS name is generated automatically and cannot be specified by the customer. This DNS name persists only while the instance is running and cannot be transferred to another instance.</a:t>
            </a:r>
          </a:p>
          <a:p>
            <a:pPr>
              <a:lnSpc>
                <a:spcPct val="150000"/>
              </a:lnSpc>
            </a:pPr>
            <a:r>
              <a:rPr lang="en-US" sz="1800" b="1" dirty="0">
                <a:latin typeface="Times New Roman" panose="02020603050405020304" pitchFamily="18" charset="0"/>
                <a:cs typeface="Times New Roman" panose="02020603050405020304" pitchFamily="18" charset="0"/>
              </a:rPr>
              <a:t>Elastic IP (EIP): </a:t>
            </a:r>
            <a:r>
              <a:rPr lang="en-US" sz="1800" dirty="0">
                <a:latin typeface="Times New Roman" panose="02020603050405020304" pitchFamily="18" charset="0"/>
                <a:cs typeface="Times New Roman" panose="02020603050405020304" pitchFamily="18" charset="0"/>
              </a:rPr>
              <a:t>An elastic IP address is an address unique on the Internet that you reserve independently and associate with an Amazon EC2 instance.</a:t>
            </a:r>
          </a:p>
        </p:txBody>
      </p:sp>
      <p:pic>
        <p:nvPicPr>
          <p:cNvPr id="3" name="Picture 2" descr="How to deploy your server using AWS EC2 | by BAILLAHI Lemine | AWS in Plain  English">
            <a:extLst>
              <a:ext uri="{FF2B5EF4-FFF2-40B4-BE49-F238E27FC236}">
                <a16:creationId xmlns:a16="http://schemas.microsoft.com/office/drawing/2014/main" id="{785785B7-41BF-0FFE-BD61-AC400D6FA7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0064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fade">
                                      <p:cBhvr>
                                        <p:cTn id="26" dur="1000"/>
                                        <p:tgtEl>
                                          <p:spTgt spid="2">
                                            <p:txEl>
                                              <p:pRg st="4" end="4"/>
                                            </p:txEl>
                                          </p:spTgt>
                                        </p:tgtEl>
                                      </p:cBhvr>
                                    </p:animEffect>
                                    <p:anim calcmode="lin" valueType="num">
                                      <p:cBhvr>
                                        <p:cTn id="2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fade">
                                      <p:cBhvr>
                                        <p:cTn id="33" dur="1000"/>
                                        <p:tgtEl>
                                          <p:spTgt spid="2">
                                            <p:txEl>
                                              <p:pRg st="5" end="5"/>
                                            </p:txEl>
                                          </p:spTgt>
                                        </p:tgtEl>
                                      </p:cBhvr>
                                    </p:animEffect>
                                    <p:anim calcmode="lin" valueType="num">
                                      <p:cBhvr>
                                        <p:cTn id="3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44</a:t>
            </a:fld>
            <a:endParaRPr lang="en-US"/>
          </a:p>
        </p:txBody>
      </p:sp>
      <p:sp>
        <p:nvSpPr>
          <p:cNvPr id="5" name="Title 4"/>
          <p:cNvSpPr>
            <a:spLocks noGrp="1"/>
          </p:cNvSpPr>
          <p:nvPr>
            <p:ph type="title"/>
          </p:nvPr>
        </p:nvSpPr>
        <p:spPr/>
        <p:txBody>
          <a:bodyPr>
            <a:normAutofit fontScale="90000"/>
          </a:bodyPr>
          <a:lstStyle/>
          <a:p>
            <a:r>
              <a:rPr lang="en-US" sz="4219" dirty="0"/>
              <a:t>EC2 Security – Security Group</a:t>
            </a:r>
          </a:p>
        </p:txBody>
      </p:sp>
      <p:sp>
        <p:nvSpPr>
          <p:cNvPr id="2" name="Content Placeholder 1"/>
          <p:cNvSpPr>
            <a:spLocks noGrp="1"/>
          </p:cNvSpPr>
          <p:nvPr>
            <p:ph idx="1"/>
          </p:nvPr>
        </p:nvSpPr>
        <p:spPr>
          <a:xfrm>
            <a:off x="695325" y="1295400"/>
            <a:ext cx="10801350" cy="4830763"/>
          </a:xfrm>
        </p:spPr>
        <p:txBody>
          <a:bodyPr>
            <a:normAutofit/>
          </a:bodyPr>
          <a:lstStyle/>
          <a:p>
            <a:endParaRPr lang="en-US" sz="2156" b="1" dirty="0"/>
          </a:p>
          <a:p>
            <a:pPr marL="0" indent="0">
              <a:lnSpc>
                <a:spcPct val="150000"/>
              </a:lnSpc>
              <a:buNone/>
            </a:pPr>
            <a:r>
              <a:rPr lang="en-US" sz="1800" b="1" dirty="0">
                <a:latin typeface="Times New Roman" panose="02020603050405020304" pitchFamily="18" charset="0"/>
                <a:cs typeface="Times New Roman" panose="02020603050405020304" pitchFamily="18" charset="0"/>
              </a:rPr>
              <a:t>Virtual Firewall Protection</a:t>
            </a:r>
          </a:p>
          <a:p>
            <a:pPr>
              <a:lnSpc>
                <a:spcPct val="150000"/>
              </a:lnSpc>
            </a:pPr>
            <a:r>
              <a:rPr lang="en-US" sz="1800" dirty="0">
                <a:latin typeface="Times New Roman" panose="02020603050405020304" pitchFamily="18" charset="0"/>
                <a:cs typeface="Times New Roman" panose="02020603050405020304" pitchFamily="18" charset="0"/>
              </a:rPr>
              <a:t>AWS allows you to control traffic </a:t>
            </a:r>
            <a:r>
              <a:rPr lang="en-US" sz="1800" b="1" dirty="0">
                <a:latin typeface="Times New Roman" panose="02020603050405020304" pitchFamily="18" charset="0"/>
                <a:cs typeface="Times New Roman" panose="02020603050405020304" pitchFamily="18" charset="0"/>
              </a:rPr>
              <a:t>in</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out</a:t>
            </a:r>
            <a:r>
              <a:rPr lang="en-US" sz="1800" dirty="0">
                <a:latin typeface="Times New Roman" panose="02020603050405020304" pitchFamily="18" charset="0"/>
                <a:cs typeface="Times New Roman" panose="02020603050405020304" pitchFamily="18" charset="0"/>
              </a:rPr>
              <a:t> of your instances through virtual firewalls called </a:t>
            </a:r>
            <a:r>
              <a:rPr lang="en-US" sz="1800" i="1" dirty="0">
                <a:latin typeface="Times New Roman" panose="02020603050405020304" pitchFamily="18" charset="0"/>
                <a:cs typeface="Times New Roman" panose="02020603050405020304" pitchFamily="18" charset="0"/>
              </a:rPr>
              <a:t>security groups</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Security groups allow you to control traffic based on </a:t>
            </a:r>
            <a:r>
              <a:rPr lang="en-US" sz="1800" i="1" dirty="0">
                <a:latin typeface="Times New Roman" panose="02020603050405020304" pitchFamily="18" charset="0"/>
                <a:cs typeface="Times New Roman" panose="02020603050405020304" pitchFamily="18" charset="0"/>
              </a:rPr>
              <a:t>port</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protocol</a:t>
            </a:r>
            <a:r>
              <a:rPr lang="en-US" sz="1800" dirty="0">
                <a:latin typeface="Times New Roman" panose="02020603050405020304" pitchFamily="18" charset="0"/>
                <a:cs typeface="Times New Roman" panose="02020603050405020304" pitchFamily="18" charset="0"/>
              </a:rPr>
              <a:t>, and </a:t>
            </a:r>
            <a:r>
              <a:rPr lang="en-US" sz="1800" i="1" dirty="0">
                <a:latin typeface="Times New Roman" panose="02020603050405020304" pitchFamily="18" charset="0"/>
                <a:cs typeface="Times New Roman" panose="02020603050405020304" pitchFamily="18" charset="0"/>
              </a:rPr>
              <a:t>source(inbound)/destination(outbound)</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Security groups are associated with instances when they are launched. </a:t>
            </a:r>
            <a:r>
              <a:rPr lang="en-US" sz="1800" b="1" dirty="0">
                <a:latin typeface="Times New Roman" panose="02020603050405020304" pitchFamily="18" charset="0"/>
                <a:cs typeface="Times New Roman" panose="02020603050405020304" pitchFamily="18" charset="0"/>
              </a:rPr>
              <a:t>Every instance must have at least one security group. </a:t>
            </a:r>
            <a:r>
              <a:rPr lang="en-US" sz="1800" dirty="0">
                <a:latin typeface="Times New Roman" panose="02020603050405020304" pitchFamily="18" charset="0"/>
                <a:cs typeface="Times New Roman" panose="02020603050405020304" pitchFamily="18" charset="0"/>
              </a:rPr>
              <a:t>Though they can have more.</a:t>
            </a:r>
          </a:p>
          <a:p>
            <a:endParaRPr lang="en-US" sz="2156" dirty="0"/>
          </a:p>
        </p:txBody>
      </p:sp>
      <p:pic>
        <p:nvPicPr>
          <p:cNvPr id="3" name="Picture 2" descr="How to deploy your server using AWS EC2 | by BAILLAHI Lemine | AWS in Plain  English">
            <a:extLst>
              <a:ext uri="{FF2B5EF4-FFF2-40B4-BE49-F238E27FC236}">
                <a16:creationId xmlns:a16="http://schemas.microsoft.com/office/drawing/2014/main" id="{7CDA4BE4-C3F8-F2EE-F913-6114E338A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19893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45</a:t>
            </a:fld>
            <a:endParaRPr lang="en-US"/>
          </a:p>
        </p:txBody>
      </p:sp>
      <p:sp>
        <p:nvSpPr>
          <p:cNvPr id="5" name="Title 4"/>
          <p:cNvSpPr>
            <a:spLocks noGrp="1"/>
          </p:cNvSpPr>
          <p:nvPr>
            <p:ph type="title"/>
          </p:nvPr>
        </p:nvSpPr>
        <p:spPr/>
        <p:txBody>
          <a:bodyPr>
            <a:normAutofit fontScale="90000"/>
          </a:bodyPr>
          <a:lstStyle/>
          <a:p>
            <a:r>
              <a:rPr lang="en-US" sz="4219" dirty="0"/>
              <a:t>Amazon Server Storage </a:t>
            </a:r>
          </a:p>
        </p:txBody>
      </p:sp>
      <p:sp>
        <p:nvSpPr>
          <p:cNvPr id="2" name="Content Placeholder 1"/>
          <p:cNvSpPr>
            <a:spLocks noGrp="1"/>
          </p:cNvSpPr>
          <p:nvPr>
            <p:ph idx="1"/>
          </p:nvPr>
        </p:nvSpPr>
        <p:spPr>
          <a:xfrm>
            <a:off x="368720" y="1629682"/>
            <a:ext cx="11215235" cy="4351338"/>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Amazon EBS (Elastic Block Store)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Data stored on an Amazon EBS volume can persist independently of the life of the instance.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Persistent </a:t>
            </a:r>
            <a:r>
              <a:rPr lang="en-US" sz="1800" b="1" dirty="0">
                <a:latin typeface="Times New Roman" panose="02020603050405020304" pitchFamily="18" charset="0"/>
                <a:cs typeface="Times New Roman" panose="02020603050405020304" pitchFamily="18" charset="0"/>
              </a:rPr>
              <a:t>block-level storage volumes </a:t>
            </a:r>
            <a:r>
              <a:rPr lang="en-US" sz="1800" dirty="0">
                <a:latin typeface="Times New Roman" panose="02020603050405020304" pitchFamily="18" charset="0"/>
                <a:cs typeface="Times New Roman" panose="02020603050405020304" pitchFamily="18" charset="0"/>
              </a:rPr>
              <a:t>for use with Amazon EC2 instances.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99% used volume type in AWS.</a:t>
            </a:r>
          </a:p>
          <a:p>
            <a:pPr marL="129263"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Amazon EC2 Instance Store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Like Swap volumes attached to your server for faster processing.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Data stored on a local instance store persists only as long as the instance is alive.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Storage is ephemeral.</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Older volume type, used exceptionally in some instances </a:t>
            </a:r>
            <a:r>
              <a:rPr lang="en-US" sz="1800" dirty="0" err="1">
                <a:latin typeface="Times New Roman" panose="02020603050405020304" pitchFamily="18" charset="0"/>
                <a:cs typeface="Times New Roman" panose="02020603050405020304" pitchFamily="18" charset="0"/>
              </a:rPr>
              <a:t>i.e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DB,High</a:t>
            </a:r>
            <a:r>
              <a:rPr lang="en-US" sz="1800" dirty="0">
                <a:latin typeface="Times New Roman" panose="02020603050405020304" pitchFamily="18" charset="0"/>
                <a:cs typeface="Times New Roman" panose="02020603050405020304" pitchFamily="18" charset="0"/>
              </a:rPr>
              <a:t> processing systems.</a:t>
            </a:r>
          </a:p>
          <a:p>
            <a:endParaRPr lang="en-US" sz="1800" dirty="0">
              <a:latin typeface="Times New Roman" panose="02020603050405020304" pitchFamily="18" charset="0"/>
              <a:cs typeface="Times New Roman" panose="02020603050405020304" pitchFamily="18" charset="0"/>
            </a:endParaRPr>
          </a:p>
        </p:txBody>
      </p:sp>
      <p:pic>
        <p:nvPicPr>
          <p:cNvPr id="3" name="Picture 2" descr="How to deploy your server using AWS EC2 | by BAILLAHI Lemine | AWS in Plain  English">
            <a:extLst>
              <a:ext uri="{FF2B5EF4-FFF2-40B4-BE49-F238E27FC236}">
                <a16:creationId xmlns:a16="http://schemas.microsoft.com/office/drawing/2014/main" id="{5A209AD9-388E-DC86-2E77-772A5318A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91289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5" end="5"/>
                                            </p:txEl>
                                          </p:spTgt>
                                        </p:tgtEl>
                                        <p:attrNameLst>
                                          <p:attrName>style.visibility</p:attrName>
                                        </p:attrNameLst>
                                      </p:cBhvr>
                                      <p:to>
                                        <p:strVal val="visible"/>
                                      </p:to>
                                    </p:set>
                                    <p:animEffect transition="in" filter="fade">
                                      <p:cBhvr>
                                        <p:cTn id="14" dur="1000"/>
                                        <p:tgtEl>
                                          <p:spTgt spid="2">
                                            <p:txEl>
                                              <p:pRg st="5" end="5"/>
                                            </p:txEl>
                                          </p:spTgt>
                                        </p:tgtEl>
                                      </p:cBhvr>
                                    </p:animEffect>
                                    <p:anim calcmode="lin" valueType="num">
                                      <p:cBhvr>
                                        <p:cTn id="15"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1000"/>
                                        <p:tgtEl>
                                          <p:spTgt spid="2">
                                            <p:txEl>
                                              <p:pRg st="6" end="6"/>
                                            </p:txEl>
                                          </p:spTgt>
                                        </p:tgtEl>
                                      </p:cBhvr>
                                    </p:animEffect>
                                    <p:anim calcmode="lin" valueType="num">
                                      <p:cBhvr>
                                        <p:cTn id="4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Effect transition="in" filter="fade">
                                      <p:cBhvr>
                                        <p:cTn id="49" dur="1000"/>
                                        <p:tgtEl>
                                          <p:spTgt spid="2">
                                            <p:txEl>
                                              <p:pRg st="7" end="7"/>
                                            </p:txEl>
                                          </p:spTgt>
                                        </p:tgtEl>
                                      </p:cBhvr>
                                    </p:animEffect>
                                    <p:anim calcmode="lin" valueType="num">
                                      <p:cBhvr>
                                        <p:cTn id="50"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xEl>
                                              <p:pRg st="8" end="8"/>
                                            </p:txEl>
                                          </p:spTgt>
                                        </p:tgtEl>
                                        <p:attrNameLst>
                                          <p:attrName>style.visibility</p:attrName>
                                        </p:attrNameLst>
                                      </p:cBhvr>
                                      <p:to>
                                        <p:strVal val="visible"/>
                                      </p:to>
                                    </p:set>
                                    <p:animEffect transition="in" filter="fade">
                                      <p:cBhvr>
                                        <p:cTn id="56" dur="1000"/>
                                        <p:tgtEl>
                                          <p:spTgt spid="2">
                                            <p:txEl>
                                              <p:pRg st="8" end="8"/>
                                            </p:txEl>
                                          </p:spTgt>
                                        </p:tgtEl>
                                      </p:cBhvr>
                                    </p:animEffect>
                                    <p:anim calcmode="lin" valueType="num">
                                      <p:cBhvr>
                                        <p:cTn id="57"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
                                            <p:txEl>
                                              <p:pRg st="9" end="9"/>
                                            </p:txEl>
                                          </p:spTgt>
                                        </p:tgtEl>
                                        <p:attrNameLst>
                                          <p:attrName>style.visibility</p:attrName>
                                        </p:attrNameLst>
                                      </p:cBhvr>
                                      <p:to>
                                        <p:strVal val="visible"/>
                                      </p:to>
                                    </p:set>
                                    <p:animEffect transition="in" filter="fade">
                                      <p:cBhvr>
                                        <p:cTn id="63" dur="1000"/>
                                        <p:tgtEl>
                                          <p:spTgt spid="2">
                                            <p:txEl>
                                              <p:pRg st="9" end="9"/>
                                            </p:txEl>
                                          </p:spTgt>
                                        </p:tgtEl>
                                      </p:cBhvr>
                                    </p:animEffect>
                                    <p:anim calcmode="lin" valueType="num">
                                      <p:cBhvr>
                                        <p:cTn id="64"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46</a:t>
            </a:fld>
            <a:endParaRPr lang="en-US"/>
          </a:p>
        </p:txBody>
      </p:sp>
      <p:sp>
        <p:nvSpPr>
          <p:cNvPr id="5" name="Title 4"/>
          <p:cNvSpPr>
            <a:spLocks noGrp="1"/>
          </p:cNvSpPr>
          <p:nvPr>
            <p:ph type="title"/>
          </p:nvPr>
        </p:nvSpPr>
        <p:spPr/>
        <p:txBody>
          <a:bodyPr>
            <a:normAutofit fontScale="90000"/>
          </a:bodyPr>
          <a:lstStyle/>
          <a:p>
            <a:r>
              <a:rPr lang="en-US" sz="4219" dirty="0"/>
              <a:t>AWS Tags</a:t>
            </a:r>
          </a:p>
        </p:txBody>
      </p:sp>
      <p:sp>
        <p:nvSpPr>
          <p:cNvPr id="2" name="Content Placeholder 1"/>
          <p:cNvSpPr>
            <a:spLocks noGrp="1"/>
          </p:cNvSpPr>
          <p:nvPr>
            <p:ph idx="1"/>
          </p:nvPr>
        </p:nvSpPr>
        <p:spPr>
          <a:xfrm>
            <a:off x="246937" y="1555928"/>
            <a:ext cx="6696787" cy="4200524"/>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Tags helps you manage your instances, images, and other Amazon EC2 resources.</a:t>
            </a:r>
          </a:p>
          <a:p>
            <a:pPr algn="just">
              <a:lnSpc>
                <a:spcPct val="150000"/>
              </a:lnSpc>
            </a:pPr>
            <a:r>
              <a:rPr lang="en-US" sz="1600" dirty="0">
                <a:latin typeface="Times New Roman" panose="02020603050405020304" pitchFamily="18" charset="0"/>
                <a:cs typeface="Times New Roman" panose="02020603050405020304" pitchFamily="18" charset="0"/>
              </a:rPr>
              <a:t>Its your own metadata to each resource in the form of </a:t>
            </a:r>
            <a:r>
              <a:rPr lang="en-US" sz="1600" i="1" dirty="0">
                <a:latin typeface="Times New Roman" panose="02020603050405020304" pitchFamily="18" charset="0"/>
                <a:cs typeface="Times New Roman" panose="02020603050405020304" pitchFamily="18" charset="0"/>
              </a:rPr>
              <a:t>tags</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dirty="0">
                <a:latin typeface="Times New Roman" panose="02020603050405020304" pitchFamily="18" charset="0"/>
                <a:cs typeface="Times New Roman" panose="02020603050405020304" pitchFamily="18" charset="0"/>
              </a:rPr>
              <a:t>Each tag consists of a key and an optional value, both of which you define.</a:t>
            </a:r>
          </a:p>
          <a:p>
            <a:pPr algn="just">
              <a:lnSpc>
                <a:spcPct val="150000"/>
              </a:lnSpc>
            </a:pPr>
            <a:r>
              <a:rPr lang="en-US" sz="1600" dirty="0">
                <a:latin typeface="Times New Roman" panose="02020603050405020304" pitchFamily="18" charset="0"/>
                <a:cs typeface="Times New Roman" panose="02020603050405020304" pitchFamily="18" charset="0"/>
              </a:rPr>
              <a:t>It enable you to categorize your AWS resources in different ways, for example, by purpose, owner, or environment. </a:t>
            </a:r>
          </a:p>
          <a:p>
            <a:pPr algn="just">
              <a:lnSpc>
                <a:spcPct val="150000"/>
              </a:lnSpc>
            </a:pPr>
            <a:r>
              <a:rPr lang="en-US" sz="1600" dirty="0">
                <a:latin typeface="Times New Roman" panose="02020603050405020304" pitchFamily="18" charset="0"/>
                <a:cs typeface="Times New Roman" panose="02020603050405020304" pitchFamily="18" charset="0"/>
              </a:rPr>
              <a:t>You can organize your billing information based on resources that have the same tag key values.</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2156" b="1" i="1"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6149" y="1722275"/>
            <a:ext cx="4831755" cy="3449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descr="How to deploy your server using AWS EC2 | by BAILLAHI Lemine | AWS in Plain  English">
            <a:extLst>
              <a:ext uri="{FF2B5EF4-FFF2-40B4-BE49-F238E27FC236}">
                <a16:creationId xmlns:a16="http://schemas.microsoft.com/office/drawing/2014/main" id="{9FD6D5C3-6303-7A9F-FBEA-F3D2268C3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6409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5122"/>
                                        </p:tgtEl>
                                        <p:attrNameLst>
                                          <p:attrName>style.visibility</p:attrName>
                                        </p:attrNameLst>
                                      </p:cBhvr>
                                      <p:to>
                                        <p:strVal val="visible"/>
                                      </p:to>
                                    </p:set>
                                    <p:anim calcmode="lin" valueType="num">
                                      <p:cBhvr>
                                        <p:cTn id="42" dur="500" fill="hold"/>
                                        <p:tgtEl>
                                          <p:spTgt spid="5122"/>
                                        </p:tgtEl>
                                        <p:attrNameLst>
                                          <p:attrName>ppt_w</p:attrName>
                                        </p:attrNameLst>
                                      </p:cBhvr>
                                      <p:tavLst>
                                        <p:tav tm="0">
                                          <p:val>
                                            <p:fltVal val="0"/>
                                          </p:val>
                                        </p:tav>
                                        <p:tav tm="100000">
                                          <p:val>
                                            <p:strVal val="#ppt_w"/>
                                          </p:val>
                                        </p:tav>
                                      </p:tavLst>
                                    </p:anim>
                                    <p:anim calcmode="lin" valueType="num">
                                      <p:cBhvr>
                                        <p:cTn id="43" dur="500" fill="hold"/>
                                        <p:tgtEl>
                                          <p:spTgt spid="5122"/>
                                        </p:tgtEl>
                                        <p:attrNameLst>
                                          <p:attrName>ppt_h</p:attrName>
                                        </p:attrNameLst>
                                      </p:cBhvr>
                                      <p:tavLst>
                                        <p:tav tm="0">
                                          <p:val>
                                            <p:fltVal val="0"/>
                                          </p:val>
                                        </p:tav>
                                        <p:tav tm="100000">
                                          <p:val>
                                            <p:strVal val="#ppt_h"/>
                                          </p:val>
                                        </p:tav>
                                      </p:tavLst>
                                    </p:anim>
                                    <p:animEffect transition="in" filter="fade">
                                      <p:cBhvr>
                                        <p:cTn id="44"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47</a:t>
            </a:fld>
            <a:endParaRPr lang="en-US"/>
          </a:p>
        </p:txBody>
      </p:sp>
      <p:sp>
        <p:nvSpPr>
          <p:cNvPr id="5" name="Title 4"/>
          <p:cNvSpPr>
            <a:spLocks noGrp="1"/>
          </p:cNvSpPr>
          <p:nvPr>
            <p:ph type="title"/>
          </p:nvPr>
        </p:nvSpPr>
        <p:spPr/>
        <p:txBody>
          <a:bodyPr>
            <a:normAutofit fontScale="90000"/>
          </a:bodyPr>
          <a:lstStyle/>
          <a:p>
            <a:r>
              <a:rPr lang="en-US" sz="4219" dirty="0"/>
              <a:t>AWS Tags</a:t>
            </a:r>
          </a:p>
        </p:txBody>
      </p:sp>
      <p:sp>
        <p:nvSpPr>
          <p:cNvPr id="2" name="Content Placeholder 1"/>
          <p:cNvSpPr>
            <a:spLocks noGrp="1"/>
          </p:cNvSpPr>
          <p:nvPr>
            <p:ph idx="1"/>
          </p:nvPr>
        </p:nvSpPr>
        <p:spPr>
          <a:xfrm>
            <a:off x="695330" y="1295405"/>
            <a:ext cx="10701338" cy="4648199"/>
          </a:xfrm>
        </p:spPr>
        <p:txBody>
          <a:bodyPr>
            <a:normAutofit/>
          </a:bodyPr>
          <a:lstStyle/>
          <a:p>
            <a:pPr algn="just">
              <a:lnSpc>
                <a:spcPct val="160000"/>
              </a:lnSpc>
            </a:pPr>
            <a:r>
              <a:rPr lang="en-US" sz="1600" dirty="0">
                <a:latin typeface="Times New Roman" panose="02020603050405020304" pitchFamily="18" charset="0"/>
                <a:cs typeface="Times New Roman" panose="02020603050405020304" pitchFamily="18" charset="0"/>
              </a:rPr>
              <a:t>Maximum number of tags per resource—50</a:t>
            </a:r>
          </a:p>
          <a:p>
            <a:pPr algn="just">
              <a:lnSpc>
                <a:spcPct val="160000"/>
              </a:lnSpc>
            </a:pPr>
            <a:r>
              <a:rPr lang="en-US" sz="1600" dirty="0">
                <a:latin typeface="Times New Roman" panose="02020603050405020304" pitchFamily="18" charset="0"/>
                <a:cs typeface="Times New Roman" panose="02020603050405020304" pitchFamily="18" charset="0"/>
              </a:rPr>
              <a:t>Tag keys and values are case-sensitive.</a:t>
            </a:r>
          </a:p>
          <a:p>
            <a:pPr algn="just">
              <a:lnSpc>
                <a:spcPct val="160000"/>
              </a:lnSpc>
            </a:pPr>
            <a:r>
              <a:rPr lang="en-US" sz="1600" dirty="0">
                <a:latin typeface="Times New Roman" panose="02020603050405020304" pitchFamily="18" charset="0"/>
                <a:cs typeface="Times New Roman" panose="02020603050405020304" pitchFamily="18" charset="0"/>
              </a:rPr>
              <a:t>You can't terminate, stop, or delete a resource based solely on its tags; you must specify the resource identifier : ARN’s</a:t>
            </a:r>
          </a:p>
          <a:p>
            <a:pPr algn="just">
              <a:lnSpc>
                <a:spcPct val="160000"/>
              </a:lnSpc>
            </a:pPr>
            <a:r>
              <a:rPr lang="en-US" sz="1600" dirty="0">
                <a:latin typeface="Times New Roman" panose="02020603050405020304" pitchFamily="18" charset="0"/>
                <a:cs typeface="Times New Roman" panose="02020603050405020304" pitchFamily="18" charset="0"/>
              </a:rPr>
              <a:t>Not all resources supports tags. Pls check the supported list from AWS website.</a:t>
            </a:r>
          </a:p>
          <a:p>
            <a:pPr marL="0" indent="0">
              <a:buNone/>
            </a:pPr>
            <a:endParaRPr lang="en-US" sz="1600" b="1" i="1" dirty="0">
              <a:latin typeface="Times New Roman" panose="02020603050405020304" pitchFamily="18" charset="0"/>
              <a:cs typeface="Times New Roman" panose="02020603050405020304" pitchFamily="18" charset="0"/>
            </a:endParaRPr>
          </a:p>
        </p:txBody>
      </p:sp>
      <p:pic>
        <p:nvPicPr>
          <p:cNvPr id="7" name="Picture 6" descr="How to deploy your server using AWS EC2 | by BAILLAHI Lemine | AWS in Plain  English">
            <a:extLst>
              <a:ext uri="{FF2B5EF4-FFF2-40B4-BE49-F238E27FC236}">
                <a16:creationId xmlns:a16="http://schemas.microsoft.com/office/drawing/2014/main" id="{163FFF6F-9C84-D012-B2D0-6B70E4BDF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0830" y="65453"/>
            <a:ext cx="3931170" cy="11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554074"/>
      </p:ext>
    </p:extLst>
  </p:cSld>
  <p:clrMapOvr>
    <a:masterClrMapping/>
  </p:clrMapOvr>
  <p:transition spd="slow">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AWS S3</a:t>
            </a:r>
            <a:endParaRPr lang="en-GB" dirty="0"/>
          </a:p>
        </p:txBody>
      </p:sp>
      <p:pic>
        <p:nvPicPr>
          <p:cNvPr id="28674" name="Picture 2" descr="Explain Amazon S3?. Amazon Simple Storage Service (Amazon… | by Nanduri  Balajee | Medium">
            <a:extLst>
              <a:ext uri="{FF2B5EF4-FFF2-40B4-BE49-F238E27FC236}">
                <a16:creationId xmlns:a16="http://schemas.microsoft.com/office/drawing/2014/main" id="{B2305254-BC58-51B1-1CE0-F36E92501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75" y="104775"/>
            <a:ext cx="55245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771863"/>
      </p:ext>
    </p:extLst>
  </p:cSld>
  <p:clrMapOvr>
    <a:masterClrMapping/>
  </p:clrMapOvr>
  <p:transition spd="slow">
    <p:randomBar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49</a:t>
            </a:fld>
            <a:endParaRPr lang="en-US"/>
          </a:p>
        </p:txBody>
      </p:sp>
      <p:sp>
        <p:nvSpPr>
          <p:cNvPr id="5" name="Title 4"/>
          <p:cNvSpPr>
            <a:spLocks noGrp="1"/>
          </p:cNvSpPr>
          <p:nvPr>
            <p:ph type="title"/>
          </p:nvPr>
        </p:nvSpPr>
        <p:spPr/>
        <p:txBody>
          <a:bodyPr>
            <a:normAutofit fontScale="90000"/>
          </a:bodyPr>
          <a:lstStyle/>
          <a:p>
            <a:r>
              <a:rPr lang="en-US" sz="4219" dirty="0"/>
              <a:t>What is Amazon S3?</a:t>
            </a:r>
          </a:p>
        </p:txBody>
      </p:sp>
      <p:sp>
        <p:nvSpPr>
          <p:cNvPr id="2" name="Content Placeholder 1"/>
          <p:cNvSpPr>
            <a:spLocks noGrp="1"/>
          </p:cNvSpPr>
          <p:nvPr>
            <p:ph idx="1"/>
          </p:nvPr>
        </p:nvSpPr>
        <p:spPr>
          <a:xfrm>
            <a:off x="695330" y="1295405"/>
            <a:ext cx="10701338" cy="4648199"/>
          </a:xfrm>
        </p:spPr>
        <p:txBody>
          <a:bodyPr>
            <a:normAutofit/>
          </a:bodyPr>
          <a:lstStyle/>
          <a:p>
            <a:pPr marL="0" indent="0" algn="just">
              <a:lnSpc>
                <a:spcPct val="160000"/>
              </a:lnSpc>
              <a:buNone/>
            </a:pPr>
            <a:r>
              <a:rPr lang="en-US" sz="2250" dirty="0"/>
              <a:t>Amazon S3, or Simple Storage Service, is a scalable object storage service offered by Amazon Web Services (AWS). It is designed to store and retrieve any amount of data from anywhere on the web and is a fundamental building block of cloud computing.</a:t>
            </a:r>
            <a:endParaRPr lang="en-US" sz="2156" b="1" i="1" dirty="0"/>
          </a:p>
        </p:txBody>
      </p:sp>
      <p:pic>
        <p:nvPicPr>
          <p:cNvPr id="3" name="Picture 2" descr="Explain Amazon S3?. Amazon Simple Storage Service (Amazon… | by Nanduri  Balajee | Medium">
            <a:extLst>
              <a:ext uri="{FF2B5EF4-FFF2-40B4-BE49-F238E27FC236}">
                <a16:creationId xmlns:a16="http://schemas.microsoft.com/office/drawing/2014/main" id="{C60935E7-0F54-A27B-8A42-DA7EDE5DE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41519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50</a:t>
            </a:fld>
            <a:endParaRPr lang="en-US"/>
          </a:p>
        </p:txBody>
      </p:sp>
      <p:sp>
        <p:nvSpPr>
          <p:cNvPr id="5" name="Title 4"/>
          <p:cNvSpPr>
            <a:spLocks noGrp="1"/>
          </p:cNvSpPr>
          <p:nvPr>
            <p:ph type="title"/>
          </p:nvPr>
        </p:nvSpPr>
        <p:spPr/>
        <p:txBody>
          <a:bodyPr>
            <a:normAutofit fontScale="90000"/>
          </a:bodyPr>
          <a:lstStyle/>
          <a:p>
            <a:r>
              <a:rPr lang="en-US" sz="4219" dirty="0"/>
              <a:t>Key Characteristics</a:t>
            </a:r>
          </a:p>
        </p:txBody>
      </p:sp>
      <p:sp>
        <p:nvSpPr>
          <p:cNvPr id="2" name="Content Placeholder 1"/>
          <p:cNvSpPr>
            <a:spLocks noGrp="1"/>
          </p:cNvSpPr>
          <p:nvPr>
            <p:ph idx="1"/>
          </p:nvPr>
        </p:nvSpPr>
        <p:spPr>
          <a:xfrm>
            <a:off x="695330" y="1295405"/>
            <a:ext cx="10701338" cy="4648199"/>
          </a:xfrm>
        </p:spPr>
        <p:txBody>
          <a:bodyPr>
            <a:normAutofit lnSpcReduction="10000"/>
          </a:bodyPr>
          <a:lstStyle/>
          <a:p>
            <a:pPr algn="just">
              <a:lnSpc>
                <a:spcPct val="160000"/>
              </a:lnSpc>
            </a:pPr>
            <a:r>
              <a:rPr lang="en-US" sz="2250" dirty="0">
                <a:latin typeface="Times New Roman" panose="02020603050405020304" pitchFamily="18" charset="0"/>
                <a:cs typeface="Times New Roman" panose="02020603050405020304" pitchFamily="18" charset="0"/>
              </a:rPr>
              <a:t>Scalability: Amazon S3 can scale virtually infinitely, allowing users to store and retrieve any amount of data.</a:t>
            </a:r>
          </a:p>
          <a:p>
            <a:pPr algn="just">
              <a:lnSpc>
                <a:spcPct val="160000"/>
              </a:lnSpc>
            </a:pPr>
            <a:r>
              <a:rPr lang="en-US" sz="2250" dirty="0">
                <a:latin typeface="Times New Roman" panose="02020603050405020304" pitchFamily="18" charset="0"/>
                <a:cs typeface="Times New Roman" panose="02020603050405020304" pitchFamily="18" charset="0"/>
              </a:rPr>
              <a:t>Durability and Reliability: It is designed to provide 99.999999999% (11 9's) durability of objects over a given year.</a:t>
            </a:r>
          </a:p>
          <a:p>
            <a:pPr algn="just">
              <a:lnSpc>
                <a:spcPct val="160000"/>
              </a:lnSpc>
            </a:pPr>
            <a:r>
              <a:rPr lang="en-US" sz="2250" dirty="0">
                <a:latin typeface="Times New Roman" panose="02020603050405020304" pitchFamily="18" charset="0"/>
                <a:cs typeface="Times New Roman" panose="02020603050405020304" pitchFamily="18" charset="0"/>
              </a:rPr>
              <a:t>Object Storage: S3 is object-based storage, where data is stored as objects. Each object consists of data, a key, and metadata.</a:t>
            </a:r>
          </a:p>
          <a:p>
            <a:pPr algn="just">
              <a:lnSpc>
                <a:spcPct val="160000"/>
              </a:lnSpc>
            </a:pPr>
            <a:r>
              <a:rPr lang="en-US" sz="2250" dirty="0">
                <a:latin typeface="Times New Roman" panose="02020603050405020304" pitchFamily="18" charset="0"/>
                <a:cs typeface="Times New Roman" panose="02020603050405020304" pitchFamily="18" charset="0"/>
              </a:rPr>
              <a:t>Global Accessibility: S3 allows users to access their data from anywhere on the web, making it suitable for a global audience.</a:t>
            </a:r>
            <a:endParaRPr lang="en-US" sz="2156" b="1" i="1"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F65B6A59-1826-9539-6151-2B6E36CC4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70193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51</a:t>
            </a:fld>
            <a:endParaRPr lang="en-US"/>
          </a:p>
        </p:txBody>
      </p:sp>
      <p:sp>
        <p:nvSpPr>
          <p:cNvPr id="5" name="Title 4"/>
          <p:cNvSpPr>
            <a:spLocks noGrp="1"/>
          </p:cNvSpPr>
          <p:nvPr>
            <p:ph type="title"/>
          </p:nvPr>
        </p:nvSpPr>
        <p:spPr/>
        <p:txBody>
          <a:bodyPr>
            <a:normAutofit fontScale="90000"/>
          </a:bodyPr>
          <a:lstStyle/>
          <a:p>
            <a:r>
              <a:rPr lang="en-US" sz="4219" dirty="0"/>
              <a:t>Data Storage Options</a:t>
            </a:r>
          </a:p>
        </p:txBody>
      </p:sp>
      <p:sp>
        <p:nvSpPr>
          <p:cNvPr id="2" name="Content Placeholder 1"/>
          <p:cNvSpPr>
            <a:spLocks noGrp="1"/>
          </p:cNvSpPr>
          <p:nvPr>
            <p:ph idx="1"/>
          </p:nvPr>
        </p:nvSpPr>
        <p:spPr>
          <a:xfrm>
            <a:off x="695330" y="1295405"/>
            <a:ext cx="10701338" cy="4648199"/>
          </a:xfrm>
        </p:spPr>
        <p:txBody>
          <a:bodyPr>
            <a:normAutofit/>
          </a:bodyPr>
          <a:lstStyle/>
          <a:p>
            <a:pPr algn="just">
              <a:lnSpc>
                <a:spcPct val="160000"/>
              </a:lnSpc>
            </a:pPr>
            <a:r>
              <a:rPr lang="en-US" sz="2250" dirty="0">
                <a:latin typeface="Times New Roman" panose="02020603050405020304" pitchFamily="18" charset="0"/>
                <a:cs typeface="Times New Roman" panose="02020603050405020304" pitchFamily="18" charset="0"/>
              </a:rPr>
              <a:t>Storage Classes: Amazon S3 offers different storage classes, each designed for different use cases. These include Standard, Intelligent-Tiering, Glacier for archiving, and others.</a:t>
            </a:r>
          </a:p>
          <a:p>
            <a:pPr algn="just">
              <a:lnSpc>
                <a:spcPct val="160000"/>
              </a:lnSpc>
            </a:pPr>
            <a:r>
              <a:rPr lang="en-US" sz="2250" dirty="0">
                <a:latin typeface="Times New Roman" panose="02020603050405020304" pitchFamily="18" charset="0"/>
                <a:cs typeface="Times New Roman" panose="02020603050405020304" pitchFamily="18" charset="0"/>
              </a:rPr>
              <a:t>Versioning: S3 supports versioning, allowing users to keep multiple versions of an object in the same bucket.</a:t>
            </a:r>
            <a:endParaRPr lang="en-US" sz="2156" b="1" i="1"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1813B76C-5902-9C85-9C0E-71E50C5CBD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50793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52</a:t>
            </a:fld>
            <a:endParaRPr lang="en-US"/>
          </a:p>
        </p:txBody>
      </p:sp>
      <p:sp>
        <p:nvSpPr>
          <p:cNvPr id="5" name="Title 4"/>
          <p:cNvSpPr>
            <a:spLocks noGrp="1"/>
          </p:cNvSpPr>
          <p:nvPr>
            <p:ph type="title"/>
          </p:nvPr>
        </p:nvSpPr>
        <p:spPr/>
        <p:txBody>
          <a:bodyPr>
            <a:normAutofit fontScale="90000"/>
          </a:bodyPr>
          <a:lstStyle/>
          <a:p>
            <a:r>
              <a:rPr lang="en-US" sz="4219" dirty="0"/>
              <a:t>Use Cases</a:t>
            </a:r>
          </a:p>
        </p:txBody>
      </p:sp>
      <p:sp>
        <p:nvSpPr>
          <p:cNvPr id="2" name="Content Placeholder 1"/>
          <p:cNvSpPr>
            <a:spLocks noGrp="1"/>
          </p:cNvSpPr>
          <p:nvPr>
            <p:ph idx="1"/>
          </p:nvPr>
        </p:nvSpPr>
        <p:spPr>
          <a:xfrm>
            <a:off x="695330" y="1295405"/>
            <a:ext cx="10701338" cy="4648199"/>
          </a:xfrm>
        </p:spPr>
        <p:txBody>
          <a:bodyPr>
            <a:normAutofit fontScale="92500" lnSpcReduction="20000"/>
          </a:bodyPr>
          <a:lstStyle/>
          <a:p>
            <a:pPr algn="just">
              <a:lnSpc>
                <a:spcPct val="160000"/>
              </a:lnSpc>
            </a:pPr>
            <a:r>
              <a:rPr lang="en-US" sz="2250" dirty="0">
                <a:latin typeface="Times New Roman" panose="02020603050405020304" pitchFamily="18" charset="0"/>
                <a:cs typeface="Times New Roman" panose="02020603050405020304" pitchFamily="18" charset="0"/>
              </a:rPr>
              <a:t>Data Backup and Restore: S3 provides a secure and reliable solution for data backup and restoration.</a:t>
            </a:r>
          </a:p>
          <a:p>
            <a:pPr algn="just">
              <a:lnSpc>
                <a:spcPct val="160000"/>
              </a:lnSpc>
            </a:pPr>
            <a:r>
              <a:rPr lang="en-US" sz="2250" dirty="0">
                <a:latin typeface="Times New Roman" panose="02020603050405020304" pitchFamily="18" charset="0"/>
                <a:cs typeface="Times New Roman" panose="02020603050405020304" pitchFamily="18" charset="0"/>
              </a:rPr>
              <a:t>Data Archiving: Its storage classes, such as Glacier, are suitable for long-term data archiving.</a:t>
            </a:r>
          </a:p>
          <a:p>
            <a:pPr algn="just">
              <a:lnSpc>
                <a:spcPct val="160000"/>
              </a:lnSpc>
            </a:pPr>
            <a:r>
              <a:rPr lang="en-US" sz="2250" dirty="0">
                <a:latin typeface="Times New Roman" panose="02020603050405020304" pitchFamily="18" charset="0"/>
                <a:cs typeface="Times New Roman" panose="02020603050405020304" pitchFamily="18" charset="0"/>
              </a:rPr>
              <a:t>Static Website Hosting: S3 can be used to host static websites with low-latency access to content.</a:t>
            </a:r>
          </a:p>
          <a:p>
            <a:pPr algn="just">
              <a:lnSpc>
                <a:spcPct val="160000"/>
              </a:lnSpc>
            </a:pPr>
            <a:r>
              <a:rPr lang="en-US" sz="2250" dirty="0">
                <a:latin typeface="Times New Roman" panose="02020603050405020304" pitchFamily="18" charset="0"/>
                <a:cs typeface="Times New Roman" panose="02020603050405020304" pitchFamily="18" charset="0"/>
              </a:rPr>
              <a:t>Data Lakes: S3 serves as a popular choice for building data lakes due to its scalability and durability.</a:t>
            </a:r>
          </a:p>
          <a:p>
            <a:pPr algn="just">
              <a:lnSpc>
                <a:spcPct val="160000"/>
              </a:lnSpc>
            </a:pPr>
            <a:r>
              <a:rPr lang="en-US" sz="2250" dirty="0">
                <a:latin typeface="Times New Roman" panose="02020603050405020304" pitchFamily="18" charset="0"/>
                <a:cs typeface="Times New Roman" panose="02020603050405020304" pitchFamily="18" charset="0"/>
              </a:rPr>
              <a:t>Big Data Analytics: It integrates seamlessly with various AWS analytics services for processing large datasets.</a:t>
            </a:r>
            <a:endParaRPr lang="en-US" sz="2156" b="1" i="1"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1A871E65-D1D2-AB77-08A1-AAB6D26723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6641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53</a:t>
            </a:fld>
            <a:endParaRPr lang="en-US"/>
          </a:p>
        </p:txBody>
      </p:sp>
      <p:sp>
        <p:nvSpPr>
          <p:cNvPr id="5" name="Title 4"/>
          <p:cNvSpPr>
            <a:spLocks noGrp="1"/>
          </p:cNvSpPr>
          <p:nvPr>
            <p:ph type="title"/>
          </p:nvPr>
        </p:nvSpPr>
        <p:spPr/>
        <p:txBody>
          <a:bodyPr>
            <a:normAutofit fontScale="90000"/>
          </a:bodyPr>
          <a:lstStyle/>
          <a:p>
            <a:r>
              <a:rPr lang="en-US" sz="4219" dirty="0"/>
              <a:t>Benefits</a:t>
            </a:r>
          </a:p>
        </p:txBody>
      </p:sp>
      <p:sp>
        <p:nvSpPr>
          <p:cNvPr id="2" name="Content Placeholder 1"/>
          <p:cNvSpPr>
            <a:spLocks noGrp="1"/>
          </p:cNvSpPr>
          <p:nvPr>
            <p:ph idx="1"/>
          </p:nvPr>
        </p:nvSpPr>
        <p:spPr>
          <a:xfrm>
            <a:off x="695330" y="1295405"/>
            <a:ext cx="10701338" cy="4648199"/>
          </a:xfrm>
        </p:spPr>
        <p:txBody>
          <a:bodyPr>
            <a:normAutofit/>
          </a:bodyPr>
          <a:lstStyle/>
          <a:p>
            <a:pPr algn="just">
              <a:lnSpc>
                <a:spcPct val="160000"/>
              </a:lnSpc>
            </a:pPr>
            <a:r>
              <a:rPr lang="en-US" sz="2250" dirty="0">
                <a:latin typeface="Times New Roman" panose="02020603050405020304" pitchFamily="18" charset="0"/>
                <a:cs typeface="Times New Roman" panose="02020603050405020304" pitchFamily="18" charset="0"/>
              </a:rPr>
              <a:t>Cost-Effective: Users pay only for the storage they use, and S3's pricing is designed to be cost-effective for various workloads.</a:t>
            </a:r>
          </a:p>
          <a:p>
            <a:pPr algn="just">
              <a:lnSpc>
                <a:spcPct val="160000"/>
              </a:lnSpc>
            </a:pPr>
            <a:r>
              <a:rPr lang="en-US" sz="2250" dirty="0">
                <a:latin typeface="Times New Roman" panose="02020603050405020304" pitchFamily="18" charset="0"/>
                <a:cs typeface="Times New Roman" panose="02020603050405020304" pitchFamily="18" charset="0"/>
              </a:rPr>
              <a:t>Scalability: S3 can seamlessly scale to accommodate growing amounts of data.</a:t>
            </a:r>
          </a:p>
          <a:p>
            <a:pPr algn="just">
              <a:lnSpc>
                <a:spcPct val="160000"/>
              </a:lnSpc>
            </a:pPr>
            <a:r>
              <a:rPr lang="en-US" sz="2250" dirty="0">
                <a:latin typeface="Times New Roman" panose="02020603050405020304" pitchFamily="18" charset="0"/>
                <a:cs typeface="Times New Roman" panose="02020603050405020304" pitchFamily="18" charset="0"/>
              </a:rPr>
              <a:t>Security: It offers features like access control, encryption, and compliance with various standards.</a:t>
            </a:r>
            <a:endParaRPr lang="en-US" sz="2156" b="1" i="1"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C92ABE29-2CD0-B21A-8C17-1EC84A061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39462"/>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73634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54</a:t>
            </a:fld>
            <a:endParaRPr lang="en-US"/>
          </a:p>
        </p:txBody>
      </p:sp>
      <p:sp>
        <p:nvSpPr>
          <p:cNvPr id="5" name="Title 4"/>
          <p:cNvSpPr>
            <a:spLocks noGrp="1"/>
          </p:cNvSpPr>
          <p:nvPr>
            <p:ph type="title"/>
          </p:nvPr>
        </p:nvSpPr>
        <p:spPr/>
        <p:txBody>
          <a:bodyPr>
            <a:normAutofit fontScale="90000"/>
          </a:bodyPr>
          <a:lstStyle/>
          <a:p>
            <a:r>
              <a:rPr lang="en-US" sz="4219" dirty="0"/>
              <a:t>Bucket </a:t>
            </a:r>
          </a:p>
        </p:txBody>
      </p:sp>
      <p:sp>
        <p:nvSpPr>
          <p:cNvPr id="2" name="Content Placeholder 1"/>
          <p:cNvSpPr>
            <a:spLocks noGrp="1"/>
          </p:cNvSpPr>
          <p:nvPr>
            <p:ph idx="1"/>
          </p:nvPr>
        </p:nvSpPr>
        <p:spPr>
          <a:xfrm>
            <a:off x="444500" y="1372666"/>
            <a:ext cx="10701338" cy="4648199"/>
          </a:xfrm>
        </p:spPr>
        <p:txBody>
          <a:bodyPr>
            <a:normAutofit/>
          </a:bodyPr>
          <a:lstStyle/>
          <a:p>
            <a:pPr algn="just">
              <a:lnSpc>
                <a:spcPct val="160000"/>
              </a:lnSpc>
            </a:pPr>
            <a:r>
              <a:rPr lang="en-US" sz="2250" dirty="0">
                <a:latin typeface="Times New Roman" panose="02020603050405020304" pitchFamily="18" charset="0"/>
                <a:cs typeface="Times New Roman" panose="02020603050405020304" pitchFamily="18" charset="0"/>
              </a:rPr>
              <a:t>A bucket is a container for storing objects. Objects in Amazon S3 are essentially files, and each file must be stored in a bucket. Think of a bucket as a top-level folder or directory within Amazon S3.</a:t>
            </a:r>
            <a:endParaRPr lang="en-US" sz="2156" b="1" i="1" dirty="0">
              <a:latin typeface="Times New Roman" panose="02020603050405020304" pitchFamily="18" charset="0"/>
              <a:cs typeface="Times New Roman" panose="02020603050405020304" pitchFamily="18" charset="0"/>
            </a:endParaRPr>
          </a:p>
        </p:txBody>
      </p:sp>
      <p:pic>
        <p:nvPicPr>
          <p:cNvPr id="2050" name="Picture 2" descr="Getting S3 bucket size different ways - DEV Community">
            <a:extLst>
              <a:ext uri="{FF2B5EF4-FFF2-40B4-BE49-F238E27FC236}">
                <a16:creationId xmlns:a16="http://schemas.microsoft.com/office/drawing/2014/main" id="{3C9D34EA-206D-4E71-D8C2-9ABE726FD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2793" y="3351900"/>
            <a:ext cx="4876800" cy="20478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xplain Amazon S3?. Amazon Simple Storage Service (Amazon… | by Nanduri  Balajee | Medium">
            <a:extLst>
              <a:ext uri="{FF2B5EF4-FFF2-40B4-BE49-F238E27FC236}">
                <a16:creationId xmlns:a16="http://schemas.microsoft.com/office/drawing/2014/main" id="{D78B9EC4-E04E-4303-9DBB-C13F6DAB26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25190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55</a:t>
            </a:fld>
            <a:endParaRPr lang="en-US"/>
          </a:p>
        </p:txBody>
      </p:sp>
      <p:sp>
        <p:nvSpPr>
          <p:cNvPr id="5" name="Title 4"/>
          <p:cNvSpPr>
            <a:spLocks noGrp="1"/>
          </p:cNvSpPr>
          <p:nvPr>
            <p:ph type="title"/>
          </p:nvPr>
        </p:nvSpPr>
        <p:spPr/>
        <p:txBody>
          <a:bodyPr>
            <a:normAutofit fontScale="90000"/>
          </a:bodyPr>
          <a:lstStyle/>
          <a:p>
            <a:r>
              <a:rPr lang="en-US" sz="4219" dirty="0"/>
              <a:t>Characteristics of S3 buckets</a:t>
            </a:r>
          </a:p>
        </p:txBody>
      </p:sp>
      <p:sp>
        <p:nvSpPr>
          <p:cNvPr id="2" name="Content Placeholder 1"/>
          <p:cNvSpPr>
            <a:spLocks noGrp="1"/>
          </p:cNvSpPr>
          <p:nvPr>
            <p:ph idx="1"/>
          </p:nvPr>
        </p:nvSpPr>
        <p:spPr>
          <a:xfrm>
            <a:off x="745331" y="1519523"/>
            <a:ext cx="10701338" cy="4648199"/>
          </a:xfrm>
        </p:spPr>
        <p:txBody>
          <a:bodyPr>
            <a:normAutofit/>
          </a:bodyPr>
          <a:lstStyle/>
          <a:p>
            <a:pPr>
              <a:lnSpc>
                <a:spcPct val="10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Naming</a:t>
            </a:r>
          </a:p>
          <a:p>
            <a:pPr>
              <a:lnSpc>
                <a:spcPct val="10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Region</a:t>
            </a:r>
            <a:endParaRPr lang="en-US" sz="18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Access Control</a:t>
            </a:r>
          </a:p>
          <a:p>
            <a:pPr>
              <a:lnSpc>
                <a:spcPct val="10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Storage Classes</a:t>
            </a:r>
          </a:p>
          <a:p>
            <a:pPr>
              <a:lnSpc>
                <a:spcPct val="10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Versioning</a:t>
            </a:r>
            <a:endParaRPr lang="en-US" sz="18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Lifecycle Policies</a:t>
            </a:r>
            <a:endParaRPr 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Server </a:t>
            </a:r>
            <a:r>
              <a:rPr lang="en-US" sz="1800" b="1">
                <a:latin typeface="Times New Roman" panose="02020603050405020304" pitchFamily="18" charset="0"/>
                <a:cs typeface="Times New Roman" panose="02020603050405020304" pitchFamily="18" charset="0"/>
              </a:rPr>
              <a:t>Access Logging</a:t>
            </a:r>
            <a:endParaRPr lang="en-US" sz="1800" b="1"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E3F40EB7-52DC-A82E-15AB-22952EBCEE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39950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56</a:t>
            </a:fld>
            <a:endParaRPr lang="en-US"/>
          </a:p>
        </p:txBody>
      </p:sp>
      <p:sp>
        <p:nvSpPr>
          <p:cNvPr id="5" name="Title 4"/>
          <p:cNvSpPr>
            <a:spLocks noGrp="1"/>
          </p:cNvSpPr>
          <p:nvPr>
            <p:ph type="title"/>
          </p:nvPr>
        </p:nvSpPr>
        <p:spPr/>
        <p:txBody>
          <a:bodyPr>
            <a:normAutofit fontScale="90000"/>
          </a:bodyPr>
          <a:lstStyle/>
          <a:p>
            <a:r>
              <a:rPr lang="en-US" sz="4219" dirty="0"/>
              <a:t>How to create Bucket</a:t>
            </a:r>
          </a:p>
        </p:txBody>
      </p:sp>
      <p:sp>
        <p:nvSpPr>
          <p:cNvPr id="2" name="Content Placeholder 1"/>
          <p:cNvSpPr>
            <a:spLocks noGrp="1"/>
          </p:cNvSpPr>
          <p:nvPr>
            <p:ph idx="1"/>
          </p:nvPr>
        </p:nvSpPr>
        <p:spPr>
          <a:xfrm>
            <a:off x="745331" y="1519523"/>
            <a:ext cx="11214100" cy="4648199"/>
          </a:xfrm>
        </p:spPr>
        <p:txBody>
          <a:bodyPr>
            <a:normAutofit fontScale="55000" lnSpcReduction="20000"/>
          </a:bodyPr>
          <a:lstStyle/>
          <a:p>
            <a:pPr>
              <a:buFont typeface="Wingdings" panose="05000000000000000000" pitchFamily="2" charset="2"/>
              <a:buChar char="Ø"/>
            </a:pPr>
            <a:r>
              <a:rPr lang="en-US" b="1" dirty="0"/>
              <a:t>Step 1: Sign in to AWS Console</a:t>
            </a:r>
          </a:p>
          <a:p>
            <a:pPr marL="0" indent="0">
              <a:buNone/>
            </a:pPr>
            <a:r>
              <a:rPr lang="en-US" dirty="0"/>
              <a:t>	Go to the AWS Management Console and sign in with your AWS account credentials.</a:t>
            </a:r>
          </a:p>
          <a:p>
            <a:pPr>
              <a:buFont typeface="Wingdings" panose="05000000000000000000" pitchFamily="2" charset="2"/>
              <a:buChar char="Ø"/>
            </a:pPr>
            <a:r>
              <a:rPr lang="en-US" b="1" dirty="0"/>
              <a:t>Step 2: Open S3 Console</a:t>
            </a:r>
          </a:p>
          <a:p>
            <a:pPr marL="0" indent="0">
              <a:buNone/>
            </a:pPr>
            <a:r>
              <a:rPr lang="en-US" dirty="0"/>
              <a:t>	Navigate to the Amazon S3 service in the AWS Management Console.</a:t>
            </a:r>
          </a:p>
          <a:p>
            <a:pPr>
              <a:buFont typeface="Wingdings" panose="05000000000000000000" pitchFamily="2" charset="2"/>
              <a:buChar char="Ø"/>
            </a:pPr>
            <a:r>
              <a:rPr lang="en-US" b="1" dirty="0"/>
              <a:t>Step 3: Click "Create Bucket"</a:t>
            </a:r>
          </a:p>
          <a:p>
            <a:pPr marL="0" indent="0">
              <a:buNone/>
            </a:pPr>
            <a:r>
              <a:rPr lang="en-US" dirty="0"/>
              <a:t>	Click on the "Create Bucket" button to initiate the bucket creation process.</a:t>
            </a:r>
          </a:p>
          <a:p>
            <a:pPr>
              <a:buFont typeface="Wingdings" panose="05000000000000000000" pitchFamily="2" charset="2"/>
              <a:buChar char="Ø"/>
            </a:pPr>
            <a:r>
              <a:rPr lang="en-US" b="1" dirty="0"/>
              <a:t>Step 4: Configure Bucket Settings</a:t>
            </a:r>
          </a:p>
          <a:p>
            <a:pPr marL="0" indent="0">
              <a:buNone/>
            </a:pPr>
            <a:r>
              <a:rPr lang="en-US" dirty="0"/>
              <a:t>	Enter a unique and meaningful name for your bucket.</a:t>
            </a:r>
          </a:p>
          <a:p>
            <a:pPr marL="0" indent="0">
              <a:buNone/>
            </a:pPr>
            <a:r>
              <a:rPr lang="en-US" dirty="0"/>
              <a:t>	Choose a region for your bucket to optimize latency, durability, and costs.</a:t>
            </a:r>
          </a:p>
          <a:p>
            <a:pPr>
              <a:buFont typeface="Wingdings" panose="05000000000000000000" pitchFamily="2" charset="2"/>
              <a:buChar char="Ø"/>
            </a:pPr>
            <a:r>
              <a:rPr lang="en-US" b="1" dirty="0"/>
              <a:t>Step 5: Configure Additional Options</a:t>
            </a:r>
          </a:p>
          <a:p>
            <a:pPr marL="0" indent="0">
              <a:buNone/>
            </a:pPr>
            <a:r>
              <a:rPr lang="en-US" dirty="0"/>
              <a:t>	Set up versioning if needed.</a:t>
            </a:r>
          </a:p>
          <a:p>
            <a:pPr marL="0" indent="0">
              <a:buNone/>
            </a:pPr>
            <a:r>
              <a:rPr lang="en-US" dirty="0"/>
              <a:t>	Configure server access logging for auditing.</a:t>
            </a:r>
          </a:p>
          <a:p>
            <a:pPr>
              <a:buFont typeface="Wingdings" panose="05000000000000000000" pitchFamily="2" charset="2"/>
              <a:buChar char="Ø"/>
            </a:pPr>
            <a:r>
              <a:rPr lang="en-US" b="1" dirty="0"/>
              <a:t>Step 6: Set Permissions</a:t>
            </a:r>
          </a:p>
          <a:p>
            <a:pPr marL="0" indent="0">
              <a:buNone/>
            </a:pPr>
            <a:r>
              <a:rPr lang="en-US" dirty="0"/>
              <a:t>	Define access controls for the bucket, specifying who can access it and how.</a:t>
            </a:r>
          </a:p>
          <a:p>
            <a:pPr>
              <a:buFont typeface="Wingdings" panose="05000000000000000000" pitchFamily="2" charset="2"/>
              <a:buChar char="Ø"/>
            </a:pPr>
            <a:r>
              <a:rPr lang="en-US" b="1" dirty="0"/>
              <a:t>Step 7: Review and Create</a:t>
            </a:r>
          </a:p>
          <a:p>
            <a:pPr marL="0" indent="0">
              <a:buNone/>
            </a:pPr>
            <a:r>
              <a:rPr lang="en-US" dirty="0"/>
              <a:t>	Review your configuration settings and click "Create Bucket."</a:t>
            </a:r>
          </a:p>
          <a:p>
            <a:pPr>
              <a:lnSpc>
                <a:spcPct val="1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59599B72-ED62-60BA-FF33-9E8904E51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5621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fade">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fade">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fade">
                                      <p:cBhvr>
                                        <p:cTn id="72" dur="500"/>
                                        <p:tgtEl>
                                          <p:spTgt spid="2">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
                                            <p:txEl>
                                              <p:pRg st="14" end="14"/>
                                            </p:txEl>
                                          </p:spTgt>
                                        </p:tgtEl>
                                        <p:attrNameLst>
                                          <p:attrName>style.visibility</p:attrName>
                                        </p:attrNameLst>
                                      </p:cBhvr>
                                      <p:to>
                                        <p:strVal val="visible"/>
                                      </p:to>
                                    </p:set>
                                    <p:animEffect transition="in" filter="fade">
                                      <p:cBhvr>
                                        <p:cTn id="77" dur="500"/>
                                        <p:tgtEl>
                                          <p:spTgt spid="2">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
                                            <p:txEl>
                                              <p:pRg st="15" end="15"/>
                                            </p:txEl>
                                          </p:spTgt>
                                        </p:tgtEl>
                                        <p:attrNameLst>
                                          <p:attrName>style.visibility</p:attrName>
                                        </p:attrNameLst>
                                      </p:cBhvr>
                                      <p:to>
                                        <p:strVal val="visible"/>
                                      </p:to>
                                    </p:set>
                                    <p:animEffect transition="in" filter="fade">
                                      <p:cBhvr>
                                        <p:cTn id="82"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57</a:t>
            </a:fld>
            <a:endParaRPr lang="en-US"/>
          </a:p>
        </p:txBody>
      </p:sp>
      <p:sp>
        <p:nvSpPr>
          <p:cNvPr id="5" name="Title 4"/>
          <p:cNvSpPr>
            <a:spLocks noGrp="1"/>
          </p:cNvSpPr>
          <p:nvPr>
            <p:ph type="title"/>
          </p:nvPr>
        </p:nvSpPr>
        <p:spPr/>
        <p:txBody>
          <a:bodyPr>
            <a:normAutofit fontScale="90000"/>
          </a:bodyPr>
          <a:lstStyle/>
          <a:p>
            <a:r>
              <a:rPr lang="en-US" sz="4400" dirty="0"/>
              <a:t>Uploading and Downloading Objects</a:t>
            </a:r>
          </a:p>
        </p:txBody>
      </p:sp>
      <p:sp>
        <p:nvSpPr>
          <p:cNvPr id="2" name="Content Placeholder 1"/>
          <p:cNvSpPr>
            <a:spLocks noGrp="1"/>
          </p:cNvSpPr>
          <p:nvPr>
            <p:ph idx="1"/>
          </p:nvPr>
        </p:nvSpPr>
        <p:spPr>
          <a:xfrm>
            <a:off x="745331" y="1519523"/>
            <a:ext cx="11214100" cy="4648199"/>
          </a:xfrm>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Open the S3 console and navigate to the desired bucket.</a:t>
            </a:r>
          </a:p>
          <a:p>
            <a:pPr>
              <a:lnSpc>
                <a:spcPct val="150000"/>
              </a:lnSpc>
            </a:pPr>
            <a:r>
              <a:rPr lang="en-US" sz="1800" dirty="0">
                <a:latin typeface="Times New Roman" panose="02020603050405020304" pitchFamily="18" charset="0"/>
                <a:cs typeface="Times New Roman" panose="02020603050405020304" pitchFamily="18" charset="0"/>
              </a:rPr>
              <a:t>Click on "Upload" and select the files or folders you want to upload.</a:t>
            </a:r>
          </a:p>
          <a:p>
            <a:pPr>
              <a:lnSpc>
                <a:spcPct val="150000"/>
              </a:lnSpc>
            </a:pPr>
            <a:r>
              <a:rPr lang="en-US" sz="1800" dirty="0">
                <a:latin typeface="Times New Roman" panose="02020603050405020304" pitchFamily="18" charset="0"/>
                <a:cs typeface="Times New Roman" panose="02020603050405020304" pitchFamily="18" charset="0"/>
              </a:rPr>
              <a:t>Configure any additional settings, such as storage class or metadata.</a:t>
            </a:r>
          </a:p>
          <a:p>
            <a:pPr>
              <a:lnSpc>
                <a:spcPct val="150000"/>
              </a:lnSpc>
            </a:pPr>
            <a:r>
              <a:rPr lang="en-US" sz="1800" dirty="0">
                <a:latin typeface="Times New Roman" panose="02020603050405020304" pitchFamily="18" charset="0"/>
                <a:cs typeface="Times New Roman" panose="02020603050405020304" pitchFamily="18" charset="0"/>
              </a:rPr>
              <a:t>Click "Upload" to transfer the files to your bucket.</a:t>
            </a:r>
          </a:p>
          <a:p>
            <a:pPr>
              <a:lnSpc>
                <a:spcPct val="1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73ABE8F7-AEEB-6ABC-4E8F-B0592B2F2E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53346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58</a:t>
            </a:fld>
            <a:endParaRPr lang="en-US"/>
          </a:p>
        </p:txBody>
      </p:sp>
      <p:sp>
        <p:nvSpPr>
          <p:cNvPr id="5" name="Title 4"/>
          <p:cNvSpPr>
            <a:spLocks noGrp="1"/>
          </p:cNvSpPr>
          <p:nvPr>
            <p:ph type="title"/>
          </p:nvPr>
        </p:nvSpPr>
        <p:spPr/>
        <p:txBody>
          <a:bodyPr>
            <a:normAutofit fontScale="90000"/>
          </a:bodyPr>
          <a:lstStyle/>
          <a:p>
            <a:r>
              <a:rPr lang="en-US" sz="4400" dirty="0"/>
              <a:t>Setting Permissions</a:t>
            </a:r>
          </a:p>
        </p:txBody>
      </p:sp>
      <p:sp>
        <p:nvSpPr>
          <p:cNvPr id="2" name="Content Placeholder 1"/>
          <p:cNvSpPr>
            <a:spLocks noGrp="1"/>
          </p:cNvSpPr>
          <p:nvPr>
            <p:ph idx="1"/>
          </p:nvPr>
        </p:nvSpPr>
        <p:spPr>
          <a:xfrm>
            <a:off x="745331" y="1519523"/>
            <a:ext cx="11214100" cy="4648199"/>
          </a:xfrm>
        </p:spPr>
        <p:txBody>
          <a:bodyPr>
            <a:normAutofit/>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Bucket Policies</a:t>
            </a:r>
          </a:p>
          <a:p>
            <a:pPr lvl="1">
              <a:lnSpc>
                <a:spcPct val="150000"/>
              </a:lnSpc>
            </a:pPr>
            <a:r>
              <a:rPr lang="en-US" sz="1800" dirty="0">
                <a:latin typeface="Times New Roman" panose="02020603050405020304" pitchFamily="18" charset="0"/>
                <a:cs typeface="Times New Roman" panose="02020603050405020304" pitchFamily="18" charset="0"/>
              </a:rPr>
              <a:t>Define policies that control access to your bucket based on specified conditions.</a:t>
            </a:r>
          </a:p>
          <a:p>
            <a:pPr lvl="1">
              <a:lnSpc>
                <a:spcPct val="150000"/>
              </a:lnSpc>
            </a:pPr>
            <a:endParaRPr 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Access Control Lists (ACLs)</a:t>
            </a:r>
          </a:p>
          <a:p>
            <a:pPr lvl="1">
              <a:lnSpc>
                <a:spcPct val="150000"/>
              </a:lnSpc>
            </a:pPr>
            <a:r>
              <a:rPr lang="en-US" sz="1800" dirty="0">
                <a:latin typeface="Times New Roman" panose="02020603050405020304" pitchFamily="18" charset="0"/>
                <a:cs typeface="Times New Roman" panose="02020603050405020304" pitchFamily="18" charset="0"/>
              </a:rPr>
              <a:t>Set granular access permissions for individual objects within your bucket.</a:t>
            </a:r>
          </a:p>
          <a:p>
            <a:pPr lvl="1">
              <a:lnSpc>
                <a:spcPct val="150000"/>
              </a:lnSpc>
            </a:pPr>
            <a:endParaRPr 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Identity and Access Management (IAM)</a:t>
            </a:r>
          </a:p>
          <a:p>
            <a:pPr lvl="1">
              <a:lnSpc>
                <a:spcPct val="150000"/>
              </a:lnSpc>
            </a:pPr>
            <a:r>
              <a:rPr lang="en-US" sz="1800" dirty="0">
                <a:latin typeface="Times New Roman" panose="02020603050405020304" pitchFamily="18" charset="0"/>
                <a:cs typeface="Times New Roman" panose="02020603050405020304" pitchFamily="18" charset="0"/>
              </a:rPr>
              <a:t>Use IAM roles and policies to control access to your S3 resources.</a:t>
            </a:r>
          </a:p>
          <a:p>
            <a:pPr>
              <a:lnSpc>
                <a:spcPct val="1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pic>
        <p:nvPicPr>
          <p:cNvPr id="3" name="Picture 2" descr="Explain Amazon S3?. Amazon Simple Storage Service (Amazon… | by Nanduri  Balajee | Medium">
            <a:extLst>
              <a:ext uri="{FF2B5EF4-FFF2-40B4-BE49-F238E27FC236}">
                <a16:creationId xmlns:a16="http://schemas.microsoft.com/office/drawing/2014/main" id="{2E94D226-4687-998C-44A5-18E1196709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25" y="129414"/>
            <a:ext cx="3381375" cy="11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60385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xEl>
                                              <p:pRg st="7" end="7"/>
                                            </p:txEl>
                                          </p:spTgt>
                                        </p:tgtEl>
                                        <p:attrNameLst>
                                          <p:attrName>style.visibility</p:attrName>
                                        </p:attrNameLst>
                                      </p:cBhvr>
                                      <p:to>
                                        <p:strVal val="visible"/>
                                      </p:to>
                                    </p:set>
                                    <p:animEffect transition="in" filter="fade">
                                      <p:cBhvr>
                                        <p:cTn id="26"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60622" y="1438056"/>
            <a:ext cx="8680356" cy="1447800"/>
          </a:xfrm>
        </p:spPr>
        <p:txBody>
          <a:bodyPr>
            <a:normAutofit/>
          </a:bodyPr>
          <a:lstStyle/>
          <a:p>
            <a:r>
              <a:rPr lang="en-US" sz="4219" dirty="0">
                <a:solidFill>
                  <a:schemeClr val="bg1"/>
                </a:solidFill>
              </a:rPr>
              <a:t>Identity and Access Management</a:t>
            </a:r>
            <a:endParaRPr lang="en-US" sz="4219" dirty="0">
              <a:solidFill>
                <a:schemeClr val="bg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9174480" y="6780111"/>
            <a:ext cx="2987040" cy="389467"/>
          </a:xfrm>
          <a:prstGeom prst="rect">
            <a:avLst/>
          </a:prstGeom>
        </p:spPr>
        <p:txBody>
          <a:bodyPr vert="horz" lIns="114901" tIns="57454" rIns="114901" bIns="57454" rtlCol="0" anchor="ctr"/>
          <a:lstStyle>
            <a:defPPr>
              <a:defRPr lang="en-US"/>
            </a:defPPr>
            <a:lvl1pPr marL="0" algn="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fld id="{4119462B-DC2E-4E97-BC89-145590C3647E}" type="slidenum">
              <a:rPr lang="en-US" smtClean="0"/>
              <a:pPr/>
              <a:t>59</a:t>
            </a:fld>
            <a:endParaRPr lang="en-US">
              <a:solidFill>
                <a:prstClr val="black">
                  <a:tint val="75000"/>
                </a:prstClr>
              </a:solidFill>
            </a:endParaRPr>
          </a:p>
        </p:txBody>
      </p:sp>
      <p:pic>
        <p:nvPicPr>
          <p:cNvPr id="3" name="Picture 2">
            <a:extLst>
              <a:ext uri="{FF2B5EF4-FFF2-40B4-BE49-F238E27FC236}">
                <a16:creationId xmlns:a16="http://schemas.microsoft.com/office/drawing/2014/main" id="{5FF0584A-378D-AC35-C8A5-E10C4D67294F}"/>
              </a:ext>
            </a:extLst>
          </p:cNvPr>
          <p:cNvPicPr>
            <a:picLocks noChangeAspect="1"/>
          </p:cNvPicPr>
          <p:nvPr/>
        </p:nvPicPr>
        <p:blipFill>
          <a:blip r:embed="rId3"/>
          <a:stretch>
            <a:fillRect/>
          </a:stretch>
        </p:blipFill>
        <p:spPr>
          <a:xfrm>
            <a:off x="4794398" y="2952313"/>
            <a:ext cx="1455413" cy="2786013"/>
          </a:xfrm>
          <a:prstGeom prst="rect">
            <a:avLst/>
          </a:prstGeom>
        </p:spPr>
      </p:pic>
    </p:spTree>
    <p:extLst>
      <p:ext uri="{BB962C8B-B14F-4D97-AF65-F5344CB8AC3E}">
        <p14:creationId xmlns:p14="http://schemas.microsoft.com/office/powerpoint/2010/main" val="149661395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60</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AWS Identity and Access Management (IAM) </a:t>
            </a:r>
          </a:p>
        </p:txBody>
      </p:sp>
      <p:sp>
        <p:nvSpPr>
          <p:cNvPr id="2" name="Content Placeholder 1"/>
          <p:cNvSpPr>
            <a:spLocks noGrp="1"/>
          </p:cNvSpPr>
          <p:nvPr>
            <p:ph idx="1"/>
          </p:nvPr>
        </p:nvSpPr>
        <p:spPr>
          <a:xfrm>
            <a:off x="443365" y="1825625"/>
            <a:ext cx="11215235" cy="4341910"/>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AWS Identity and Access Management (IAM) is a web service provided by Amazon Web Services (AWS) that enables you to manage access to AWS services and resources securely. IAM allows you to control who (users) can do what (actions) on which resources (AWS resources) and provides fine-grained access control.</a:t>
            </a:r>
          </a:p>
        </p:txBody>
      </p:sp>
      <p:pic>
        <p:nvPicPr>
          <p:cNvPr id="7" name="Picture 6">
            <a:extLst>
              <a:ext uri="{FF2B5EF4-FFF2-40B4-BE49-F238E27FC236}">
                <a16:creationId xmlns:a16="http://schemas.microsoft.com/office/drawing/2014/main" id="{79A98E38-C6BB-4467-9AC7-8B05A307927C}"/>
              </a:ext>
            </a:extLst>
          </p:cNvPr>
          <p:cNvPicPr>
            <a:picLocks noChangeAspect="1"/>
          </p:cNvPicPr>
          <p:nvPr/>
        </p:nvPicPr>
        <p:blipFill>
          <a:blip r:embed="rId2"/>
          <a:stretch>
            <a:fillRect/>
          </a:stretch>
        </p:blipFill>
        <p:spPr>
          <a:xfrm>
            <a:off x="4850383" y="3260223"/>
            <a:ext cx="1455413" cy="2786013"/>
          </a:xfrm>
          <a:prstGeom prst="rect">
            <a:avLst/>
          </a:prstGeom>
        </p:spPr>
      </p:pic>
    </p:spTree>
    <p:extLst>
      <p:ext uri="{BB962C8B-B14F-4D97-AF65-F5344CB8AC3E}">
        <p14:creationId xmlns:p14="http://schemas.microsoft.com/office/powerpoint/2010/main" val="323128031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61</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IAM Key Roles </a:t>
            </a:r>
          </a:p>
        </p:txBody>
      </p:sp>
      <p:sp>
        <p:nvSpPr>
          <p:cNvPr id="2" name="Content Placeholder 1"/>
          <p:cNvSpPr>
            <a:spLocks noGrp="1"/>
          </p:cNvSpPr>
          <p:nvPr>
            <p:ph idx="1"/>
          </p:nvPr>
        </p:nvSpPr>
        <p:spPr>
          <a:xfrm>
            <a:off x="443365" y="1825625"/>
            <a:ext cx="11215235" cy="4341910"/>
          </a:xfrm>
        </p:spPr>
        <p:txBody>
          <a:bodyPr>
            <a:normAutofit/>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1. User Management</a:t>
            </a:r>
            <a:endParaRPr 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sz="1800" b="1" dirty="0">
                <a:latin typeface="Times New Roman" panose="02020603050405020304" pitchFamily="18" charset="0"/>
                <a:cs typeface="Times New Roman" panose="02020603050405020304" pitchFamily="18" charset="0"/>
              </a:rPr>
              <a:t>2. Group Management</a:t>
            </a:r>
          </a:p>
          <a:p>
            <a:pPr marL="0" indent="0">
              <a:lnSpc>
                <a:spcPct val="150000"/>
              </a:lnSpc>
              <a:buNone/>
            </a:pPr>
            <a:r>
              <a:rPr lang="en-US" sz="1800" b="1" dirty="0">
                <a:latin typeface="Times New Roman" panose="02020603050405020304" pitchFamily="18" charset="0"/>
                <a:cs typeface="Times New Roman" panose="02020603050405020304" pitchFamily="18" charset="0"/>
              </a:rPr>
              <a:t>3. Role-based Access Control (RBAC)</a:t>
            </a:r>
          </a:p>
          <a:p>
            <a:pPr marL="0" indent="0">
              <a:lnSpc>
                <a:spcPct val="150000"/>
              </a:lnSpc>
              <a:buNone/>
            </a:pPr>
            <a:r>
              <a:rPr lang="en-US" sz="1800" b="1" dirty="0">
                <a:latin typeface="Times New Roman" panose="02020603050405020304" pitchFamily="18" charset="0"/>
                <a:cs typeface="Times New Roman" panose="02020603050405020304" pitchFamily="18" charset="0"/>
              </a:rPr>
              <a:t>4. Policy Management</a:t>
            </a:r>
          </a:p>
          <a:p>
            <a:pPr marL="0" indent="0">
              <a:lnSpc>
                <a:spcPct val="150000"/>
              </a:lnSpc>
              <a:buNone/>
            </a:pPr>
            <a:r>
              <a:rPr lang="en-US" sz="1800" b="1" dirty="0">
                <a:latin typeface="Times New Roman" panose="02020603050405020304" pitchFamily="18" charset="0"/>
                <a:cs typeface="Times New Roman" panose="02020603050405020304" pitchFamily="18" charset="0"/>
              </a:rPr>
              <a:t>5. Fine-Grained Access Control</a:t>
            </a:r>
          </a:p>
          <a:p>
            <a:pPr marL="0" indent="0">
              <a:lnSpc>
                <a:spcPct val="150000"/>
              </a:lnSpc>
              <a:buNone/>
            </a:pPr>
            <a:r>
              <a:rPr lang="en-US" sz="1800" b="1" dirty="0">
                <a:latin typeface="Times New Roman" panose="02020603050405020304" pitchFamily="18" charset="0"/>
                <a:cs typeface="Times New Roman" panose="02020603050405020304" pitchFamily="18" charset="0"/>
              </a:rPr>
              <a:t>6. Security Best Practices</a:t>
            </a:r>
          </a:p>
          <a:p>
            <a:pPr marL="0" indent="0">
              <a:lnSpc>
                <a:spcPct val="150000"/>
              </a:lnSpc>
              <a:buNone/>
            </a:pPr>
            <a:r>
              <a:rPr lang="en-US" sz="1800" b="1" dirty="0">
                <a:latin typeface="Times New Roman" panose="02020603050405020304" pitchFamily="18" charset="0"/>
                <a:cs typeface="Times New Roman" panose="02020603050405020304" pitchFamily="18" charset="0"/>
              </a:rPr>
              <a:t>7. Integration with AWS Services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0F5E8DC-AAAE-4D88-DB5B-18632EFA325F}"/>
              </a:ext>
            </a:extLst>
          </p:cNvPr>
          <p:cNvPicPr>
            <a:picLocks noChangeAspect="1"/>
          </p:cNvPicPr>
          <p:nvPr/>
        </p:nvPicPr>
        <p:blipFill>
          <a:blip r:embed="rId2"/>
          <a:stretch>
            <a:fillRect/>
          </a:stretch>
        </p:blipFill>
        <p:spPr>
          <a:xfrm>
            <a:off x="10728202" y="0"/>
            <a:ext cx="633697" cy="1213049"/>
          </a:xfrm>
          <a:prstGeom prst="rect">
            <a:avLst/>
          </a:prstGeom>
        </p:spPr>
      </p:pic>
    </p:spTree>
    <p:extLst>
      <p:ext uri="{BB962C8B-B14F-4D97-AF65-F5344CB8AC3E}">
        <p14:creationId xmlns:p14="http://schemas.microsoft.com/office/powerpoint/2010/main" val="11710692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62</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User Management</a:t>
            </a:r>
          </a:p>
        </p:txBody>
      </p:sp>
      <p:sp>
        <p:nvSpPr>
          <p:cNvPr id="2" name="Content Placeholder 1"/>
          <p:cNvSpPr>
            <a:spLocks noGrp="1"/>
          </p:cNvSpPr>
          <p:nvPr>
            <p:ph idx="1"/>
          </p:nvPr>
        </p:nvSpPr>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IAM enables the creation and management of AWS users within your AWS account. Each user can have individual security credentials, such as access keys, passwords, or Multi-Factor Authentication (MFA) devices.</a:t>
            </a:r>
          </a:p>
          <a:p>
            <a:pPr>
              <a:lnSpc>
                <a:spcPct val="150000"/>
              </a:lnSpc>
            </a:pPr>
            <a:r>
              <a:rPr lang="en-US" sz="1800" dirty="0">
                <a:latin typeface="Times New Roman" panose="02020603050405020304" pitchFamily="18" charset="0"/>
                <a:cs typeface="Times New Roman" panose="02020603050405020304" pitchFamily="18" charset="0"/>
              </a:rPr>
              <a:t>You can create IAM users to distribute your work among team/users.</a:t>
            </a:r>
          </a:p>
          <a:p>
            <a:pPr>
              <a:lnSpc>
                <a:spcPct val="150000"/>
              </a:lnSpc>
            </a:pPr>
            <a:r>
              <a:rPr lang="en-US" sz="1800" dirty="0">
                <a:latin typeface="Times New Roman" panose="02020603050405020304" pitchFamily="18" charset="0"/>
                <a:cs typeface="Times New Roman" panose="02020603050405020304" pitchFamily="18" charset="0"/>
              </a:rPr>
              <a:t>Different permissions can be given to IAM users</a:t>
            </a:r>
          </a:p>
          <a:p>
            <a:pPr marL="0" indent="0">
              <a:buNone/>
            </a:pPr>
            <a:endParaRPr lang="en-US" sz="2156" dirty="0"/>
          </a:p>
          <a:p>
            <a:endParaRPr lang="en-US" sz="2156" dirty="0"/>
          </a:p>
          <a:p>
            <a:endParaRPr lang="en-US" sz="2156" dirty="0"/>
          </a:p>
        </p:txBody>
      </p:sp>
      <p:pic>
        <p:nvPicPr>
          <p:cNvPr id="6" name="Picture 5">
            <a:extLst>
              <a:ext uri="{FF2B5EF4-FFF2-40B4-BE49-F238E27FC236}">
                <a16:creationId xmlns:a16="http://schemas.microsoft.com/office/drawing/2014/main" id="{B3DC4FCF-D042-7CBB-8FE4-14000AA8C4B6}"/>
              </a:ext>
            </a:extLst>
          </p:cNvPr>
          <p:cNvPicPr>
            <a:picLocks noChangeAspect="1"/>
          </p:cNvPicPr>
          <p:nvPr/>
        </p:nvPicPr>
        <p:blipFill>
          <a:blip r:embed="rId2"/>
          <a:stretch>
            <a:fillRect/>
          </a:stretch>
        </p:blipFill>
        <p:spPr>
          <a:xfrm>
            <a:off x="10728202" y="0"/>
            <a:ext cx="633697" cy="1213049"/>
          </a:xfrm>
          <a:prstGeom prst="rect">
            <a:avLst/>
          </a:prstGeom>
        </p:spPr>
      </p:pic>
    </p:spTree>
    <p:extLst>
      <p:ext uri="{BB962C8B-B14F-4D97-AF65-F5344CB8AC3E}">
        <p14:creationId xmlns:p14="http://schemas.microsoft.com/office/powerpoint/2010/main" val="134072707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fade">
                                      <p:cBhvr>
                                        <p:cTn id="19" dur="1000"/>
                                        <p:tgtEl>
                                          <p:spTgt spid="2">
                                            <p:txEl>
                                              <p:pRg st="2" end="2"/>
                                            </p:txEl>
                                          </p:spTgt>
                                        </p:tgtEl>
                                      </p:cBhvr>
                                    </p:animEffect>
                                    <p:anim calcmode="lin" valueType="num">
                                      <p:cBhvr>
                                        <p:cTn id="20"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4219" dirty="0">
                <a:solidFill>
                  <a:schemeClr val="accent2">
                    <a:lumMod val="75000"/>
                  </a:schemeClr>
                </a:solidFill>
              </a:rPr>
              <a:t>LAB  </a:t>
            </a:r>
            <a:r>
              <a:rPr lang="en-US" sz="4219" dirty="0"/>
              <a:t>: IAM User</a:t>
            </a:r>
          </a:p>
        </p:txBody>
      </p:sp>
      <p:sp>
        <p:nvSpPr>
          <p:cNvPr id="2" name="Content Placeholder 1"/>
          <p:cNvSpPr>
            <a:spLocks noGrp="1"/>
          </p:cNvSpPr>
          <p:nvPr>
            <p:ph idx="1"/>
          </p:nvPr>
        </p:nvSpPr>
        <p:spPr>
          <a:xfrm>
            <a:off x="695325" y="1371600"/>
            <a:ext cx="11201400" cy="4754563"/>
          </a:xfrm>
        </p:spPr>
        <p:txBody>
          <a:bodyPr>
            <a:no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In this exercise, you will create an IAM user who can perform all administrative IAM functions. Then you will log in as that user so that you no longer need to use the root user login. Using the root user login only when explicitly required is a recommended security practice (along with adding MFA to your root user).</a:t>
            </a:r>
          </a:p>
          <a:p>
            <a:pPr marL="403954" lvl="1" indent="-403954">
              <a:lnSpc>
                <a:spcPct val="150000"/>
              </a:lnSpc>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While logged in as the root user, create a new IAM user called user1.</a:t>
            </a:r>
          </a:p>
          <a:p>
            <a:pPr marL="403954" lvl="1" indent="-403954">
              <a:lnSpc>
                <a:spcPct val="150000"/>
              </a:lnSpc>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Provide Access type -&gt; Programmatic access and Management console access</a:t>
            </a:r>
          </a:p>
          <a:p>
            <a:pPr marL="403954" lvl="1" indent="-403954">
              <a:lnSpc>
                <a:spcPct val="150000"/>
              </a:lnSpc>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Set a console password and click next</a:t>
            </a:r>
          </a:p>
          <a:p>
            <a:pPr marL="403954" lvl="1" indent="-403954">
              <a:lnSpc>
                <a:spcPct val="150000"/>
              </a:lnSpc>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Logout from root and Use the customized sign-in link to sign in as Administrator</a:t>
            </a:r>
          </a:p>
          <a:p>
            <a:pPr marL="403954" lvl="1" indent="-403954">
              <a:lnSpc>
                <a:spcPct val="150000"/>
              </a:lnSpc>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Try to login and </a:t>
            </a:r>
            <a:r>
              <a:rPr lang="en-US" sz="1800" dirty="0" err="1">
                <a:latin typeface="Times New Roman" panose="02020603050405020304" pitchFamily="18" charset="0"/>
                <a:cs typeface="Times New Roman" panose="02020603050405020304" pitchFamily="18" charset="0"/>
              </a:rPr>
              <a:t>and</a:t>
            </a:r>
            <a:r>
              <a:rPr lang="en-US" sz="1800" dirty="0">
                <a:latin typeface="Times New Roman" panose="02020603050405020304" pitchFamily="18" charset="0"/>
                <a:cs typeface="Times New Roman" panose="02020603050405020304" pitchFamily="18" charset="0"/>
              </a:rPr>
              <a:t> check if you are able to access the s3 buckets in new user.</a:t>
            </a:r>
          </a:p>
          <a:p>
            <a:pPr marL="403954" lvl="1" indent="-403954">
              <a:lnSpc>
                <a:spcPct val="150000"/>
              </a:lnSpc>
              <a:spcBef>
                <a:spcPts val="0"/>
              </a:spcBef>
              <a:buFont typeface="+mj-lt"/>
              <a:buAutoNum type="arabicPeriod"/>
            </a:pPr>
            <a:r>
              <a:rPr lang="en-US" sz="1800" dirty="0">
                <a:latin typeface="Times New Roman" panose="02020603050405020304" pitchFamily="18" charset="0"/>
                <a:cs typeface="Times New Roman" panose="02020603050405020304" pitchFamily="18" charset="0"/>
              </a:rPr>
              <a:t>Were to able to see? What about other services?</a:t>
            </a:r>
          </a:p>
        </p:txBody>
      </p:sp>
      <p:pic>
        <p:nvPicPr>
          <p:cNvPr id="4" name="Picture 3">
            <a:extLst>
              <a:ext uri="{FF2B5EF4-FFF2-40B4-BE49-F238E27FC236}">
                <a16:creationId xmlns:a16="http://schemas.microsoft.com/office/drawing/2014/main" id="{04FFC211-9D95-CC5C-6C79-E49D9461CE85}"/>
              </a:ext>
            </a:extLst>
          </p:cNvPr>
          <p:cNvPicPr>
            <a:picLocks noChangeAspect="1"/>
          </p:cNvPicPr>
          <p:nvPr/>
        </p:nvPicPr>
        <p:blipFill>
          <a:blip r:embed="rId2"/>
          <a:stretch>
            <a:fillRect/>
          </a:stretch>
        </p:blipFill>
        <p:spPr>
          <a:xfrm>
            <a:off x="10728202" y="0"/>
            <a:ext cx="633697" cy="1213049"/>
          </a:xfrm>
          <a:prstGeom prst="rect">
            <a:avLst/>
          </a:prstGeom>
        </p:spPr>
      </p:pic>
    </p:spTree>
    <p:extLst>
      <p:ext uri="{BB962C8B-B14F-4D97-AF65-F5344CB8AC3E}">
        <p14:creationId xmlns:p14="http://schemas.microsoft.com/office/powerpoint/2010/main" val="1641502281"/>
      </p:ext>
    </p:extLst>
  </p:cSld>
  <p:clrMapOvr>
    <a:masterClrMapping/>
  </p:clrMapOvr>
  <p:transition spd="slow">
    <p:randomBar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64</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Group Management</a:t>
            </a:r>
          </a:p>
        </p:txBody>
      </p:sp>
      <p:sp>
        <p:nvSpPr>
          <p:cNvPr id="2" name="Content Placeholder 1"/>
          <p:cNvSpPr>
            <a:spLocks noGrp="1"/>
          </p:cNvSpPr>
          <p:nvPr>
            <p:ph idx="1"/>
          </p:nvPr>
        </p:nvSpPr>
        <p:spPr>
          <a:xfrm>
            <a:off x="533400" y="1601690"/>
            <a:ext cx="11215235" cy="4351338"/>
          </a:xfrm>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Users can be organized into groups, simplifying the management of permissions. Policies are attached to groups, allowing multiple users to inherit the same permissions.</a:t>
            </a:r>
          </a:p>
          <a:p>
            <a:pPr marL="0" indent="0">
              <a:buNone/>
            </a:pPr>
            <a:endParaRPr lang="en-US" sz="2156" dirty="0"/>
          </a:p>
          <a:p>
            <a:endParaRPr lang="en-US" sz="2156" dirty="0"/>
          </a:p>
          <a:p>
            <a:endParaRPr lang="en-US" sz="2156" dirty="0"/>
          </a:p>
        </p:txBody>
      </p:sp>
      <p:pic>
        <p:nvPicPr>
          <p:cNvPr id="2050" name="Picture 2" descr="AWS | IAM Groups - Javatpoint">
            <a:extLst>
              <a:ext uri="{FF2B5EF4-FFF2-40B4-BE49-F238E27FC236}">
                <a16:creationId xmlns:a16="http://schemas.microsoft.com/office/drawing/2014/main" id="{6F12B3D1-F3A5-84CD-7A88-B11E5A8957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0590" y="2624090"/>
            <a:ext cx="6455245" cy="33289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295CFB2-5ECA-4E66-A235-0B2A1BD7E4CA}"/>
              </a:ext>
            </a:extLst>
          </p:cNvPr>
          <p:cNvPicPr>
            <a:picLocks noChangeAspect="1"/>
          </p:cNvPicPr>
          <p:nvPr/>
        </p:nvPicPr>
        <p:blipFill>
          <a:blip r:embed="rId3"/>
          <a:stretch>
            <a:fillRect/>
          </a:stretch>
        </p:blipFill>
        <p:spPr>
          <a:xfrm>
            <a:off x="10728202" y="0"/>
            <a:ext cx="633697" cy="1213049"/>
          </a:xfrm>
          <a:prstGeom prst="rect">
            <a:avLst/>
          </a:prstGeom>
        </p:spPr>
      </p:pic>
    </p:spTree>
    <p:extLst>
      <p:ext uri="{BB962C8B-B14F-4D97-AF65-F5344CB8AC3E}">
        <p14:creationId xmlns:p14="http://schemas.microsoft.com/office/powerpoint/2010/main" val="150804179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65</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solidFill>
                  <a:schemeClr val="accent2">
                    <a:lumMod val="75000"/>
                  </a:schemeClr>
                </a:solidFill>
              </a:rPr>
              <a:t>LAB  </a:t>
            </a:r>
            <a:r>
              <a:rPr lang="en-US" sz="4219" dirty="0"/>
              <a:t>: IAM Group</a:t>
            </a:r>
          </a:p>
        </p:txBody>
      </p:sp>
      <p:sp>
        <p:nvSpPr>
          <p:cNvPr id="2" name="Content Placeholder 1"/>
          <p:cNvSpPr>
            <a:spLocks noGrp="1"/>
          </p:cNvSpPr>
          <p:nvPr>
            <p:ph idx="1"/>
          </p:nvPr>
        </p:nvSpPr>
        <p:spPr>
          <a:xfrm>
            <a:off x="695325" y="1371600"/>
            <a:ext cx="10801350" cy="4754563"/>
          </a:xfrm>
        </p:spPr>
        <p:txBody>
          <a:bodyPr>
            <a:normAutofit/>
          </a:bodyPr>
          <a:lstStyle/>
          <a:p>
            <a:pPr marL="0" indent="0">
              <a:lnSpc>
                <a:spcPct val="160000"/>
              </a:lnSpc>
              <a:buNone/>
            </a:pPr>
            <a:r>
              <a:rPr lang="en-US" sz="1900" dirty="0">
                <a:latin typeface="Times New Roman" panose="02020603050405020304" pitchFamily="18" charset="0"/>
                <a:cs typeface="Times New Roman" panose="02020603050405020304" pitchFamily="18" charset="0"/>
              </a:rPr>
              <a:t>In this exercise, you will create a group for all IAM administrator users and assign the proper permissions to the new group. This will allow you to avoid assigning policies directly to a user later in these exercises.</a:t>
            </a:r>
          </a:p>
          <a:p>
            <a:pPr>
              <a:lnSpc>
                <a:spcPct val="160000"/>
              </a:lnSpc>
              <a:buFont typeface="+mj-lt"/>
              <a:buAutoNum type="arabicPeriod"/>
            </a:pPr>
            <a:r>
              <a:rPr lang="en-US" sz="1900" dirty="0">
                <a:latin typeface="Times New Roman" panose="02020603050405020304" pitchFamily="18" charset="0"/>
                <a:cs typeface="Times New Roman" panose="02020603050405020304" pitchFamily="18" charset="0"/>
              </a:rPr>
              <a:t>Log in as the root user.</a:t>
            </a:r>
          </a:p>
          <a:p>
            <a:pPr>
              <a:lnSpc>
                <a:spcPct val="160000"/>
              </a:lnSpc>
              <a:buFont typeface="+mj-lt"/>
              <a:buAutoNum type="arabicPeriod"/>
            </a:pPr>
            <a:r>
              <a:rPr lang="en-US" sz="1900" dirty="0">
                <a:latin typeface="Times New Roman" panose="02020603050405020304" pitchFamily="18" charset="0"/>
                <a:cs typeface="Times New Roman" panose="02020603050405020304" pitchFamily="18" charset="0"/>
              </a:rPr>
              <a:t>Go to </a:t>
            </a:r>
            <a:r>
              <a:rPr lang="en-US" sz="1900" b="1" dirty="0">
                <a:latin typeface="Times New Roman" panose="02020603050405020304" pitchFamily="18" charset="0"/>
                <a:cs typeface="Times New Roman" panose="02020603050405020304" pitchFamily="18" charset="0"/>
              </a:rPr>
              <a:t>Security, Identity &amp; Compliance </a:t>
            </a:r>
            <a:r>
              <a:rPr lang="en-US" sz="1900" b="1" dirty="0">
                <a:latin typeface="Times New Roman" panose="02020603050405020304" pitchFamily="18" charset="0"/>
                <a:cs typeface="Times New Roman" panose="02020603050405020304" pitchFamily="18" charset="0"/>
                <a:sym typeface="Wingdings" panose="05000000000000000000" pitchFamily="2" charset="2"/>
              </a:rPr>
              <a:t> </a:t>
            </a:r>
            <a:r>
              <a:rPr lang="en-US" sz="1900" b="1" dirty="0">
                <a:latin typeface="Times New Roman" panose="02020603050405020304" pitchFamily="18" charset="0"/>
                <a:cs typeface="Times New Roman" panose="02020603050405020304" pitchFamily="18" charset="0"/>
              </a:rPr>
              <a:t>IAM </a:t>
            </a:r>
            <a:r>
              <a:rPr lang="en-US" sz="1900" dirty="0">
                <a:latin typeface="Times New Roman" panose="02020603050405020304" pitchFamily="18" charset="0"/>
                <a:cs typeface="Times New Roman" panose="02020603050405020304" pitchFamily="18" charset="0"/>
                <a:sym typeface="Wingdings" panose="05000000000000000000" pitchFamily="2" charset="2"/>
              </a:rPr>
              <a:t> </a:t>
            </a:r>
            <a:r>
              <a:rPr lang="en-US" sz="1900" b="1" dirty="0">
                <a:latin typeface="Times New Roman" panose="02020603050405020304" pitchFamily="18" charset="0"/>
                <a:cs typeface="Times New Roman" panose="02020603050405020304" pitchFamily="18" charset="0"/>
                <a:sym typeface="Wingdings" panose="05000000000000000000" pitchFamily="2" charset="2"/>
              </a:rPr>
              <a:t>Groups</a:t>
            </a:r>
            <a:endParaRPr lang="en-US" sz="1900" b="1" dirty="0">
              <a:latin typeface="Times New Roman" panose="02020603050405020304" pitchFamily="18" charset="0"/>
              <a:cs typeface="Times New Roman" panose="02020603050405020304" pitchFamily="18" charset="0"/>
            </a:endParaRPr>
          </a:p>
          <a:p>
            <a:pPr>
              <a:lnSpc>
                <a:spcPct val="160000"/>
              </a:lnSpc>
              <a:buFont typeface="+mj-lt"/>
              <a:buAutoNum type="arabicPeriod"/>
            </a:pPr>
            <a:r>
              <a:rPr lang="en-US" sz="1900" dirty="0">
                <a:latin typeface="Times New Roman" panose="02020603050405020304" pitchFamily="18" charset="0"/>
                <a:cs typeface="Times New Roman" panose="02020603050405020304" pitchFamily="18" charset="0"/>
              </a:rPr>
              <a:t>Create an IAM group provide name </a:t>
            </a:r>
            <a:r>
              <a:rPr lang="en-US" sz="1900" dirty="0" err="1">
                <a:latin typeface="Times New Roman" panose="02020603050405020304" pitchFamily="18" charset="0"/>
                <a:cs typeface="Times New Roman" panose="02020603050405020304" pitchFamily="18" charset="0"/>
              </a:rPr>
              <a:t>Elevated_Users</a:t>
            </a:r>
            <a:endParaRPr lang="en-US" sz="1900" dirty="0">
              <a:latin typeface="Times New Roman" panose="02020603050405020304" pitchFamily="18" charset="0"/>
              <a:cs typeface="Times New Roman" panose="02020603050405020304" pitchFamily="18" charset="0"/>
            </a:endParaRPr>
          </a:p>
          <a:p>
            <a:pPr>
              <a:lnSpc>
                <a:spcPct val="160000"/>
              </a:lnSpc>
              <a:buFont typeface="+mj-lt"/>
              <a:buAutoNum type="arabicPeriod"/>
            </a:pPr>
            <a:r>
              <a:rPr lang="en-US" sz="1900" dirty="0">
                <a:latin typeface="Times New Roman" panose="02020603050405020304" pitchFamily="18" charset="0"/>
                <a:cs typeface="Times New Roman" panose="02020603050405020304" pitchFamily="18" charset="0"/>
              </a:rPr>
              <a:t>Don’t select any policy and click create.</a:t>
            </a:r>
          </a:p>
          <a:p>
            <a:pPr>
              <a:lnSpc>
                <a:spcPct val="160000"/>
              </a:lnSpc>
              <a:buFont typeface="+mj-lt"/>
              <a:buAutoNum type="arabicPeriod"/>
            </a:pPr>
            <a:r>
              <a:rPr lang="en-US" sz="1900" dirty="0">
                <a:latin typeface="Times New Roman" panose="02020603050405020304" pitchFamily="18" charset="0"/>
                <a:cs typeface="Times New Roman" panose="02020603050405020304" pitchFamily="18" charset="0"/>
              </a:rPr>
              <a:t>Add user created to the group</a:t>
            </a:r>
          </a:p>
          <a:p>
            <a:pPr marL="0" indent="0">
              <a:buNone/>
            </a:pPr>
            <a:endParaRPr lang="en-US" sz="2156" dirty="0"/>
          </a:p>
          <a:p>
            <a:pPr marL="0" indent="0">
              <a:buNone/>
            </a:pPr>
            <a:endParaRPr lang="en-US" sz="2156" dirty="0"/>
          </a:p>
          <a:p>
            <a:pPr marL="0" indent="0">
              <a:buNone/>
            </a:pPr>
            <a:endParaRPr lang="en-US" sz="2156" dirty="0"/>
          </a:p>
        </p:txBody>
      </p:sp>
      <p:pic>
        <p:nvPicPr>
          <p:cNvPr id="6" name="Picture 5">
            <a:extLst>
              <a:ext uri="{FF2B5EF4-FFF2-40B4-BE49-F238E27FC236}">
                <a16:creationId xmlns:a16="http://schemas.microsoft.com/office/drawing/2014/main" id="{2D1B9226-BFDB-6F70-635B-33378A426A5F}"/>
              </a:ext>
            </a:extLst>
          </p:cNvPr>
          <p:cNvPicPr>
            <a:picLocks noChangeAspect="1"/>
          </p:cNvPicPr>
          <p:nvPr/>
        </p:nvPicPr>
        <p:blipFill>
          <a:blip r:embed="rId2"/>
          <a:stretch>
            <a:fillRect/>
          </a:stretch>
        </p:blipFill>
        <p:spPr>
          <a:xfrm>
            <a:off x="10728202" y="0"/>
            <a:ext cx="633697" cy="1213049"/>
          </a:xfrm>
          <a:prstGeom prst="rect">
            <a:avLst/>
          </a:prstGeom>
        </p:spPr>
      </p:pic>
    </p:spTree>
    <p:extLst>
      <p:ext uri="{BB962C8B-B14F-4D97-AF65-F5344CB8AC3E}">
        <p14:creationId xmlns:p14="http://schemas.microsoft.com/office/powerpoint/2010/main" val="92375928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66</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latin typeface="Times New Roman" panose="02020603050405020304" pitchFamily="18" charset="0"/>
                <a:cs typeface="Times New Roman" panose="02020603050405020304" pitchFamily="18" charset="0"/>
              </a:rPr>
              <a:t>Role-based Access Control (RBAC)</a:t>
            </a:r>
            <a:endParaRPr lang="en-US" sz="4219" dirty="0">
              <a:solidFill>
                <a:schemeClr val="accent2">
                  <a:lumMod val="75000"/>
                </a:schemeClr>
              </a:solidFill>
            </a:endParaRPr>
          </a:p>
        </p:txBody>
      </p:sp>
      <p:sp>
        <p:nvSpPr>
          <p:cNvPr id="2" name="Content Placeholder 1"/>
          <p:cNvSpPr>
            <a:spLocks noGrp="1"/>
          </p:cNvSpPr>
          <p:nvPr>
            <p:ph idx="1"/>
          </p:nvPr>
        </p:nvSpPr>
        <p:spPr>
          <a:xfrm>
            <a:off x="695325" y="1371600"/>
            <a:ext cx="10801350" cy="4754563"/>
          </a:xfrm>
        </p:spPr>
        <p:txBody>
          <a:bodyPr>
            <a:normAutofit/>
          </a:bodyPr>
          <a:lstStyle/>
          <a:p>
            <a:pPr marL="0" indent="0" algn="just">
              <a:lnSpc>
                <a:spcPct val="150000"/>
              </a:lnSpc>
              <a:buNone/>
            </a:pPr>
            <a:r>
              <a:rPr lang="en-US" sz="1800" b="0" i="0" dirty="0">
                <a:effectLst/>
                <a:latin typeface="Times New Roman" panose="02020603050405020304" pitchFamily="18" charset="0"/>
                <a:cs typeface="Times New Roman" panose="02020603050405020304" pitchFamily="18" charset="0"/>
              </a:rPr>
              <a:t>Role-based access control (RBAC) is a security methodology based on managing user access to protect resources, including data, applications, and systems, from improper access, modification, addition, or deletion. RBAC grants access based on a user’s needs according to their position. Roles and associated privileges are defined, and permissions are assigned to control access (i.e., what a user can see), the scope of approved operations (i.e., what a user can do, such as view, create, or modify), and session time (i.e., how long a user can have access).</a:t>
            </a:r>
            <a:endParaRPr lang="en-US" sz="1800" dirty="0">
              <a:latin typeface="Times New Roman" panose="02020603050405020304" pitchFamily="18" charset="0"/>
              <a:cs typeface="Times New Roman" panose="02020603050405020304" pitchFamily="18" charset="0"/>
            </a:endParaRPr>
          </a:p>
          <a:p>
            <a:pPr marL="0" indent="0">
              <a:lnSpc>
                <a:spcPct val="150000"/>
              </a:lnSpc>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2156" dirty="0"/>
          </a:p>
        </p:txBody>
      </p:sp>
      <p:pic>
        <p:nvPicPr>
          <p:cNvPr id="6" name="Picture 5">
            <a:extLst>
              <a:ext uri="{FF2B5EF4-FFF2-40B4-BE49-F238E27FC236}">
                <a16:creationId xmlns:a16="http://schemas.microsoft.com/office/drawing/2014/main" id="{C9E60605-D0F8-DD3A-E3E4-F828D0383A39}"/>
              </a:ext>
            </a:extLst>
          </p:cNvPr>
          <p:cNvPicPr>
            <a:picLocks noChangeAspect="1"/>
          </p:cNvPicPr>
          <p:nvPr/>
        </p:nvPicPr>
        <p:blipFill>
          <a:blip r:embed="rId2"/>
          <a:stretch>
            <a:fillRect/>
          </a:stretch>
        </p:blipFill>
        <p:spPr>
          <a:xfrm>
            <a:off x="10728202" y="0"/>
            <a:ext cx="633697" cy="1213049"/>
          </a:xfrm>
          <a:prstGeom prst="rect">
            <a:avLst/>
          </a:prstGeom>
        </p:spPr>
      </p:pic>
    </p:spTree>
    <p:extLst>
      <p:ext uri="{BB962C8B-B14F-4D97-AF65-F5344CB8AC3E}">
        <p14:creationId xmlns:p14="http://schemas.microsoft.com/office/powerpoint/2010/main" val="134571925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67</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latin typeface="Times New Roman" panose="02020603050405020304" pitchFamily="18" charset="0"/>
                <a:cs typeface="Times New Roman" panose="02020603050405020304" pitchFamily="18" charset="0"/>
              </a:rPr>
              <a:t>IAM Policy </a:t>
            </a:r>
            <a:endParaRPr lang="en-US" sz="4219" dirty="0">
              <a:solidFill>
                <a:schemeClr val="accent2">
                  <a:lumMod val="75000"/>
                </a:schemeClr>
              </a:solidFill>
            </a:endParaRPr>
          </a:p>
        </p:txBody>
      </p:sp>
      <p:sp>
        <p:nvSpPr>
          <p:cNvPr id="2" name="Content Placeholder 1"/>
          <p:cNvSpPr>
            <a:spLocks noGrp="1"/>
          </p:cNvSpPr>
          <p:nvPr>
            <p:ph idx="1"/>
          </p:nvPr>
        </p:nvSpPr>
        <p:spPr>
          <a:xfrm>
            <a:off x="695325" y="1371600"/>
            <a:ext cx="10801350" cy="4754563"/>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An IAM policy in AWS Identity and Access Management (IAM) is a JSON (JavaScript Object Notation) document that defines permissions. It specifies the actions allowed or denied, resources to which the actions apply, and the conditions under which actions are allowed or denied.</a:t>
            </a:r>
          </a:p>
          <a:p>
            <a:pPr marL="0" indent="0">
              <a:buNone/>
            </a:pPr>
            <a:endParaRPr lang="en-US" sz="2156" dirty="0"/>
          </a:p>
        </p:txBody>
      </p:sp>
      <p:pic>
        <p:nvPicPr>
          <p:cNvPr id="6" name="Picture 5">
            <a:extLst>
              <a:ext uri="{FF2B5EF4-FFF2-40B4-BE49-F238E27FC236}">
                <a16:creationId xmlns:a16="http://schemas.microsoft.com/office/drawing/2014/main" id="{3EDE2A2E-673C-8E57-176B-8D11E3D96D39}"/>
              </a:ext>
            </a:extLst>
          </p:cNvPr>
          <p:cNvPicPr>
            <a:picLocks noChangeAspect="1"/>
          </p:cNvPicPr>
          <p:nvPr/>
        </p:nvPicPr>
        <p:blipFill>
          <a:blip r:embed="rId2"/>
          <a:stretch>
            <a:fillRect/>
          </a:stretch>
        </p:blipFill>
        <p:spPr>
          <a:xfrm>
            <a:off x="10728202" y="0"/>
            <a:ext cx="633697" cy="1213049"/>
          </a:xfrm>
          <a:prstGeom prst="rect">
            <a:avLst/>
          </a:prstGeom>
        </p:spPr>
      </p:pic>
    </p:spTree>
    <p:extLst>
      <p:ext uri="{BB962C8B-B14F-4D97-AF65-F5344CB8AC3E}">
        <p14:creationId xmlns:p14="http://schemas.microsoft.com/office/powerpoint/2010/main" val="3772630855"/>
      </p:ext>
    </p:extLst>
  </p:cSld>
  <p:clrMapOvr>
    <a:masterClrMapping/>
  </p:clrMapOvr>
  <p:transition spd="slow">
    <p:randomBar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68</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latin typeface="Times New Roman" panose="02020603050405020304" pitchFamily="18" charset="0"/>
                <a:cs typeface="Times New Roman" panose="02020603050405020304" pitchFamily="18" charset="0"/>
              </a:rPr>
              <a:t>Components of an IAM Policy</a:t>
            </a:r>
            <a:endParaRPr lang="en-US" sz="4219" dirty="0">
              <a:solidFill>
                <a:schemeClr val="accent2">
                  <a:lumMod val="75000"/>
                </a:schemeClr>
              </a:solidFill>
            </a:endParaRPr>
          </a:p>
        </p:txBody>
      </p:sp>
      <p:sp>
        <p:nvSpPr>
          <p:cNvPr id="2" name="Content Placeholder 1"/>
          <p:cNvSpPr>
            <a:spLocks noGrp="1"/>
          </p:cNvSpPr>
          <p:nvPr>
            <p:ph idx="1"/>
          </p:nvPr>
        </p:nvSpPr>
        <p:spPr>
          <a:xfrm>
            <a:off x="6014873" y="1552002"/>
            <a:ext cx="6077600" cy="4763073"/>
          </a:xfrm>
        </p:spPr>
        <p:txBody>
          <a:bodyPr>
            <a:norm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Effect: </a:t>
            </a:r>
            <a:r>
              <a:rPr lang="en-US" sz="1400" dirty="0">
                <a:latin typeface="Times New Roman" panose="02020603050405020304" pitchFamily="18" charset="0"/>
                <a:cs typeface="Times New Roman" panose="02020603050405020304" pitchFamily="18" charset="0"/>
              </a:rPr>
              <a:t>Specifies whether the policy allows or denies the defined permissions. It can have two values: "Allow" or "Deny".</a:t>
            </a:r>
          </a:p>
          <a:p>
            <a:pPr algn="just">
              <a:lnSpc>
                <a:spcPct val="150000"/>
              </a:lnSpc>
            </a:pPr>
            <a:r>
              <a:rPr lang="en-US" sz="1400" b="1" dirty="0">
                <a:latin typeface="Times New Roman" panose="02020603050405020304" pitchFamily="18" charset="0"/>
                <a:cs typeface="Times New Roman" panose="02020603050405020304" pitchFamily="18" charset="0"/>
              </a:rPr>
              <a:t>Action: </a:t>
            </a:r>
            <a:r>
              <a:rPr lang="en-US" sz="1400" dirty="0">
                <a:latin typeface="Times New Roman" panose="02020603050405020304" pitchFamily="18" charset="0"/>
                <a:cs typeface="Times New Roman" panose="02020603050405020304" pitchFamily="18" charset="0"/>
              </a:rPr>
              <a:t>Describes the specific API actions that the policy allows or denies. For example, s3:GetObject, ec2:StartInstances, etc.</a:t>
            </a:r>
          </a:p>
          <a:p>
            <a:pPr algn="just">
              <a:lnSpc>
                <a:spcPct val="150000"/>
              </a:lnSpc>
            </a:pPr>
            <a:r>
              <a:rPr lang="en-US" sz="1400" b="1" dirty="0">
                <a:latin typeface="Times New Roman" panose="02020603050405020304" pitchFamily="18" charset="0"/>
                <a:cs typeface="Times New Roman" panose="02020603050405020304" pitchFamily="18" charset="0"/>
              </a:rPr>
              <a:t>Resource: </a:t>
            </a:r>
            <a:r>
              <a:rPr lang="en-US" sz="1400" dirty="0">
                <a:latin typeface="Times New Roman" panose="02020603050405020304" pitchFamily="18" charset="0"/>
                <a:cs typeface="Times New Roman" panose="02020603050405020304" pitchFamily="18" charset="0"/>
              </a:rPr>
              <a:t>Indicates the AWS resources to which the actions apply. It specifies the ARN (Amazon Resource Name) of the resource. For instance, an S3 bucket, an EC2 instance, an IAM user, etc.</a:t>
            </a:r>
          </a:p>
          <a:p>
            <a:pPr algn="just">
              <a:lnSpc>
                <a:spcPct val="150000"/>
              </a:lnSpc>
            </a:pPr>
            <a:r>
              <a:rPr lang="en-US" sz="1400" b="1" dirty="0">
                <a:latin typeface="Times New Roman" panose="02020603050405020304" pitchFamily="18" charset="0"/>
                <a:cs typeface="Times New Roman" panose="02020603050405020304" pitchFamily="18" charset="0"/>
              </a:rPr>
              <a:t>Condition (Optional): </a:t>
            </a:r>
            <a:r>
              <a:rPr lang="en-US" sz="1400" dirty="0">
                <a:latin typeface="Times New Roman" panose="02020603050405020304" pitchFamily="18" charset="0"/>
                <a:cs typeface="Times New Roman" panose="02020603050405020304" pitchFamily="18" charset="0"/>
              </a:rPr>
              <a:t>Defines the circumstances under which the policy is in effect. Conditions can include factors such as the source IP address, time of day, whether Multi-Factor Authentication (MFA) is used, and more</a:t>
            </a:r>
          </a:p>
        </p:txBody>
      </p:sp>
      <p:pic>
        <p:nvPicPr>
          <p:cNvPr id="10" name="Picture 9">
            <a:extLst>
              <a:ext uri="{FF2B5EF4-FFF2-40B4-BE49-F238E27FC236}">
                <a16:creationId xmlns:a16="http://schemas.microsoft.com/office/drawing/2014/main" id="{EB4A4C51-C58E-8F52-5D92-602C09A5D7DB}"/>
              </a:ext>
            </a:extLst>
          </p:cNvPr>
          <p:cNvPicPr>
            <a:picLocks noChangeAspect="1"/>
          </p:cNvPicPr>
          <p:nvPr/>
        </p:nvPicPr>
        <p:blipFill>
          <a:blip r:embed="rId2"/>
          <a:stretch>
            <a:fillRect/>
          </a:stretch>
        </p:blipFill>
        <p:spPr>
          <a:xfrm>
            <a:off x="99528" y="1462042"/>
            <a:ext cx="5915344" cy="4754563"/>
          </a:xfrm>
          <a:prstGeom prst="rect">
            <a:avLst/>
          </a:prstGeom>
        </p:spPr>
      </p:pic>
      <p:pic>
        <p:nvPicPr>
          <p:cNvPr id="6" name="Picture 5">
            <a:extLst>
              <a:ext uri="{FF2B5EF4-FFF2-40B4-BE49-F238E27FC236}">
                <a16:creationId xmlns:a16="http://schemas.microsoft.com/office/drawing/2014/main" id="{4B706711-1115-F843-E102-F7CE95BA4800}"/>
              </a:ext>
            </a:extLst>
          </p:cNvPr>
          <p:cNvPicPr>
            <a:picLocks noChangeAspect="1"/>
          </p:cNvPicPr>
          <p:nvPr/>
        </p:nvPicPr>
        <p:blipFill>
          <a:blip r:embed="rId3"/>
          <a:stretch>
            <a:fillRect/>
          </a:stretch>
        </p:blipFill>
        <p:spPr>
          <a:xfrm>
            <a:off x="10728202" y="0"/>
            <a:ext cx="633697" cy="1213049"/>
          </a:xfrm>
          <a:prstGeom prst="rect">
            <a:avLst/>
          </a:prstGeom>
        </p:spPr>
      </p:pic>
    </p:spTree>
    <p:extLst>
      <p:ext uri="{BB962C8B-B14F-4D97-AF65-F5344CB8AC3E}">
        <p14:creationId xmlns:p14="http://schemas.microsoft.com/office/powerpoint/2010/main" val="130187937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4219" dirty="0">
                <a:solidFill>
                  <a:schemeClr val="accent2">
                    <a:lumMod val="75000"/>
                  </a:schemeClr>
                </a:solidFill>
              </a:rPr>
              <a:t>LAB  </a:t>
            </a:r>
            <a:r>
              <a:rPr lang="en-US" sz="4219" dirty="0"/>
              <a:t>: IAM Policies</a:t>
            </a:r>
          </a:p>
        </p:txBody>
      </p:sp>
      <p:sp>
        <p:nvSpPr>
          <p:cNvPr id="2" name="Content Placeholder 1"/>
          <p:cNvSpPr>
            <a:spLocks noGrp="1"/>
          </p:cNvSpPr>
          <p:nvPr>
            <p:ph idx="1"/>
          </p:nvPr>
        </p:nvSpPr>
        <p:spPr>
          <a:xfrm>
            <a:off x="695325" y="1371605"/>
            <a:ext cx="10801350" cy="5120251"/>
          </a:xfrm>
        </p:spPr>
        <p:txBody>
          <a:bodyPr>
            <a:noAutofit/>
          </a:bodyPr>
          <a:lstStyle/>
          <a:p>
            <a:pPr marL="0" indent="0">
              <a:buNone/>
            </a:pPr>
            <a:r>
              <a:rPr lang="en-US" sz="2156" b="1" dirty="0"/>
              <a:t>Create an IAM Policy</a:t>
            </a:r>
          </a:p>
          <a:p>
            <a:pPr marL="0" indent="0">
              <a:buNone/>
            </a:pPr>
            <a:endParaRPr lang="en-US" sz="2156" b="1" dirty="0"/>
          </a:p>
          <a:p>
            <a:pPr marL="0" indent="0">
              <a:buNone/>
            </a:pPr>
            <a:r>
              <a:rPr lang="en-US" sz="1688" dirty="0"/>
              <a:t>In this exercise, you will create an IAM Policy, which will provide EC2 list and Read permissions to the policy holder</a:t>
            </a:r>
          </a:p>
          <a:p>
            <a:pPr marL="403954" lvl="1" indent="-403954">
              <a:lnSpc>
                <a:spcPct val="150000"/>
              </a:lnSpc>
              <a:spcBef>
                <a:spcPts val="0"/>
              </a:spcBef>
              <a:buFont typeface="+mj-lt"/>
              <a:buAutoNum type="arabicPeriod"/>
            </a:pPr>
            <a:r>
              <a:rPr lang="en-US" sz="1688" dirty="0"/>
              <a:t>While logged in as the root user, Click on IAM </a:t>
            </a:r>
            <a:r>
              <a:rPr lang="en-US" sz="1688" dirty="0">
                <a:sym typeface="Wingdings" panose="05000000000000000000" pitchFamily="2" charset="2"/>
              </a:rPr>
              <a:t> Policies</a:t>
            </a:r>
            <a:r>
              <a:rPr lang="en-US" sz="1688" dirty="0"/>
              <a:t>.</a:t>
            </a:r>
          </a:p>
          <a:p>
            <a:pPr marL="403954" lvl="1" indent="-403954">
              <a:lnSpc>
                <a:spcPct val="150000"/>
              </a:lnSpc>
              <a:spcBef>
                <a:spcPts val="0"/>
              </a:spcBef>
              <a:buFont typeface="+mj-lt"/>
              <a:buAutoNum type="arabicPeriod"/>
            </a:pPr>
            <a:r>
              <a:rPr lang="en-US" sz="1688" dirty="0"/>
              <a:t>Select S3Fullaccess policy or Click Create a policy</a:t>
            </a:r>
          </a:p>
          <a:p>
            <a:pPr marL="403954" lvl="1" indent="-403954">
              <a:lnSpc>
                <a:spcPct val="150000"/>
              </a:lnSpc>
              <a:spcBef>
                <a:spcPts val="0"/>
              </a:spcBef>
              <a:buFont typeface="+mj-lt"/>
              <a:buAutoNum type="arabicPeriod"/>
            </a:pPr>
            <a:r>
              <a:rPr lang="en-US" sz="1688" dirty="0"/>
              <a:t>Select Service, Action, Resources.</a:t>
            </a:r>
          </a:p>
          <a:p>
            <a:pPr marL="403954" lvl="1" indent="-403954">
              <a:lnSpc>
                <a:spcPct val="150000"/>
              </a:lnSpc>
              <a:spcBef>
                <a:spcPts val="0"/>
              </a:spcBef>
              <a:buFont typeface="+mj-lt"/>
              <a:buAutoNum type="arabicPeriod"/>
            </a:pPr>
            <a:r>
              <a:rPr lang="en-US" sz="1688" dirty="0"/>
              <a:t>Review Policy and click Create policy</a:t>
            </a:r>
          </a:p>
          <a:p>
            <a:pPr marL="403954" lvl="1" indent="-403954">
              <a:lnSpc>
                <a:spcPct val="150000"/>
              </a:lnSpc>
              <a:spcBef>
                <a:spcPts val="0"/>
              </a:spcBef>
              <a:buFont typeface="+mj-lt"/>
              <a:buAutoNum type="arabicPeriod"/>
            </a:pPr>
            <a:r>
              <a:rPr lang="en-US" sz="1688" dirty="0"/>
              <a:t>View your policy in search bar.</a:t>
            </a:r>
          </a:p>
          <a:p>
            <a:pPr marL="403954" lvl="1" indent="-403954">
              <a:lnSpc>
                <a:spcPct val="150000"/>
              </a:lnSpc>
              <a:spcBef>
                <a:spcPts val="0"/>
              </a:spcBef>
              <a:buFont typeface="+mj-lt"/>
              <a:buAutoNum type="arabicPeriod"/>
            </a:pPr>
            <a:r>
              <a:rPr lang="en-US" sz="1688" dirty="0"/>
              <a:t>Click on Action </a:t>
            </a:r>
            <a:r>
              <a:rPr lang="en-US" sz="1688" dirty="0">
                <a:sym typeface="Wingdings" panose="05000000000000000000" pitchFamily="2" charset="2"/>
              </a:rPr>
              <a:t> Attach, and select the New user</a:t>
            </a:r>
            <a:endParaRPr lang="en-US" sz="1688" dirty="0"/>
          </a:p>
          <a:p>
            <a:pPr marL="403954" lvl="1" indent="-403954">
              <a:lnSpc>
                <a:spcPct val="150000"/>
              </a:lnSpc>
              <a:spcBef>
                <a:spcPts val="0"/>
              </a:spcBef>
              <a:buFont typeface="+mj-lt"/>
              <a:buAutoNum type="arabicPeriod"/>
            </a:pPr>
            <a:r>
              <a:rPr lang="en-US" sz="1688" dirty="0"/>
              <a:t>Go to Users tab and see the new policy attached to user</a:t>
            </a:r>
          </a:p>
          <a:p>
            <a:pPr marL="403954" lvl="1" indent="-403954">
              <a:lnSpc>
                <a:spcPct val="150000"/>
              </a:lnSpc>
              <a:spcBef>
                <a:spcPts val="0"/>
              </a:spcBef>
              <a:buFont typeface="+mj-lt"/>
              <a:buAutoNum type="arabicPeriod"/>
            </a:pPr>
            <a:r>
              <a:rPr lang="en-US" sz="1688" dirty="0"/>
              <a:t>Now try to view the s3 bucket features . Are you able to ?</a:t>
            </a:r>
          </a:p>
          <a:p>
            <a:pPr marL="403954" lvl="1" indent="-403954">
              <a:lnSpc>
                <a:spcPct val="150000"/>
              </a:lnSpc>
              <a:spcBef>
                <a:spcPts val="0"/>
              </a:spcBef>
              <a:buFont typeface="+mj-lt"/>
              <a:buAutoNum type="arabicPeriod"/>
            </a:pPr>
            <a:r>
              <a:rPr lang="en-US" sz="1688" dirty="0"/>
              <a:t>Remove the policy .</a:t>
            </a:r>
          </a:p>
          <a:p>
            <a:pPr marL="403954" lvl="1" indent="-403954">
              <a:lnSpc>
                <a:spcPct val="150000"/>
              </a:lnSpc>
              <a:spcBef>
                <a:spcPts val="0"/>
              </a:spcBef>
              <a:buFont typeface="+mj-lt"/>
              <a:buAutoNum type="arabicPeriod"/>
            </a:pPr>
            <a:r>
              <a:rPr lang="en-US" sz="1688" dirty="0"/>
              <a:t>Create a policy and then try to attach it to user.</a:t>
            </a:r>
          </a:p>
        </p:txBody>
      </p:sp>
      <p:pic>
        <p:nvPicPr>
          <p:cNvPr id="4" name="Picture 3">
            <a:extLst>
              <a:ext uri="{FF2B5EF4-FFF2-40B4-BE49-F238E27FC236}">
                <a16:creationId xmlns:a16="http://schemas.microsoft.com/office/drawing/2014/main" id="{49829C6F-E327-F6EF-8424-523DF8AAE255}"/>
              </a:ext>
            </a:extLst>
          </p:cNvPr>
          <p:cNvPicPr>
            <a:picLocks noChangeAspect="1"/>
          </p:cNvPicPr>
          <p:nvPr/>
        </p:nvPicPr>
        <p:blipFill>
          <a:blip r:embed="rId2"/>
          <a:stretch>
            <a:fillRect/>
          </a:stretch>
        </p:blipFill>
        <p:spPr>
          <a:xfrm>
            <a:off x="10728202" y="0"/>
            <a:ext cx="633697" cy="1213049"/>
          </a:xfrm>
          <a:prstGeom prst="rect">
            <a:avLst/>
          </a:prstGeom>
        </p:spPr>
      </p:pic>
    </p:spTree>
    <p:extLst>
      <p:ext uri="{BB962C8B-B14F-4D97-AF65-F5344CB8AC3E}">
        <p14:creationId xmlns:p14="http://schemas.microsoft.com/office/powerpoint/2010/main" val="3457497894"/>
      </p:ext>
    </p:extLst>
  </p:cSld>
  <p:clrMapOvr>
    <a:masterClrMapping/>
  </p:clrMapOvr>
  <p:transition spd="slow">
    <p:randomBar dir="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70</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AWS Identity and Access Management (IAM) </a:t>
            </a:r>
          </a:p>
        </p:txBody>
      </p:sp>
      <p:sp>
        <p:nvSpPr>
          <p:cNvPr id="2" name="Content Placeholder 1"/>
          <p:cNvSpPr>
            <a:spLocks noGrp="1"/>
          </p:cNvSpPr>
          <p:nvPr>
            <p:ph idx="1"/>
          </p:nvPr>
        </p:nvSpPr>
        <p:spPr/>
        <p:txBody>
          <a:bodyPr>
            <a:normAutofit fontScale="92500" lnSpcReduction="20000"/>
          </a:bodyPr>
          <a:lstStyle/>
          <a:p>
            <a:endParaRPr lang="en-US" sz="2156" dirty="0"/>
          </a:p>
          <a:p>
            <a:r>
              <a:rPr lang="en-US" sz="2156" dirty="0"/>
              <a:t>Delete AWS account (root) access keys. </a:t>
            </a:r>
          </a:p>
          <a:p>
            <a:pPr marL="129263" indent="0">
              <a:buNone/>
            </a:pPr>
            <a:endParaRPr lang="en-US" sz="2156" dirty="0"/>
          </a:p>
          <a:p>
            <a:r>
              <a:rPr lang="en-US" sz="2156" dirty="0"/>
              <a:t>Create individual IAM users. </a:t>
            </a:r>
          </a:p>
          <a:p>
            <a:pPr marL="129263" indent="0">
              <a:buNone/>
            </a:pPr>
            <a:endParaRPr lang="en-US" sz="2156" dirty="0"/>
          </a:p>
          <a:p>
            <a:r>
              <a:rPr lang="en-US" sz="2156" dirty="0"/>
              <a:t>Use groups to assign permissions to IAM users. </a:t>
            </a:r>
          </a:p>
          <a:p>
            <a:pPr marL="129263" indent="0">
              <a:buNone/>
            </a:pPr>
            <a:endParaRPr lang="en-US" sz="2156" dirty="0"/>
          </a:p>
          <a:p>
            <a:r>
              <a:rPr lang="en-US" sz="2156" dirty="0"/>
              <a:t>Grant least privilege. </a:t>
            </a:r>
          </a:p>
          <a:p>
            <a:pPr marL="129263" indent="0">
              <a:buNone/>
            </a:pPr>
            <a:endParaRPr lang="en-US" sz="2156" dirty="0"/>
          </a:p>
          <a:p>
            <a:r>
              <a:rPr lang="en-US" sz="2156" dirty="0"/>
              <a:t>Configure a strong password policy. </a:t>
            </a:r>
          </a:p>
          <a:p>
            <a:pPr marL="129263" indent="0">
              <a:buNone/>
            </a:pPr>
            <a:endParaRPr lang="en-US" sz="2156" dirty="0"/>
          </a:p>
          <a:p>
            <a:r>
              <a:rPr lang="en-US" sz="2156" dirty="0"/>
              <a:t>Enable MFA for privileged users.</a:t>
            </a:r>
          </a:p>
        </p:txBody>
      </p:sp>
      <p:pic>
        <p:nvPicPr>
          <p:cNvPr id="6" name="Picture 5">
            <a:extLst>
              <a:ext uri="{FF2B5EF4-FFF2-40B4-BE49-F238E27FC236}">
                <a16:creationId xmlns:a16="http://schemas.microsoft.com/office/drawing/2014/main" id="{9050826B-3BEA-EAEA-50DD-84A24F8A6018}"/>
              </a:ext>
            </a:extLst>
          </p:cNvPr>
          <p:cNvPicPr>
            <a:picLocks noChangeAspect="1"/>
          </p:cNvPicPr>
          <p:nvPr/>
        </p:nvPicPr>
        <p:blipFill>
          <a:blip r:embed="rId2"/>
          <a:stretch>
            <a:fillRect/>
          </a:stretch>
        </p:blipFill>
        <p:spPr>
          <a:xfrm>
            <a:off x="11137777" y="9525"/>
            <a:ext cx="633697" cy="1213049"/>
          </a:xfrm>
          <a:prstGeom prst="rect">
            <a:avLst/>
          </a:prstGeom>
        </p:spPr>
      </p:pic>
    </p:spTree>
    <p:extLst>
      <p:ext uri="{BB962C8B-B14F-4D97-AF65-F5344CB8AC3E}">
        <p14:creationId xmlns:p14="http://schemas.microsoft.com/office/powerpoint/2010/main" val="293375258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1000"/>
                                        <p:tgtEl>
                                          <p:spTgt spid="2">
                                            <p:txEl>
                                              <p:pRg st="5" end="5"/>
                                            </p:txEl>
                                          </p:spTgt>
                                        </p:tgtEl>
                                      </p:cBhvr>
                                    </p:animEffect>
                                    <p:anim calcmode="lin" valueType="num">
                                      <p:cBhvr>
                                        <p:cTn id="1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fade">
                                      <p:cBhvr>
                                        <p:cTn id="22" dur="1000"/>
                                        <p:tgtEl>
                                          <p:spTgt spid="2">
                                            <p:txEl>
                                              <p:pRg st="7" end="7"/>
                                            </p:txEl>
                                          </p:spTgt>
                                        </p:tgtEl>
                                      </p:cBhvr>
                                    </p:animEffect>
                                    <p:anim calcmode="lin" valueType="num">
                                      <p:cBhvr>
                                        <p:cTn id="23"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animEffect transition="in" filter="fade">
                                      <p:cBhvr>
                                        <p:cTn id="27" dur="1000"/>
                                        <p:tgtEl>
                                          <p:spTgt spid="2">
                                            <p:txEl>
                                              <p:pRg st="9" end="9"/>
                                            </p:txEl>
                                          </p:spTgt>
                                        </p:tgtEl>
                                      </p:cBhvr>
                                    </p:animEffect>
                                    <p:anim calcmode="lin" valueType="num">
                                      <p:cBhvr>
                                        <p:cTn id="2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9" end="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xEl>
                                              <p:pRg st="11" end="11"/>
                                            </p:txEl>
                                          </p:spTgt>
                                        </p:tgtEl>
                                        <p:attrNameLst>
                                          <p:attrName>style.visibility</p:attrName>
                                        </p:attrNameLst>
                                      </p:cBhvr>
                                      <p:to>
                                        <p:strVal val="visible"/>
                                      </p:to>
                                    </p:set>
                                    <p:animEffect transition="in" filter="fade">
                                      <p:cBhvr>
                                        <p:cTn id="32" dur="1000"/>
                                        <p:tgtEl>
                                          <p:spTgt spid="2">
                                            <p:txEl>
                                              <p:pRg st="11" end="11"/>
                                            </p:txEl>
                                          </p:spTgt>
                                        </p:tgtEl>
                                      </p:cBhvr>
                                    </p:animEffect>
                                    <p:anim calcmode="lin" valueType="num">
                                      <p:cBhvr>
                                        <p:cTn id="33"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34"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Amazon RDS: Managed Relational Databases</a:t>
            </a:r>
            <a:endParaRPr lang="en-GB" dirty="0"/>
          </a:p>
        </p:txBody>
      </p:sp>
    </p:spTree>
    <p:extLst>
      <p:ext uri="{BB962C8B-B14F-4D97-AF65-F5344CB8AC3E}">
        <p14:creationId xmlns:p14="http://schemas.microsoft.com/office/powerpoint/2010/main" val="1768805199"/>
      </p:ext>
    </p:extLst>
  </p:cSld>
  <p:clrMapOvr>
    <a:masterClrMapping/>
  </p:clrMapOvr>
  <p:transition spd="slow">
    <p:randomBar dir="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72</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What Is Data ?</a:t>
            </a:r>
          </a:p>
        </p:txBody>
      </p:sp>
      <p:sp>
        <p:nvSpPr>
          <p:cNvPr id="12" name="TextBox 11">
            <a:extLst>
              <a:ext uri="{FF2B5EF4-FFF2-40B4-BE49-F238E27FC236}">
                <a16:creationId xmlns:a16="http://schemas.microsoft.com/office/drawing/2014/main" id="{67723DC9-E7EF-A6F5-25E2-61510236C669}"/>
              </a:ext>
            </a:extLst>
          </p:cNvPr>
          <p:cNvSpPr txBox="1"/>
          <p:nvPr/>
        </p:nvSpPr>
        <p:spPr>
          <a:xfrm>
            <a:off x="444500" y="1840692"/>
            <a:ext cx="10668000" cy="1289071"/>
          </a:xfrm>
          <a:prstGeom prst="rect">
            <a:avLst/>
          </a:prstGeom>
          <a:noFill/>
        </p:spPr>
        <p:txBody>
          <a:bodyPr wrap="square">
            <a:spAutoFit/>
          </a:bodyPr>
          <a:lstStyle/>
          <a:p>
            <a:pPr>
              <a:lnSpc>
                <a:spcPct val="150000"/>
              </a:lnSpc>
            </a:pPr>
            <a:r>
              <a:rPr lang="en-US" dirty="0">
                <a:solidFill>
                  <a:schemeClr val="bg1"/>
                </a:solidFill>
                <a:latin typeface="Times New Roman" panose="02020603050405020304" pitchFamily="18" charset="0"/>
                <a:cs typeface="Times New Roman" panose="02020603050405020304" pitchFamily="18" charset="0"/>
              </a:rPr>
              <a:t>Data is a collection of a distinct unit of information. This “data” is used in a variety of forms of text, numbers, media and many more. Talking in terms of computing. Data is basically information that can be translated into a particular form for efficient movement and processing.</a:t>
            </a:r>
          </a:p>
        </p:txBody>
      </p:sp>
      <p:pic>
        <p:nvPicPr>
          <p:cNvPr id="2" name="Picture 8" descr="Amazon Relational Database Service (RDS)">
            <a:extLst>
              <a:ext uri="{FF2B5EF4-FFF2-40B4-BE49-F238E27FC236}">
                <a16:creationId xmlns:a16="http://schemas.microsoft.com/office/drawing/2014/main" id="{93501521-005A-395D-6251-67AB3DFE0E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594406"/>
      </p:ext>
    </p:extLst>
  </p:cSld>
  <p:clrMapOvr>
    <a:masterClrMapping/>
  </p:clrMapOvr>
  <p:transition spd="slow">
    <p:randomBar dir="ver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73</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What Is Database ?</a:t>
            </a:r>
          </a:p>
        </p:txBody>
      </p:sp>
      <p:sp>
        <p:nvSpPr>
          <p:cNvPr id="12" name="TextBox 11">
            <a:extLst>
              <a:ext uri="{FF2B5EF4-FFF2-40B4-BE49-F238E27FC236}">
                <a16:creationId xmlns:a16="http://schemas.microsoft.com/office/drawing/2014/main" id="{67723DC9-E7EF-A6F5-25E2-61510236C669}"/>
              </a:ext>
            </a:extLst>
          </p:cNvPr>
          <p:cNvSpPr txBox="1"/>
          <p:nvPr/>
        </p:nvSpPr>
        <p:spPr>
          <a:xfrm>
            <a:off x="444500" y="1840692"/>
            <a:ext cx="10668000" cy="1289071"/>
          </a:xfrm>
          <a:prstGeom prst="rect">
            <a:avLst/>
          </a:prstGeom>
          <a:noFill/>
        </p:spPr>
        <p:txBody>
          <a:bodyPr wrap="square">
            <a:spAutoFit/>
          </a:bodyPr>
          <a:lstStyle/>
          <a:p>
            <a:pPr>
              <a:lnSpc>
                <a:spcPct val="150000"/>
              </a:lnSpc>
            </a:pPr>
            <a:r>
              <a:rPr lang="en-US" dirty="0">
                <a:solidFill>
                  <a:schemeClr val="bg1"/>
                </a:solidFill>
                <a:latin typeface="Times New Roman" panose="02020603050405020304" pitchFamily="18" charset="0"/>
                <a:cs typeface="Times New Roman" panose="02020603050405020304" pitchFamily="18" charset="0"/>
              </a:rPr>
              <a:t>The database is an organized collection of structured data to make it easily accessible, manageable and update. In simple words, you can say, a database in a place where the data is stored. The best analogy is the library. The library contains a huge collection of books of different genres, here the library is database and books are the data.</a:t>
            </a:r>
          </a:p>
        </p:txBody>
      </p:sp>
      <p:pic>
        <p:nvPicPr>
          <p:cNvPr id="2052" name="Picture 4" descr="office database&quot; Icon - Download for free – Iconduck">
            <a:extLst>
              <a:ext uri="{FF2B5EF4-FFF2-40B4-BE49-F238E27FC236}">
                <a16:creationId xmlns:a16="http://schemas.microsoft.com/office/drawing/2014/main" id="{C87F2033-7BFD-B254-2924-97FC5E33EE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8978" y="3333750"/>
            <a:ext cx="2859044" cy="29813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8" descr="Amazon Relational Database Service (RDS)">
            <a:extLst>
              <a:ext uri="{FF2B5EF4-FFF2-40B4-BE49-F238E27FC236}">
                <a16:creationId xmlns:a16="http://schemas.microsoft.com/office/drawing/2014/main" id="{4DFDB94E-2815-FA5D-0DAD-C5A04F659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016931"/>
      </p:ext>
    </p:extLst>
  </p:cSld>
  <p:clrMapOvr>
    <a:masterClrMapping/>
  </p:clrMapOvr>
  <p:transition spd="slow">
    <p:randomBar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74</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Why Are Databases Important? </a:t>
            </a:r>
          </a:p>
        </p:txBody>
      </p:sp>
      <p:sp>
        <p:nvSpPr>
          <p:cNvPr id="12" name="TextBox 11">
            <a:extLst>
              <a:ext uri="{FF2B5EF4-FFF2-40B4-BE49-F238E27FC236}">
                <a16:creationId xmlns:a16="http://schemas.microsoft.com/office/drawing/2014/main" id="{67723DC9-E7EF-A6F5-25E2-61510236C669}"/>
              </a:ext>
            </a:extLst>
          </p:cNvPr>
          <p:cNvSpPr txBox="1"/>
          <p:nvPr/>
        </p:nvSpPr>
        <p:spPr>
          <a:xfrm>
            <a:off x="584199" y="1078456"/>
            <a:ext cx="11498943" cy="4987904"/>
          </a:xfrm>
          <a:prstGeom prst="rect">
            <a:avLst/>
          </a:prstGeom>
          <a:noFill/>
        </p:spPr>
        <p:txBody>
          <a:bodyPr wrap="square">
            <a:spAutoFit/>
          </a:bodyPr>
          <a:lstStyle/>
          <a:p>
            <a:pPr algn="l">
              <a:lnSpc>
                <a:spcPct val="150000"/>
              </a:lnSpc>
            </a:pPr>
            <a:endParaRPr lang="en-US" b="0" i="0" dirty="0">
              <a:solidFill>
                <a:schemeClr val="bg1"/>
              </a:solidFill>
              <a:effectLst/>
              <a:latin typeface="Times New Roman" panose="02020603050405020304" pitchFamily="18" charset="0"/>
              <a:cs typeface="Times New Roman" panose="02020603050405020304" pitchFamily="18" charset="0"/>
            </a:endParaRPr>
          </a:p>
          <a:p>
            <a:pPr algn="l">
              <a:lnSpc>
                <a:spcPct val="150000"/>
              </a:lnSpc>
            </a:pPr>
            <a:r>
              <a:rPr lang="en-US" b="0" i="0" dirty="0">
                <a:solidFill>
                  <a:schemeClr val="bg1"/>
                </a:solidFill>
                <a:effectLst/>
                <a:latin typeface="Times New Roman" panose="02020603050405020304" pitchFamily="18" charset="0"/>
                <a:cs typeface="Times New Roman" panose="02020603050405020304" pitchFamily="18" charset="0"/>
              </a:rPr>
              <a:t>Databases are essential in various fields and industries due to their fundamental role in organizing, storing, retrieving, and managing data. Here are several reasons why databases are important:</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Organization</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Integrity and Consistency</a:t>
            </a:r>
            <a:r>
              <a:rPr lang="en-US" sz="1600" b="0" i="0" dirty="0">
                <a:solidFill>
                  <a:schemeClr val="bg1"/>
                </a:solidFill>
                <a:effectLst/>
                <a:latin typeface="Times New Roman" panose="02020603050405020304" pitchFamily="18" charset="0"/>
                <a:cs typeface="Times New Roman" panose="02020603050405020304" pitchFamily="18" charset="0"/>
              </a:rPr>
              <a:t>.</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Retrieval and Manipulation</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Improved Decision Making</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Security and Access Control</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Scalability and Performance</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Support for Transactions</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Support for Concurrent Access</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Backup and Recovery</a:t>
            </a:r>
          </a:p>
          <a:p>
            <a:pPr marL="800100" lvl="1" indent="-342900">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Regulatory Compliance</a:t>
            </a:r>
            <a:endParaRPr lang="en-US" b="0" i="0" dirty="0">
              <a:solidFill>
                <a:schemeClr val="bg1"/>
              </a:solidFill>
              <a:effectLst/>
              <a:latin typeface="Times New Roman" panose="02020603050405020304" pitchFamily="18" charset="0"/>
              <a:cs typeface="Times New Roman" panose="02020603050405020304" pitchFamily="18" charset="0"/>
            </a:endParaRPr>
          </a:p>
        </p:txBody>
      </p:sp>
      <p:pic>
        <p:nvPicPr>
          <p:cNvPr id="2" name="Picture 8" descr="Amazon Relational Database Service (RDS)">
            <a:extLst>
              <a:ext uri="{FF2B5EF4-FFF2-40B4-BE49-F238E27FC236}">
                <a16:creationId xmlns:a16="http://schemas.microsoft.com/office/drawing/2014/main" id="{1A2B3C94-D4E5-563C-14AA-CBA73D94EB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03054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75</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Types of Databases</a:t>
            </a:r>
          </a:p>
        </p:txBody>
      </p:sp>
      <p:sp>
        <p:nvSpPr>
          <p:cNvPr id="12" name="TextBox 11">
            <a:extLst>
              <a:ext uri="{FF2B5EF4-FFF2-40B4-BE49-F238E27FC236}">
                <a16:creationId xmlns:a16="http://schemas.microsoft.com/office/drawing/2014/main" id="{67723DC9-E7EF-A6F5-25E2-61510236C669}"/>
              </a:ext>
            </a:extLst>
          </p:cNvPr>
          <p:cNvSpPr txBox="1"/>
          <p:nvPr/>
        </p:nvSpPr>
        <p:spPr>
          <a:xfrm>
            <a:off x="444499" y="1336057"/>
            <a:ext cx="11638643" cy="4982390"/>
          </a:xfrm>
          <a:prstGeom prst="rect">
            <a:avLst/>
          </a:prstGeom>
          <a:noFill/>
        </p:spPr>
        <p:txBody>
          <a:bodyPr wrap="square">
            <a:spAutoFit/>
          </a:bodyPr>
          <a:lstStyle/>
          <a:p>
            <a:pPr algn="l">
              <a:lnSpc>
                <a:spcPct val="150000"/>
              </a:lnSpc>
            </a:pPr>
            <a:r>
              <a:rPr lang="en-US" sz="1600" b="0" i="0" dirty="0">
                <a:solidFill>
                  <a:schemeClr val="bg1"/>
                </a:solidFill>
                <a:effectLst/>
                <a:latin typeface="Times New Roman" panose="02020603050405020304" pitchFamily="18" charset="0"/>
                <a:cs typeface="Times New Roman" panose="02020603050405020304" pitchFamily="18" charset="0"/>
              </a:rPr>
              <a:t>Databases can be categorized into various types based on their data model, structure, and usage. Some of the common types of databases include:</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Relational Databases (RDBMS)</a:t>
            </a:r>
            <a:r>
              <a:rPr lang="en-US" sz="1600" b="0" i="0" dirty="0">
                <a:solidFill>
                  <a:schemeClr val="bg1"/>
                </a:solidFill>
                <a:effectLst/>
                <a:latin typeface="Times New Roman" panose="02020603050405020304" pitchFamily="18" charset="0"/>
                <a:cs typeface="Times New Roman" panose="02020603050405020304" pitchFamily="18" charset="0"/>
              </a:rPr>
              <a:t>:</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Structured Query Language (SQL) is used to manage data in tables with predefined schemas.</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Examples: MySQL, PostgreSQL, Oracle, SQL Server, SQLite.</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NoSQL Databases</a:t>
            </a:r>
            <a:r>
              <a:rPr lang="en-US" sz="1600" b="0" i="0" dirty="0">
                <a:solidFill>
                  <a:schemeClr val="bg1"/>
                </a:solidFill>
                <a:effectLst/>
                <a:latin typeface="Times New Roman" panose="02020603050405020304" pitchFamily="18" charset="0"/>
                <a:cs typeface="Times New Roman" panose="02020603050405020304" pitchFamily="18" charset="0"/>
              </a:rPr>
              <a:t>:</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These databases handle unstructured or semi-structured data and offer more flexible schemas.</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Types include document-oriented, key-value stores, column-oriented, and graph databases.</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Examples: MongoDB (document-based), Redis (key-value), Cassandra (column-oriented), Neo4j (graph).</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Object-Oriented Databases</a:t>
            </a:r>
            <a:r>
              <a:rPr lang="en-US" sz="1600" b="0" i="0" dirty="0">
                <a:solidFill>
                  <a:schemeClr val="bg1"/>
                </a:solidFill>
                <a:effectLst/>
                <a:latin typeface="Times New Roman" panose="02020603050405020304" pitchFamily="18" charset="0"/>
                <a:cs typeface="Times New Roman" panose="02020603050405020304" pitchFamily="18" charset="0"/>
              </a:rPr>
              <a:t>:</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Store data in the form of objects similar to those used in object-oriented programming.</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They support complex data types and relationships directly.</a:t>
            </a:r>
          </a:p>
          <a:p>
            <a:pPr marL="742950" lvl="1" indent="-285750" algn="l">
              <a:lnSpc>
                <a:spcPct val="150000"/>
              </a:lnSpc>
              <a:buFont typeface="+mj-lt"/>
              <a:buAutoNum type="arabicPeriod"/>
            </a:pPr>
            <a:r>
              <a:rPr lang="en-US" sz="1600" b="0" i="0" dirty="0">
                <a:solidFill>
                  <a:schemeClr val="bg1"/>
                </a:solidFill>
                <a:effectLst/>
                <a:latin typeface="Times New Roman" panose="02020603050405020304" pitchFamily="18" charset="0"/>
                <a:cs typeface="Times New Roman" panose="02020603050405020304" pitchFamily="18" charset="0"/>
              </a:rPr>
              <a:t>Examples: </a:t>
            </a:r>
            <a:r>
              <a:rPr lang="en-US" sz="1600" b="0" i="0" dirty="0" err="1">
                <a:solidFill>
                  <a:schemeClr val="bg1"/>
                </a:solidFill>
                <a:effectLst/>
                <a:latin typeface="Times New Roman" panose="02020603050405020304" pitchFamily="18" charset="0"/>
                <a:cs typeface="Times New Roman" panose="02020603050405020304" pitchFamily="18" charset="0"/>
              </a:rPr>
              <a:t>ObjectDB</a:t>
            </a:r>
            <a:r>
              <a:rPr lang="en-US" sz="1600" b="0" i="0" dirty="0">
                <a:solidFill>
                  <a:schemeClr val="bg1"/>
                </a:solidFill>
                <a:effectLst/>
                <a:latin typeface="Times New Roman" panose="02020603050405020304" pitchFamily="18" charset="0"/>
                <a:cs typeface="Times New Roman" panose="02020603050405020304" pitchFamily="18" charset="0"/>
              </a:rPr>
              <a:t>, db4o.</a:t>
            </a:r>
          </a:p>
        </p:txBody>
      </p:sp>
      <p:pic>
        <p:nvPicPr>
          <p:cNvPr id="2" name="Picture 8" descr="Amazon Relational Database Service (RDS)">
            <a:extLst>
              <a:ext uri="{FF2B5EF4-FFF2-40B4-BE49-F238E27FC236}">
                <a16:creationId xmlns:a16="http://schemas.microsoft.com/office/drawing/2014/main" id="{813763E2-E180-F3FA-C4E5-E0EAE7F77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91407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76</a:t>
            </a:fld>
            <a:endParaRPr lang="en-US">
              <a:solidFill>
                <a:prstClr val="black">
                  <a:tint val="75000"/>
                </a:prstClr>
              </a:solidFill>
            </a:endParaRPr>
          </a:p>
        </p:txBody>
      </p:sp>
      <p:sp>
        <p:nvSpPr>
          <p:cNvPr id="5" name="Title 4"/>
          <p:cNvSpPr>
            <a:spLocks noGrp="1"/>
          </p:cNvSpPr>
          <p:nvPr>
            <p:ph type="title"/>
          </p:nvPr>
        </p:nvSpPr>
        <p:spPr>
          <a:xfrm>
            <a:off x="38100" y="643812"/>
            <a:ext cx="7379737" cy="535531"/>
          </a:xfrm>
        </p:spPr>
        <p:txBody>
          <a:bodyPr>
            <a:noAutofit/>
          </a:bodyPr>
          <a:lstStyle/>
          <a:p>
            <a:r>
              <a:rPr lang="en-US" sz="4219" dirty="0"/>
              <a:t>Cloud vs Traditional Database</a:t>
            </a:r>
          </a:p>
        </p:txBody>
      </p:sp>
      <p:pic>
        <p:nvPicPr>
          <p:cNvPr id="1026" name="Picture 2" descr="Cloud-Database-vs-Traditional-Database">
            <a:extLst>
              <a:ext uri="{FF2B5EF4-FFF2-40B4-BE49-F238E27FC236}">
                <a16:creationId xmlns:a16="http://schemas.microsoft.com/office/drawing/2014/main" id="{5D33D596-2268-7765-5B74-CC4C7E29F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12046"/>
            <a:ext cx="12192000" cy="49021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020AD66-EC5A-A8DA-99DB-5063F092D733}"/>
              </a:ext>
            </a:extLst>
          </p:cNvPr>
          <p:cNvPicPr>
            <a:picLocks noChangeAspect="1"/>
          </p:cNvPicPr>
          <p:nvPr/>
        </p:nvPicPr>
        <p:blipFill>
          <a:blip r:embed="rId3"/>
          <a:stretch>
            <a:fillRect/>
          </a:stretch>
        </p:blipFill>
        <p:spPr>
          <a:xfrm>
            <a:off x="5065837" y="3286268"/>
            <a:ext cx="2352000" cy="1898749"/>
          </a:xfrm>
          <a:prstGeom prst="rect">
            <a:avLst/>
          </a:prstGeom>
        </p:spPr>
      </p:pic>
      <p:pic>
        <p:nvPicPr>
          <p:cNvPr id="7" name="Picture 8" descr="Amazon Relational Database Service (RDS)">
            <a:extLst>
              <a:ext uri="{FF2B5EF4-FFF2-40B4-BE49-F238E27FC236}">
                <a16:creationId xmlns:a16="http://schemas.microsoft.com/office/drawing/2014/main" id="{65EBF483-CDE3-2B79-71AD-1FA2AAB318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141540"/>
      </p:ext>
    </p:extLst>
  </p:cSld>
  <p:clrMapOvr>
    <a:masterClrMapping/>
  </p:clrMapOvr>
  <p:transition spd="slow">
    <p:randomBar dir="ver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77</a:t>
            </a:fld>
            <a:endParaRPr lang="en-US">
              <a:solidFill>
                <a:prstClr val="black">
                  <a:tint val="75000"/>
                </a:prstClr>
              </a:solidFill>
            </a:endParaRPr>
          </a:p>
        </p:txBody>
      </p:sp>
      <p:sp>
        <p:nvSpPr>
          <p:cNvPr id="5" name="Title 4"/>
          <p:cNvSpPr>
            <a:spLocks noGrp="1"/>
          </p:cNvSpPr>
          <p:nvPr>
            <p:ph type="title"/>
          </p:nvPr>
        </p:nvSpPr>
        <p:spPr>
          <a:xfrm>
            <a:off x="38100" y="547422"/>
            <a:ext cx="11214100" cy="535531"/>
          </a:xfrm>
        </p:spPr>
        <p:txBody>
          <a:bodyPr>
            <a:noAutofit/>
          </a:bodyPr>
          <a:lstStyle/>
          <a:p>
            <a:r>
              <a:rPr lang="en-US" sz="4219" dirty="0"/>
              <a:t>Cloud vs Traditional Database</a:t>
            </a:r>
          </a:p>
        </p:txBody>
      </p:sp>
      <p:graphicFrame>
        <p:nvGraphicFramePr>
          <p:cNvPr id="2" name="Table 1">
            <a:extLst>
              <a:ext uri="{FF2B5EF4-FFF2-40B4-BE49-F238E27FC236}">
                <a16:creationId xmlns:a16="http://schemas.microsoft.com/office/drawing/2014/main" id="{65FD8547-CB95-C44D-766D-47C330B36DE8}"/>
              </a:ext>
            </a:extLst>
          </p:cNvPr>
          <p:cNvGraphicFramePr>
            <a:graphicFrameLocks noGrp="1"/>
          </p:cNvGraphicFramePr>
          <p:nvPr>
            <p:extLst>
              <p:ext uri="{D42A27DB-BD31-4B8C-83A1-F6EECF244321}">
                <p14:modId xmlns:p14="http://schemas.microsoft.com/office/powerpoint/2010/main" val="2459921527"/>
              </p:ext>
            </p:extLst>
          </p:nvPr>
        </p:nvGraphicFramePr>
        <p:xfrm>
          <a:off x="0" y="1315938"/>
          <a:ext cx="12192001" cy="5597247"/>
        </p:xfrm>
        <a:graphic>
          <a:graphicData uri="http://schemas.openxmlformats.org/drawingml/2006/table">
            <a:tbl>
              <a:tblPr firstRow="1" bandRow="1">
                <a:tableStyleId>{5C22544A-7EE6-4342-B048-85BDC9FD1C3A}</a:tableStyleId>
              </a:tblPr>
              <a:tblGrid>
                <a:gridCol w="1325762">
                  <a:extLst>
                    <a:ext uri="{9D8B030D-6E8A-4147-A177-3AD203B41FA5}">
                      <a16:colId xmlns:a16="http://schemas.microsoft.com/office/drawing/2014/main" val="913194896"/>
                    </a:ext>
                  </a:extLst>
                </a:gridCol>
                <a:gridCol w="5030376">
                  <a:extLst>
                    <a:ext uri="{9D8B030D-6E8A-4147-A177-3AD203B41FA5}">
                      <a16:colId xmlns:a16="http://schemas.microsoft.com/office/drawing/2014/main" val="1804215611"/>
                    </a:ext>
                  </a:extLst>
                </a:gridCol>
                <a:gridCol w="5835863">
                  <a:extLst>
                    <a:ext uri="{9D8B030D-6E8A-4147-A177-3AD203B41FA5}">
                      <a16:colId xmlns:a16="http://schemas.microsoft.com/office/drawing/2014/main" val="1522863161"/>
                    </a:ext>
                  </a:extLst>
                </a:gridCol>
              </a:tblGrid>
              <a:tr h="565256">
                <a:tc>
                  <a:txBody>
                    <a:bodyPr/>
                    <a:lstStyle/>
                    <a:p>
                      <a:r>
                        <a:rPr lang="en-US" sz="1400" dirty="0">
                          <a:latin typeface="Times New Roman" panose="02020603050405020304" pitchFamily="18" charset="0"/>
                          <a:cs typeface="Times New Roman" panose="02020603050405020304" pitchFamily="18" charset="0"/>
                        </a:rPr>
                        <a:t>Parameter </a:t>
                      </a:r>
                    </a:p>
                  </a:txBody>
                  <a:tcPr/>
                </a:tc>
                <a:tc>
                  <a:txBody>
                    <a:bodyPr/>
                    <a:lstStyle/>
                    <a:p>
                      <a:r>
                        <a:rPr lang="en-US" sz="1400" dirty="0">
                          <a:latin typeface="Times New Roman" panose="02020603050405020304" pitchFamily="18" charset="0"/>
                          <a:cs typeface="Times New Roman" panose="02020603050405020304" pitchFamily="18" charset="0"/>
                        </a:rPr>
                        <a:t>Cloud Database </a:t>
                      </a:r>
                    </a:p>
                  </a:txBody>
                  <a:tcPr/>
                </a:tc>
                <a:tc>
                  <a:txBody>
                    <a:bodyPr/>
                    <a:lstStyle/>
                    <a:p>
                      <a:r>
                        <a:rPr lang="en-US" sz="1400" dirty="0">
                          <a:latin typeface="Times New Roman" panose="02020603050405020304" pitchFamily="18" charset="0"/>
                          <a:cs typeface="Times New Roman" panose="02020603050405020304" pitchFamily="18" charset="0"/>
                        </a:rPr>
                        <a:t>Traditional Database</a:t>
                      </a:r>
                    </a:p>
                  </a:txBody>
                  <a:tcPr/>
                </a:tc>
                <a:extLst>
                  <a:ext uri="{0D108BD9-81ED-4DB2-BD59-A6C34878D82A}">
                    <a16:rowId xmlns:a16="http://schemas.microsoft.com/office/drawing/2014/main" val="2937465694"/>
                  </a:ext>
                </a:extLst>
              </a:tr>
              <a:tr h="769258">
                <a:tc>
                  <a:txBody>
                    <a:bodyPr/>
                    <a:lstStyle/>
                    <a:p>
                      <a:pPr algn="just"/>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Deployment</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Cloud databases are hosted and managed by cloud service providers (CSPs) on their infrastructure, accessible over the internet.</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Traditional databases are installed and maintained on-premises or within an organization's local infrastructure.</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495952"/>
                  </a:ext>
                </a:extLst>
              </a:tr>
              <a:tr h="565256">
                <a:tc>
                  <a:txBody>
                    <a:bodyPr/>
                    <a:lstStyle/>
                    <a:p>
                      <a:pPr algn="just"/>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Architecture</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Utilizes distributed computing and virtualization technologies, enabling scalability and fault tolerance.</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Often based on a client-server model where the database server manages and stores the data, and clients access it via a network.</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64841814"/>
                  </a:ext>
                </a:extLst>
              </a:tr>
              <a:tr h="824447">
                <a:tc>
                  <a:txBody>
                    <a:bodyPr/>
                    <a:lstStyle/>
                    <a:p>
                      <a:pPr algn="just"/>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Hardware &amp; Scalability</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Cloud databases are inherently scalable, allowing easy horizontal or vertical scaling based on demand without significant downtime.</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Scaling usually requires hardware upgrades or additional servers, which may involve downtime and higher costs.</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7202913"/>
                  </a:ext>
                </a:extLst>
              </a:tr>
              <a:tr h="769258">
                <a:tc>
                  <a:txBody>
                    <a:bodyPr/>
                    <a:lstStyle/>
                    <a:p>
                      <a:pPr algn="just"/>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Management &amp; Maintenance</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CSPs handle most maintenance tasks like updates, backups, security, and infrastructure management, reducing the burden on users.</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Organizations are responsible for managing database servers, updates, backups, security, and ensuring high availability.</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0297429"/>
                  </a:ext>
                </a:extLst>
              </a:tr>
              <a:tr h="769258">
                <a:tc>
                  <a:txBody>
                    <a:bodyPr/>
                    <a:lstStyle/>
                    <a:p>
                      <a:pPr algn="just"/>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Cost Structure</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Follows a pay-as-you-go or subscription-based model, where users pay for usage, storage, and additional features. No upfront hardware costs.</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Initial setup costs for hardware, software licenses, and ongoing maintenance expenses are directly borne by the organization.</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57151552"/>
                  </a:ext>
                </a:extLst>
              </a:tr>
              <a:tr h="565256">
                <a:tc>
                  <a:txBody>
                    <a:bodyPr/>
                    <a:lstStyle/>
                    <a:p>
                      <a:pPr algn="just"/>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Control</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Full control over Database </a:t>
                      </a: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Offers full control and customization over the infrastructure and database configuration.</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1890178"/>
                  </a:ext>
                </a:extLst>
              </a:tr>
              <a:tr h="769258">
                <a:tc>
                  <a:txBody>
                    <a:bodyPr/>
                    <a:lstStyle/>
                    <a:p>
                      <a:pPr algn="just"/>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Accessibility</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Offers accessibility from anywhere with an internet connection, allowing easier collaboration and remote work.</a:t>
                      </a:r>
                      <a:endParaRPr lang="en-US" sz="1400" dirty="0">
                        <a:latin typeface="Times New Roman" panose="02020603050405020304" pitchFamily="18" charset="0"/>
                        <a:cs typeface="Times New Roman" panose="02020603050405020304" pitchFamily="18" charset="0"/>
                      </a:endParaRPr>
                    </a:p>
                  </a:txBody>
                  <a:tcPr/>
                </a:tc>
                <a:tc>
                  <a:txBody>
                    <a:bodyPr/>
                    <a:lstStyle/>
                    <a:p>
                      <a:pPr algn="just"/>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Access is typically restricted to the local network, requiring VPN or specific configurations for remote access.</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0826022"/>
                  </a:ext>
                </a:extLst>
              </a:tr>
            </a:tbl>
          </a:graphicData>
        </a:graphic>
      </p:graphicFrame>
      <p:pic>
        <p:nvPicPr>
          <p:cNvPr id="7" name="Picture 8" descr="Amazon Relational Database Service (RDS)">
            <a:extLst>
              <a:ext uri="{FF2B5EF4-FFF2-40B4-BE49-F238E27FC236}">
                <a16:creationId xmlns:a16="http://schemas.microsoft.com/office/drawing/2014/main" id="{A40A6E5A-873E-E197-F4ED-EBFAB47BE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51304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78</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What is Amazon RDS?</a:t>
            </a:r>
          </a:p>
        </p:txBody>
      </p:sp>
      <p:sp>
        <p:nvSpPr>
          <p:cNvPr id="6" name="TextBox 5">
            <a:extLst>
              <a:ext uri="{FF2B5EF4-FFF2-40B4-BE49-F238E27FC236}">
                <a16:creationId xmlns:a16="http://schemas.microsoft.com/office/drawing/2014/main" id="{113BF7D8-9FF9-D3F1-E9B1-F75F345738F3}"/>
              </a:ext>
            </a:extLst>
          </p:cNvPr>
          <p:cNvSpPr txBox="1"/>
          <p:nvPr/>
        </p:nvSpPr>
        <p:spPr>
          <a:xfrm>
            <a:off x="660141" y="1942438"/>
            <a:ext cx="11367017" cy="336656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Amazon RDS is a </a:t>
            </a:r>
            <a:r>
              <a:rPr lang="en-US" b="1" i="0" dirty="0">
                <a:solidFill>
                  <a:schemeClr val="bg1"/>
                </a:solidFill>
                <a:effectLst/>
                <a:latin typeface="Times New Roman" panose="02020603050405020304" pitchFamily="18" charset="0"/>
                <a:cs typeface="Times New Roman" panose="02020603050405020304" pitchFamily="18" charset="0"/>
              </a:rPr>
              <a:t>Relational Database Service</a:t>
            </a:r>
            <a:r>
              <a:rPr lang="en-US" b="0" i="0" dirty="0">
                <a:solidFill>
                  <a:schemeClr val="bg1"/>
                </a:solidFill>
                <a:effectLst/>
                <a:latin typeface="Times New Roman" panose="02020603050405020304" pitchFamily="18" charset="0"/>
                <a:cs typeface="Times New Roman" panose="02020603050405020304" pitchFamily="18" charset="0"/>
              </a:rPr>
              <a:t> by Amazon Web Services.</a:t>
            </a:r>
          </a:p>
          <a:p>
            <a:pPr marL="285750" indent="-285750" algn="just">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 A relational database is a type of database that stores data in tables with rows and columns.</a:t>
            </a:r>
          </a:p>
          <a:p>
            <a:pPr marL="285750" indent="-285750" algn="just">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 Amazon RDS provides an industry-standard relational database that is cost-efficient with resizable capacity. </a:t>
            </a:r>
          </a:p>
          <a:p>
            <a:pPr marL="285750" indent="-285750" algn="just">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 It gives users solutions for easier setup, operation, and scale of a relational database in the cloud.</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Amazon RDS is a service that simplifies the setup, operations, and scaling of a relational database on AWS. </a:t>
            </a:r>
          </a:p>
          <a:p>
            <a:pPr marL="285750" indent="-285750" algn="just">
              <a:lnSpc>
                <a:spcPct val="15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With Amazon RDS, you can spend more time focusing on the application and the schema and let Amazon RDS offload</a:t>
            </a:r>
          </a:p>
          <a:p>
            <a:pPr marL="285750" indent="-285750" algn="just">
              <a:lnSpc>
                <a:spcPct val="150000"/>
              </a:lnSpc>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common tasks like backups, patching, scaling, and replication.</a:t>
            </a:r>
          </a:p>
          <a:p>
            <a:pPr algn="just">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p:txBody>
      </p:sp>
      <p:pic>
        <p:nvPicPr>
          <p:cNvPr id="2056" name="Picture 8" descr="Amazon Relational Database Service (RDS)">
            <a:extLst>
              <a:ext uri="{FF2B5EF4-FFF2-40B4-BE49-F238E27FC236}">
                <a16:creationId xmlns:a16="http://schemas.microsoft.com/office/drawing/2014/main" id="{5664FA7E-5E7E-42ED-C454-E7D33C810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38417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79</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Benefits of Amazon RDS</a:t>
            </a:r>
          </a:p>
        </p:txBody>
      </p:sp>
      <p:pic>
        <p:nvPicPr>
          <p:cNvPr id="2056" name="Picture 8" descr="Amazon Relational Database Service (RDS)">
            <a:extLst>
              <a:ext uri="{FF2B5EF4-FFF2-40B4-BE49-F238E27FC236}">
                <a16:creationId xmlns:a16="http://schemas.microsoft.com/office/drawing/2014/main" id="{5664FA7E-5E7E-42ED-C454-E7D33C810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benfits of RDS - what is amazon rds">
            <a:extLst>
              <a:ext uri="{FF2B5EF4-FFF2-40B4-BE49-F238E27FC236}">
                <a16:creationId xmlns:a16="http://schemas.microsoft.com/office/drawing/2014/main" id="{825D2356-6F80-B780-CD50-E108B5988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480" y="2247494"/>
            <a:ext cx="8130333" cy="26098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26E47B6-09C0-1C7E-A31F-F3ED7BCB231D}"/>
              </a:ext>
            </a:extLst>
          </p:cNvPr>
          <p:cNvPicPr>
            <a:picLocks noChangeAspect="1"/>
          </p:cNvPicPr>
          <p:nvPr/>
        </p:nvPicPr>
        <p:blipFill>
          <a:blip r:embed="rId4"/>
          <a:stretch>
            <a:fillRect/>
          </a:stretch>
        </p:blipFill>
        <p:spPr>
          <a:xfrm>
            <a:off x="8546155" y="2502540"/>
            <a:ext cx="1195945" cy="606490"/>
          </a:xfrm>
          <a:prstGeom prst="rect">
            <a:avLst/>
          </a:prstGeom>
        </p:spPr>
      </p:pic>
      <p:pic>
        <p:nvPicPr>
          <p:cNvPr id="8" name="Picture 7">
            <a:extLst>
              <a:ext uri="{FF2B5EF4-FFF2-40B4-BE49-F238E27FC236}">
                <a16:creationId xmlns:a16="http://schemas.microsoft.com/office/drawing/2014/main" id="{3F215E0E-63A8-6CE6-8078-C267958EA258}"/>
              </a:ext>
            </a:extLst>
          </p:cNvPr>
          <p:cNvPicPr>
            <a:picLocks noChangeAspect="1"/>
          </p:cNvPicPr>
          <p:nvPr/>
        </p:nvPicPr>
        <p:blipFill>
          <a:blip r:embed="rId4"/>
          <a:stretch>
            <a:fillRect/>
          </a:stretch>
        </p:blipFill>
        <p:spPr>
          <a:xfrm rot="4624509">
            <a:off x="8969812" y="2545982"/>
            <a:ext cx="848374" cy="519607"/>
          </a:xfrm>
          <a:prstGeom prst="rect">
            <a:avLst/>
          </a:prstGeom>
        </p:spPr>
      </p:pic>
      <p:pic>
        <p:nvPicPr>
          <p:cNvPr id="9" name="Picture 8">
            <a:extLst>
              <a:ext uri="{FF2B5EF4-FFF2-40B4-BE49-F238E27FC236}">
                <a16:creationId xmlns:a16="http://schemas.microsoft.com/office/drawing/2014/main" id="{34C18A4B-3EE4-892B-F9EF-725A39DA2262}"/>
              </a:ext>
            </a:extLst>
          </p:cNvPr>
          <p:cNvPicPr>
            <a:picLocks noChangeAspect="1"/>
          </p:cNvPicPr>
          <p:nvPr/>
        </p:nvPicPr>
        <p:blipFill>
          <a:blip r:embed="rId4"/>
          <a:stretch>
            <a:fillRect/>
          </a:stretch>
        </p:blipFill>
        <p:spPr>
          <a:xfrm>
            <a:off x="8134650" y="2502540"/>
            <a:ext cx="731584" cy="303245"/>
          </a:xfrm>
          <a:prstGeom prst="rect">
            <a:avLst/>
          </a:prstGeom>
        </p:spPr>
      </p:pic>
    </p:spTree>
    <p:extLst>
      <p:ext uri="{BB962C8B-B14F-4D97-AF65-F5344CB8AC3E}">
        <p14:creationId xmlns:p14="http://schemas.microsoft.com/office/powerpoint/2010/main" val="3390774166"/>
      </p:ext>
    </p:extLst>
  </p:cSld>
  <p:clrMapOvr>
    <a:masterClrMapping/>
  </p:clrMapOvr>
  <p:transition spd="slow">
    <p:randomBar dir="ver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80</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AWS RDS Database Engines</a:t>
            </a:r>
          </a:p>
        </p:txBody>
      </p:sp>
      <p:sp>
        <p:nvSpPr>
          <p:cNvPr id="6" name="TextBox 5">
            <a:extLst>
              <a:ext uri="{FF2B5EF4-FFF2-40B4-BE49-F238E27FC236}">
                <a16:creationId xmlns:a16="http://schemas.microsoft.com/office/drawing/2014/main" id="{113BF7D8-9FF9-D3F1-E9B1-F75F345738F3}"/>
              </a:ext>
            </a:extLst>
          </p:cNvPr>
          <p:cNvSpPr txBox="1"/>
          <p:nvPr/>
        </p:nvSpPr>
        <p:spPr>
          <a:xfrm>
            <a:off x="660141" y="1942438"/>
            <a:ext cx="11367017" cy="873572"/>
          </a:xfrm>
          <a:prstGeom prst="rect">
            <a:avLst/>
          </a:prstGeom>
          <a:noFill/>
        </p:spPr>
        <p:txBody>
          <a:bodyPr wrap="square">
            <a:spAutoFit/>
          </a:bodyPr>
          <a:lstStyle/>
          <a:p>
            <a:pPr>
              <a:lnSpc>
                <a:spcPct val="150000"/>
              </a:lnSpc>
            </a:pPr>
            <a:r>
              <a:rPr lang="en-US" b="0" i="0" dirty="0">
                <a:solidFill>
                  <a:schemeClr val="bg1"/>
                </a:solidFill>
                <a:effectLst/>
                <a:latin typeface="Times New Roman" panose="02020603050405020304" pitchFamily="18" charset="0"/>
                <a:cs typeface="Times New Roman" panose="02020603050405020304" pitchFamily="18" charset="0"/>
              </a:rPr>
              <a:t>RDS is not a database, it’s a service that manages databases and there are six database engines which RDS provides, and they are:</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2056" name="Picture 8" descr="Amazon Relational Database Service (RDS)">
            <a:extLst>
              <a:ext uri="{FF2B5EF4-FFF2-40B4-BE49-F238E27FC236}">
                <a16:creationId xmlns:a16="http://schemas.microsoft.com/office/drawing/2014/main" id="{5664FA7E-5E7E-42ED-C454-E7D33C810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Database engine">
            <a:extLst>
              <a:ext uri="{FF2B5EF4-FFF2-40B4-BE49-F238E27FC236}">
                <a16:creationId xmlns:a16="http://schemas.microsoft.com/office/drawing/2014/main" id="{E0987223-2039-7C5A-0C69-28A1252A0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5975" y="3059974"/>
            <a:ext cx="7105650" cy="2724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A93FB23-6210-07C1-B7BD-036EDD613593}"/>
              </a:ext>
            </a:extLst>
          </p:cNvPr>
          <p:cNvPicPr>
            <a:picLocks noChangeAspect="1"/>
          </p:cNvPicPr>
          <p:nvPr/>
        </p:nvPicPr>
        <p:blipFill>
          <a:blip r:embed="rId4"/>
          <a:stretch>
            <a:fillRect/>
          </a:stretch>
        </p:blipFill>
        <p:spPr>
          <a:xfrm>
            <a:off x="8333908" y="3059974"/>
            <a:ext cx="857717" cy="840222"/>
          </a:xfrm>
          <a:prstGeom prst="rect">
            <a:avLst/>
          </a:prstGeom>
        </p:spPr>
      </p:pic>
      <p:pic>
        <p:nvPicPr>
          <p:cNvPr id="9" name="Graphic 8" descr="Database with solid fill">
            <a:extLst>
              <a:ext uri="{FF2B5EF4-FFF2-40B4-BE49-F238E27FC236}">
                <a16:creationId xmlns:a16="http://schemas.microsoft.com/office/drawing/2014/main" id="{20D00FCC-B4A1-8969-8638-51DDD50FFC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05413" y="2925145"/>
            <a:ext cx="1227839" cy="1070191"/>
          </a:xfrm>
          <a:prstGeom prst="rect">
            <a:avLst/>
          </a:prstGeom>
        </p:spPr>
      </p:pic>
    </p:spTree>
    <p:extLst>
      <p:ext uri="{BB962C8B-B14F-4D97-AF65-F5344CB8AC3E}">
        <p14:creationId xmlns:p14="http://schemas.microsoft.com/office/powerpoint/2010/main" val="1985043509"/>
      </p:ext>
    </p:extLst>
  </p:cSld>
  <p:clrMapOvr>
    <a:masterClrMapping/>
  </p:clrMapOvr>
  <p:transition spd="slow">
    <p:randomBar dir="ver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81</a:t>
            </a:fld>
            <a:endParaRPr lang="en-US"/>
          </a:p>
        </p:txBody>
      </p:sp>
      <p:sp>
        <p:nvSpPr>
          <p:cNvPr id="5" name="Title 4"/>
          <p:cNvSpPr>
            <a:spLocks noGrp="1"/>
          </p:cNvSpPr>
          <p:nvPr>
            <p:ph type="title"/>
          </p:nvPr>
        </p:nvSpPr>
        <p:spPr/>
        <p:txBody>
          <a:bodyPr>
            <a:noAutofit/>
          </a:bodyPr>
          <a:lstStyle/>
          <a:p>
            <a:r>
              <a:rPr lang="en-US" sz="4219" dirty="0"/>
              <a:t>AWS Relational Databases</a:t>
            </a:r>
          </a:p>
        </p:txBody>
      </p:sp>
      <p:sp>
        <p:nvSpPr>
          <p:cNvPr id="2" name="Content Placeholder 1"/>
          <p:cNvSpPr>
            <a:spLocks noGrp="1"/>
          </p:cNvSpPr>
          <p:nvPr>
            <p:ph idx="1"/>
          </p:nvPr>
        </p:nvSpPr>
        <p:spPr>
          <a:xfrm>
            <a:off x="695324" y="1143000"/>
            <a:ext cx="11496675" cy="4983163"/>
          </a:xfrm>
        </p:spPr>
        <p:txBody>
          <a:bodyPr>
            <a:normAutofit/>
          </a:bodyPr>
          <a:lstStyle/>
          <a:p>
            <a:pPr marL="465893" indent="-336627"/>
            <a:endParaRPr lang="en-US" sz="1600" dirty="0">
              <a:latin typeface="Times New Roman" panose="02020603050405020304" pitchFamily="18" charset="0"/>
              <a:cs typeface="Times New Roman" panose="02020603050405020304" pitchFamily="18" charset="0"/>
            </a:endParaRPr>
          </a:p>
          <a:p>
            <a:pPr marL="465893" indent="-336627">
              <a:lnSpc>
                <a:spcPct val="150000"/>
              </a:lnSpc>
            </a:pPr>
            <a:r>
              <a:rPr lang="en-US" sz="1600" dirty="0">
                <a:latin typeface="Times New Roman" panose="02020603050405020304" pitchFamily="18" charset="0"/>
                <a:cs typeface="Times New Roman" panose="02020603050405020304" pitchFamily="18" charset="0"/>
              </a:rPr>
              <a:t>With Amazon RDS, you can accelerate your development timelines and establish a consistent operating model for managing relational databases. For example, Amazon RDS makes it easy to replicate your data to increase availability, improve durability, or scale up or beyond a single database instance for read-heavy database workloads.</a:t>
            </a:r>
          </a:p>
          <a:p>
            <a:pPr marL="465893" indent="-336627">
              <a:lnSpc>
                <a:spcPct val="150000"/>
              </a:lnSpc>
            </a:pPr>
            <a:r>
              <a:rPr lang="en-US" sz="1600" dirty="0">
                <a:latin typeface="Times New Roman" panose="02020603050405020304" pitchFamily="18" charset="0"/>
                <a:cs typeface="Times New Roman" panose="02020603050405020304" pitchFamily="18" charset="0"/>
              </a:rPr>
              <a:t>With Amazon RDS, you can typically use the same tools to query, analyze, modify, and administer the database.</a:t>
            </a:r>
          </a:p>
          <a:p>
            <a:pPr marL="465893" indent="-336627">
              <a:lnSpc>
                <a:spcPct val="150000"/>
              </a:lnSpc>
            </a:pPr>
            <a:r>
              <a:rPr lang="en-US" sz="1600" dirty="0">
                <a:latin typeface="Times New Roman" panose="02020603050405020304" pitchFamily="18" charset="0"/>
                <a:cs typeface="Times New Roman" panose="02020603050405020304" pitchFamily="18" charset="0"/>
              </a:rPr>
              <a:t>The range of DB Instance classes extends from a db.t2.micro with 1 virtual CPU (vCPU) and 1 GB of memory, up to a db.r3.8xlarge with 32 vCPUs and 244 GB of memory. As your needs change over time, you can change the instance class and the balance of compute of memory, and Amazon RDS will migrate your data to a larger or smaller instance class.</a:t>
            </a:r>
          </a:p>
        </p:txBody>
      </p:sp>
      <p:pic>
        <p:nvPicPr>
          <p:cNvPr id="6" name="Picture 8" descr="Amazon Relational Database Service (RDS)">
            <a:extLst>
              <a:ext uri="{FF2B5EF4-FFF2-40B4-BE49-F238E27FC236}">
                <a16:creationId xmlns:a16="http://schemas.microsoft.com/office/drawing/2014/main" id="{D70DA556-C4BE-26F5-8012-D489AA85B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83734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82</a:t>
            </a:fld>
            <a:endParaRPr lang="en-US"/>
          </a:p>
        </p:txBody>
      </p:sp>
      <p:sp>
        <p:nvSpPr>
          <p:cNvPr id="5" name="Title 4"/>
          <p:cNvSpPr>
            <a:spLocks noGrp="1"/>
          </p:cNvSpPr>
          <p:nvPr>
            <p:ph type="title"/>
          </p:nvPr>
        </p:nvSpPr>
        <p:spPr/>
        <p:txBody>
          <a:bodyPr>
            <a:noAutofit/>
          </a:bodyPr>
          <a:lstStyle/>
          <a:p>
            <a:r>
              <a:rPr lang="en-US" sz="4219" dirty="0"/>
              <a:t>AWS Relational Databases</a:t>
            </a:r>
          </a:p>
        </p:txBody>
      </p:sp>
      <p:sp>
        <p:nvSpPr>
          <p:cNvPr id="2" name="Content Placeholder 1"/>
          <p:cNvSpPr>
            <a:spLocks noGrp="1"/>
          </p:cNvSpPr>
          <p:nvPr>
            <p:ph idx="1"/>
          </p:nvPr>
        </p:nvSpPr>
        <p:spPr>
          <a:xfrm>
            <a:off x="695325" y="1143000"/>
            <a:ext cx="10801350" cy="4983163"/>
          </a:xfrm>
        </p:spPr>
        <p:txBody>
          <a:bodyPr>
            <a:noAutofit/>
          </a:bodyPr>
          <a:lstStyle/>
          <a:p>
            <a:pPr marL="465893" indent="-336627"/>
            <a:endParaRPr lang="en-US" sz="1600" dirty="0">
              <a:latin typeface="Times New Roman" panose="02020603050405020304" pitchFamily="18" charset="0"/>
              <a:cs typeface="Times New Roman" panose="02020603050405020304" pitchFamily="18" charset="0"/>
            </a:endParaRPr>
          </a:p>
          <a:p>
            <a:pPr marL="465893" indent="-336627">
              <a:lnSpc>
                <a:spcPct val="150000"/>
              </a:lnSpc>
            </a:pPr>
            <a:r>
              <a:rPr lang="en-US" sz="1600" dirty="0">
                <a:latin typeface="Times New Roman" panose="02020603050405020304" pitchFamily="18" charset="0"/>
                <a:cs typeface="Times New Roman" panose="02020603050405020304" pitchFamily="18" charset="0"/>
              </a:rPr>
              <a:t>You can also choose to run nearly any database engine using Windows or Linux Amazon Elastic Compute Cloud (Amazon EC2) instances and manage the installation and administration yourself.</a:t>
            </a:r>
          </a:p>
          <a:p>
            <a:pPr marL="465893" indent="-336627">
              <a:lnSpc>
                <a:spcPct val="150000"/>
              </a:lnSpc>
            </a:pPr>
            <a:r>
              <a:rPr lang="en-US" sz="1600" dirty="0">
                <a:latin typeface="Times New Roman" panose="02020603050405020304" pitchFamily="18" charset="0"/>
                <a:cs typeface="Times New Roman" panose="02020603050405020304" pitchFamily="18" charset="0"/>
              </a:rPr>
              <a:t>As RDS is a managed Service (</a:t>
            </a:r>
            <a:r>
              <a:rPr lang="en-US" sz="1600" dirty="0" err="1">
                <a:latin typeface="Times New Roman" panose="02020603050405020304" pitchFamily="18" charset="0"/>
                <a:cs typeface="Times New Roman" panose="02020603050405020304" pitchFamily="18" charset="0"/>
              </a:rPr>
              <a:t>Paas</a:t>
            </a:r>
            <a:r>
              <a:rPr lang="en-US" sz="1600" dirty="0">
                <a:latin typeface="Times New Roman" panose="02020603050405020304" pitchFamily="18" charset="0"/>
                <a:cs typeface="Times New Roman" panose="02020603050405020304" pitchFamily="18" charset="0"/>
              </a:rPr>
              <a:t>), Amazon doesn't provide shell access for RDS DB instances.</a:t>
            </a:r>
          </a:p>
          <a:p>
            <a:pPr marL="465893" indent="-336627">
              <a:lnSpc>
                <a:spcPct val="150000"/>
              </a:lnSpc>
            </a:pPr>
            <a:r>
              <a:rPr lang="en-US" sz="1600" dirty="0">
                <a:latin typeface="Times New Roman" panose="02020603050405020304" pitchFamily="18" charset="0"/>
                <a:cs typeface="Times New Roman" panose="02020603050405020304" pitchFamily="18" charset="0"/>
              </a:rPr>
              <a:t>You can have automated backups performed when you need them, or manually create your own backup snapshot.</a:t>
            </a:r>
          </a:p>
          <a:p>
            <a:pPr marL="129263" indent="0">
              <a:buNone/>
            </a:pPr>
            <a:endParaRPr lang="en-US" sz="1600" dirty="0">
              <a:latin typeface="Times New Roman" panose="02020603050405020304" pitchFamily="18" charset="0"/>
              <a:cs typeface="Times New Roman" panose="02020603050405020304" pitchFamily="18" charset="0"/>
            </a:endParaRPr>
          </a:p>
          <a:p>
            <a:pPr marL="129263" indent="0">
              <a:buNone/>
            </a:pPr>
            <a:r>
              <a:rPr lang="en-US" sz="1600" b="1" dirty="0">
                <a:latin typeface="Times New Roman" panose="02020603050405020304" pitchFamily="18" charset="0"/>
                <a:cs typeface="Times New Roman" panose="02020603050405020304" pitchFamily="18" charset="0"/>
              </a:rPr>
              <a:t>Licensing:</a:t>
            </a:r>
          </a:p>
          <a:p>
            <a:pPr marL="465893" indent="-336627">
              <a:lnSpc>
                <a:spcPct val="150000"/>
              </a:lnSpc>
            </a:pPr>
            <a:r>
              <a:rPr lang="en-US" sz="1600" dirty="0">
                <a:latin typeface="Times New Roman" panose="02020603050405020304" pitchFamily="18" charset="0"/>
                <a:cs typeface="Times New Roman" panose="02020603050405020304" pitchFamily="18" charset="0"/>
              </a:rPr>
              <a:t>AWS offers two licensing models: </a:t>
            </a:r>
            <a:r>
              <a:rPr lang="en-US" sz="1600" b="1" dirty="0">
                <a:latin typeface="Times New Roman" panose="02020603050405020304" pitchFamily="18" charset="0"/>
                <a:cs typeface="Times New Roman" panose="02020603050405020304" pitchFamily="18" charset="0"/>
              </a:rPr>
              <a:t>License Included and Bring Your Own License (BYOL).</a:t>
            </a:r>
            <a:endParaRPr lang="en-US" sz="1600" dirty="0">
              <a:latin typeface="Times New Roman" panose="02020603050405020304" pitchFamily="18" charset="0"/>
              <a:cs typeface="Times New Roman" panose="02020603050405020304" pitchFamily="18" charset="0"/>
            </a:endParaRPr>
          </a:p>
          <a:p>
            <a:pPr marL="465893" indent="-336627">
              <a:lnSpc>
                <a:spcPct val="150000"/>
              </a:lnSpc>
            </a:pPr>
            <a:r>
              <a:rPr lang="en-US" sz="1600" dirty="0">
                <a:latin typeface="Times New Roman" panose="02020603050405020304" pitchFamily="18" charset="0"/>
                <a:cs typeface="Times New Roman" panose="02020603050405020304" pitchFamily="18" charset="0"/>
              </a:rPr>
              <a:t>License Included In the License Included model, the license is held by AWS and is included in the Amazon RDS instance price.</a:t>
            </a:r>
          </a:p>
          <a:p>
            <a:pPr marL="465893" indent="-336627">
              <a:lnSpc>
                <a:spcPct val="150000"/>
              </a:lnSpc>
            </a:pPr>
            <a:r>
              <a:rPr lang="en-US" sz="1600" dirty="0">
                <a:latin typeface="Times New Roman" panose="02020603050405020304" pitchFamily="18" charset="0"/>
                <a:cs typeface="Times New Roman" panose="02020603050405020304" pitchFamily="18" charset="0"/>
              </a:rPr>
              <a:t>Bring Your Own License (BYOL) In the BYOL model, you provide your own license</a:t>
            </a:r>
          </a:p>
        </p:txBody>
      </p:sp>
      <p:pic>
        <p:nvPicPr>
          <p:cNvPr id="6" name="Picture 8" descr="Amazon Relational Database Service (RDS)">
            <a:extLst>
              <a:ext uri="{FF2B5EF4-FFF2-40B4-BE49-F238E27FC236}">
                <a16:creationId xmlns:a16="http://schemas.microsoft.com/office/drawing/2014/main" id="{7FA9A0D9-A54A-BD95-7885-A48E3EB661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94404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1000"/>
                                        <p:tgtEl>
                                          <p:spTgt spid="2">
                                            <p:txEl>
                                              <p:pRg st="5" end="5"/>
                                            </p:txEl>
                                          </p:spTgt>
                                        </p:tgtEl>
                                      </p:cBhvr>
                                    </p:animEffect>
                                    <p:anim calcmode="lin" valueType="num">
                                      <p:cBhvr>
                                        <p:cTn id="2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1000"/>
                                        <p:tgtEl>
                                          <p:spTgt spid="2">
                                            <p:txEl>
                                              <p:pRg st="8" end="8"/>
                                            </p:txEl>
                                          </p:spTgt>
                                        </p:tgtEl>
                                      </p:cBhvr>
                                    </p:animEffect>
                                    <p:anim calcmode="lin" valueType="num">
                                      <p:cBhvr>
                                        <p:cTn id="36"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1000"/>
                                        <p:tgtEl>
                                          <p:spTgt spid="2">
                                            <p:txEl>
                                              <p:pRg st="6" end="6"/>
                                            </p:txEl>
                                          </p:spTgt>
                                        </p:tgtEl>
                                      </p:cBhvr>
                                    </p:animEffect>
                                    <p:anim calcmode="lin" valueType="num">
                                      <p:cBhvr>
                                        <p:cTn id="4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Effect transition="in" filter="fade">
                                      <p:cBhvr>
                                        <p:cTn id="49" dur="1000"/>
                                        <p:tgtEl>
                                          <p:spTgt spid="2">
                                            <p:txEl>
                                              <p:pRg st="7" end="7"/>
                                            </p:txEl>
                                          </p:spTgt>
                                        </p:tgtEl>
                                      </p:cBhvr>
                                    </p:animEffect>
                                    <p:anim calcmode="lin" valueType="num">
                                      <p:cBhvr>
                                        <p:cTn id="50"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solidFill>
                  <a:prstClr val="black">
                    <a:tint val="75000"/>
                  </a:prstClr>
                </a:solidFill>
              </a:rPr>
              <a:pPr/>
              <a:t>83</a:t>
            </a:fld>
            <a:endParaRPr lang="en-US">
              <a:solidFill>
                <a:prstClr val="black">
                  <a:tint val="75000"/>
                </a:prstClr>
              </a:solidFill>
            </a:endParaRPr>
          </a:p>
        </p:txBody>
      </p:sp>
      <p:sp>
        <p:nvSpPr>
          <p:cNvPr id="5" name="Title 4"/>
          <p:cNvSpPr>
            <a:spLocks noGrp="1"/>
          </p:cNvSpPr>
          <p:nvPr>
            <p:ph type="title"/>
          </p:nvPr>
        </p:nvSpPr>
        <p:spPr/>
        <p:txBody>
          <a:bodyPr>
            <a:noAutofit/>
          </a:bodyPr>
          <a:lstStyle/>
          <a:p>
            <a:r>
              <a:rPr lang="en-US" sz="4219" dirty="0"/>
              <a:t>Amazon RDS Pricing</a:t>
            </a:r>
          </a:p>
        </p:txBody>
      </p:sp>
      <p:pic>
        <p:nvPicPr>
          <p:cNvPr id="2056" name="Picture 8" descr="Amazon Relational Database Service (RDS)">
            <a:extLst>
              <a:ext uri="{FF2B5EF4-FFF2-40B4-BE49-F238E27FC236}">
                <a16:creationId xmlns:a16="http://schemas.microsoft.com/office/drawing/2014/main" id="{5664FA7E-5E7E-42ED-C454-E7D33C810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1BC8FF7-4016-B1C4-E672-54017DFA9186}"/>
              </a:ext>
            </a:extLst>
          </p:cNvPr>
          <p:cNvPicPr>
            <a:picLocks noChangeAspect="1"/>
          </p:cNvPicPr>
          <p:nvPr/>
        </p:nvPicPr>
        <p:blipFill>
          <a:blip r:embed="rId3"/>
          <a:stretch>
            <a:fillRect/>
          </a:stretch>
        </p:blipFill>
        <p:spPr>
          <a:xfrm>
            <a:off x="1420367" y="1443952"/>
            <a:ext cx="8777992" cy="4756824"/>
          </a:xfrm>
          <a:prstGeom prst="rect">
            <a:avLst/>
          </a:prstGeom>
        </p:spPr>
      </p:pic>
      <p:sp>
        <p:nvSpPr>
          <p:cNvPr id="7" name="Rectangle 6">
            <a:extLst>
              <a:ext uri="{FF2B5EF4-FFF2-40B4-BE49-F238E27FC236}">
                <a16:creationId xmlns:a16="http://schemas.microsoft.com/office/drawing/2014/main" id="{C1295FF8-FE53-DDB4-1625-A6E263FCE87F}"/>
              </a:ext>
            </a:extLst>
          </p:cNvPr>
          <p:cNvSpPr/>
          <p:nvPr/>
        </p:nvSpPr>
        <p:spPr>
          <a:xfrm>
            <a:off x="1420367" y="1510447"/>
            <a:ext cx="1892000" cy="76622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452363631"/>
      </p:ext>
    </p:extLst>
  </p:cSld>
  <p:clrMapOvr>
    <a:masterClrMapping/>
  </p:clrMapOvr>
  <p:transition spd="slow">
    <p:randomBar dir="ver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84</a:t>
            </a:fld>
            <a:endParaRPr lang="en-US"/>
          </a:p>
        </p:txBody>
      </p:sp>
      <p:sp>
        <p:nvSpPr>
          <p:cNvPr id="2" name="Content Placeholder 1"/>
          <p:cNvSpPr>
            <a:spLocks noGrp="1"/>
          </p:cNvSpPr>
          <p:nvPr>
            <p:ph idx="1"/>
          </p:nvPr>
        </p:nvSpPr>
        <p:spPr>
          <a:xfrm>
            <a:off x="314325" y="1417638"/>
            <a:ext cx="11744325" cy="5265225"/>
          </a:xfrm>
        </p:spPr>
        <p:txBody>
          <a:bodyPr>
            <a:normAutofit/>
          </a:bodyPr>
          <a:lstStyle/>
          <a:p>
            <a:pPr marL="0" indent="0">
              <a:lnSpc>
                <a:spcPct val="150000"/>
              </a:lnSpc>
              <a:buNone/>
            </a:pPr>
            <a:r>
              <a:rPr lang="en-US" sz="1600" b="1" dirty="0">
                <a:latin typeface="Times New Roman" panose="02020603050405020304" pitchFamily="18" charset="0"/>
                <a:cs typeface="Times New Roman" panose="02020603050405020304" pitchFamily="18" charset="0"/>
              </a:rPr>
              <a:t>Create a SQL Amazon RDS Instance</a:t>
            </a:r>
          </a:p>
          <a:p>
            <a:pPr marL="0" indent="0">
              <a:lnSpc>
                <a:spcPct val="150000"/>
              </a:lnSpc>
              <a:buNone/>
            </a:pPr>
            <a:r>
              <a:rPr lang="en-US" sz="1600" dirty="0">
                <a:latin typeface="Times New Roman" panose="02020603050405020304" pitchFamily="18" charset="0"/>
                <a:cs typeface="Times New Roman" panose="02020603050405020304" pitchFamily="18" charset="0"/>
              </a:rPr>
              <a:t>1. Log in to the AWS Management Console, and navigate to the Amazon RDS Console.</a:t>
            </a:r>
          </a:p>
          <a:p>
            <a:pPr marL="0" indent="0">
              <a:lnSpc>
                <a:spcPct val="150000"/>
              </a:lnSpc>
              <a:buNone/>
            </a:pPr>
            <a:r>
              <a:rPr lang="en-US" sz="1600" dirty="0">
                <a:latin typeface="Times New Roman" panose="02020603050405020304" pitchFamily="18" charset="0"/>
                <a:cs typeface="Times New Roman" panose="02020603050405020304" pitchFamily="18" charset="0"/>
              </a:rPr>
              <a:t>2. Launch a new Amazon RDS DB Instance, and select MySQL Community Edition</a:t>
            </a:r>
          </a:p>
          <a:p>
            <a:pPr marL="0" indent="0">
              <a:lnSpc>
                <a:spcPct val="150000"/>
              </a:lnSpc>
              <a:buNone/>
            </a:pPr>
            <a:r>
              <a:rPr lang="en-US" sz="1600" dirty="0">
                <a:latin typeface="Times New Roman" panose="02020603050405020304" pitchFamily="18" charset="0"/>
                <a:cs typeface="Times New Roman" panose="02020603050405020304" pitchFamily="18" charset="0"/>
              </a:rPr>
              <a:t>instance as the database engine.</a:t>
            </a:r>
          </a:p>
          <a:p>
            <a:pPr marL="0" indent="0">
              <a:lnSpc>
                <a:spcPct val="150000"/>
              </a:lnSpc>
              <a:buNone/>
            </a:pPr>
            <a:r>
              <a:rPr lang="en-US" sz="1600" dirty="0">
                <a:latin typeface="Times New Roman" panose="02020603050405020304" pitchFamily="18" charset="0"/>
                <a:cs typeface="Times New Roman" panose="02020603050405020304" pitchFamily="18" charset="0"/>
              </a:rPr>
              <a:t>3. Configure the DB Instance to use Multi-AZ and General Purpose (SSD) storage.</a:t>
            </a:r>
          </a:p>
          <a:p>
            <a:pPr marL="0" indent="0">
              <a:lnSpc>
                <a:spcPct val="150000"/>
              </a:lnSpc>
              <a:buNone/>
            </a:pPr>
            <a:r>
              <a:rPr lang="en-US" sz="1600" i="1" dirty="0">
                <a:latin typeface="Times New Roman" panose="02020603050405020304" pitchFamily="18" charset="0"/>
                <a:cs typeface="Times New Roman" panose="02020603050405020304" pitchFamily="18" charset="0"/>
              </a:rPr>
              <a:t>	</a:t>
            </a:r>
            <a:r>
              <a:rPr lang="en-US" sz="1600" i="1" dirty="0">
                <a:highlight>
                  <a:srgbClr val="FF0000"/>
                </a:highlight>
                <a:latin typeface="Times New Roman" panose="02020603050405020304" pitchFamily="18" charset="0"/>
                <a:cs typeface="Times New Roman" panose="02020603050405020304" pitchFamily="18" charset="0"/>
              </a:rPr>
              <a:t>Warning: This is not eligible for AWS Free Tier; you will incur a small charge by provisioning this instance.</a:t>
            </a:r>
          </a:p>
          <a:p>
            <a:pPr marL="0" indent="0">
              <a:lnSpc>
                <a:spcPct val="150000"/>
              </a:lnSpc>
              <a:buNone/>
            </a:pPr>
            <a:r>
              <a:rPr lang="en-US" sz="1600" dirty="0">
                <a:latin typeface="Times New Roman" panose="02020603050405020304" pitchFamily="18" charset="0"/>
                <a:cs typeface="Times New Roman" panose="02020603050405020304" pitchFamily="18" charset="0"/>
              </a:rPr>
              <a:t>4. Set the DB Instance identifier and database name to </a:t>
            </a:r>
            <a:r>
              <a:rPr lang="en-US" sz="1600" b="1" dirty="0">
                <a:latin typeface="Times New Roman" panose="02020603050405020304" pitchFamily="18" charset="0"/>
                <a:cs typeface="Times New Roman" panose="02020603050405020304" pitchFamily="18" charset="0"/>
              </a:rPr>
              <a:t>MySQL123</a:t>
            </a:r>
            <a:r>
              <a:rPr lang="en-US" sz="1600" dirty="0">
                <a:latin typeface="Times New Roman" panose="02020603050405020304" pitchFamily="18" charset="0"/>
                <a:cs typeface="Times New Roman" panose="02020603050405020304" pitchFamily="18" charset="0"/>
              </a:rPr>
              <a:t>, and configure the master username and password.</a:t>
            </a:r>
          </a:p>
          <a:p>
            <a:pPr marL="0" indent="0">
              <a:lnSpc>
                <a:spcPct val="150000"/>
              </a:lnSpc>
              <a:buNone/>
            </a:pPr>
            <a:r>
              <a:rPr lang="en-US" sz="1600" dirty="0">
                <a:latin typeface="Times New Roman" panose="02020603050405020304" pitchFamily="18" charset="0"/>
                <a:cs typeface="Times New Roman" panose="02020603050405020304" pitchFamily="18" charset="0"/>
              </a:rPr>
              <a:t>5. Validate the configuration settings, and launch the DB Instance.</a:t>
            </a:r>
          </a:p>
          <a:p>
            <a:pPr marL="0" indent="0">
              <a:lnSpc>
                <a:spcPct val="150000"/>
              </a:lnSpc>
              <a:buNone/>
            </a:pPr>
            <a:r>
              <a:rPr lang="en-US" sz="1600" dirty="0">
                <a:latin typeface="Times New Roman" panose="02020603050405020304" pitchFamily="18" charset="0"/>
                <a:cs typeface="Times New Roman" panose="02020603050405020304" pitchFamily="18" charset="0"/>
              </a:rPr>
              <a:t>6. Return to the list of the Amazon RDS instances. You will see the status of your</a:t>
            </a:r>
          </a:p>
          <a:p>
            <a:pPr marL="0" indent="0">
              <a:lnSpc>
                <a:spcPct val="150000"/>
              </a:lnSpc>
              <a:buNone/>
            </a:pPr>
            <a:r>
              <a:rPr lang="en-US" sz="1600" dirty="0">
                <a:latin typeface="Times New Roman" panose="02020603050405020304" pitchFamily="18" charset="0"/>
                <a:cs typeface="Times New Roman" panose="02020603050405020304" pitchFamily="18" charset="0"/>
              </a:rPr>
              <a:t>Amazon RDS database as Creating. It may take up to 20 minutes to create your new Amazon RDS instance.</a:t>
            </a:r>
          </a:p>
        </p:txBody>
      </p:sp>
      <p:sp>
        <p:nvSpPr>
          <p:cNvPr id="8" name="Title 4"/>
          <p:cNvSpPr>
            <a:spLocks noGrp="1"/>
          </p:cNvSpPr>
          <p:nvPr>
            <p:ph type="title"/>
          </p:nvPr>
        </p:nvSpPr>
        <p:spPr>
          <a:xfrm>
            <a:off x="695325" y="274638"/>
            <a:ext cx="10801350" cy="1143000"/>
          </a:xfrm>
        </p:spPr>
        <p:txBody>
          <a:bodyPr>
            <a:noAutofit/>
          </a:bodyPr>
          <a:lstStyle/>
          <a:p>
            <a:r>
              <a:rPr lang="en-US" sz="4219" dirty="0"/>
              <a:t>Creating RDS Instance </a:t>
            </a:r>
          </a:p>
        </p:txBody>
      </p:sp>
      <p:pic>
        <p:nvPicPr>
          <p:cNvPr id="5" name="Picture 8" descr="Amazon Relational Database Service (RDS)">
            <a:extLst>
              <a:ext uri="{FF2B5EF4-FFF2-40B4-BE49-F238E27FC236}">
                <a16:creationId xmlns:a16="http://schemas.microsoft.com/office/drawing/2014/main" id="{3C8C9BF3-459A-4EDD-A935-ADEEF5475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097503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85</a:t>
            </a:fld>
            <a:endParaRPr lang="en-US"/>
          </a:p>
        </p:txBody>
      </p:sp>
      <p:sp>
        <p:nvSpPr>
          <p:cNvPr id="2" name="Content Placeholder 1"/>
          <p:cNvSpPr>
            <a:spLocks noGrp="1"/>
          </p:cNvSpPr>
          <p:nvPr>
            <p:ph idx="1"/>
          </p:nvPr>
        </p:nvSpPr>
        <p:spPr>
          <a:xfrm>
            <a:off x="695325" y="1066805"/>
            <a:ext cx="10801350" cy="5265225"/>
          </a:xfrm>
        </p:spPr>
        <p:txBody>
          <a:bodyPr>
            <a:normAutofit/>
          </a:bodyPr>
          <a:lstStyle/>
          <a:p>
            <a:endParaRPr lang="en-US" sz="2156" b="1" dirty="0"/>
          </a:p>
          <a:p>
            <a:pPr marL="0" indent="0">
              <a:buNone/>
            </a:pPr>
            <a:r>
              <a:rPr lang="en-US" sz="1600" b="1" dirty="0">
                <a:latin typeface="Times New Roman" panose="02020603050405020304" pitchFamily="18" charset="0"/>
                <a:cs typeface="Times New Roman" panose="02020603050405020304" pitchFamily="18" charset="0"/>
              </a:rPr>
              <a:t>Simulate a Failover from One AZ to Another</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In this exercise, you will use Multi-AZ failover to simulate a failover from one Availability Zone to another.</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1. In the Amazon RDS Console, view the list of DB Instances.</a:t>
            </a:r>
          </a:p>
          <a:p>
            <a:pPr marL="0" indent="0">
              <a:buNone/>
            </a:pPr>
            <a:r>
              <a:rPr lang="en-US" sz="1600" dirty="0">
                <a:latin typeface="Times New Roman" panose="02020603050405020304" pitchFamily="18" charset="0"/>
                <a:cs typeface="Times New Roman" panose="02020603050405020304" pitchFamily="18" charset="0"/>
              </a:rPr>
              <a:t>2. Find your DB Instance called MySQL123, and check its status. When its status is</a:t>
            </a:r>
          </a:p>
          <a:p>
            <a:pPr marL="0" indent="0">
              <a:buNone/>
            </a:pPr>
            <a:r>
              <a:rPr lang="en-US" sz="1600" dirty="0">
                <a:latin typeface="Times New Roman" panose="02020603050405020304" pitchFamily="18" charset="0"/>
                <a:cs typeface="Times New Roman" panose="02020603050405020304" pitchFamily="18" charset="0"/>
              </a:rPr>
              <a:t>Available, proceed to the next step.</a:t>
            </a:r>
          </a:p>
          <a:p>
            <a:pPr marL="0" indent="0">
              <a:buNone/>
            </a:pPr>
            <a:r>
              <a:rPr lang="en-US" sz="1600" dirty="0">
                <a:latin typeface="Times New Roman" panose="02020603050405020304" pitchFamily="18" charset="0"/>
                <a:cs typeface="Times New Roman" panose="02020603050405020304" pitchFamily="18" charset="0"/>
              </a:rPr>
              <a:t>3. Select the instance, and issue a Reboot command from the actions menu.</a:t>
            </a:r>
          </a:p>
          <a:p>
            <a:pPr marL="0" indent="0">
              <a:buNone/>
            </a:pPr>
            <a:r>
              <a:rPr lang="en-US" sz="1600" dirty="0">
                <a:latin typeface="Times New Roman" panose="02020603050405020304" pitchFamily="18" charset="0"/>
                <a:cs typeface="Times New Roman" panose="02020603050405020304" pitchFamily="18" charset="0"/>
              </a:rPr>
              <a:t>4. Confirm the reboot.</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You have now simulated a failover from one Availability Zone to another using Multi-AZ failover. The failover should take approximately two or three minutes.</a:t>
            </a:r>
          </a:p>
        </p:txBody>
      </p:sp>
      <p:sp>
        <p:nvSpPr>
          <p:cNvPr id="8" name="Title 4"/>
          <p:cNvSpPr>
            <a:spLocks noGrp="1"/>
          </p:cNvSpPr>
          <p:nvPr>
            <p:ph type="title"/>
          </p:nvPr>
        </p:nvSpPr>
        <p:spPr>
          <a:xfrm>
            <a:off x="695325" y="274638"/>
            <a:ext cx="10801350" cy="1143000"/>
          </a:xfrm>
        </p:spPr>
        <p:txBody>
          <a:bodyPr>
            <a:noAutofit/>
          </a:bodyPr>
          <a:lstStyle/>
          <a:p>
            <a:r>
              <a:rPr lang="en-US" sz="4219" dirty="0"/>
              <a:t>RDS AZ Failover testing</a:t>
            </a:r>
          </a:p>
        </p:txBody>
      </p:sp>
      <p:pic>
        <p:nvPicPr>
          <p:cNvPr id="5" name="Picture 8" descr="Amazon Relational Database Service (RDS)">
            <a:extLst>
              <a:ext uri="{FF2B5EF4-FFF2-40B4-BE49-F238E27FC236}">
                <a16:creationId xmlns:a16="http://schemas.microsoft.com/office/drawing/2014/main" id="{FBFF2B51-595F-5B9B-54D2-4DF075738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300079"/>
      </p:ext>
    </p:extLst>
  </p:cSld>
  <p:clrMapOvr>
    <a:masterClrMapping/>
  </p:clrMapOvr>
  <p:transition spd="slow">
    <p:randomBar dir="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86</a:t>
            </a:fld>
            <a:endParaRPr lang="en-US"/>
          </a:p>
        </p:txBody>
      </p:sp>
      <p:sp>
        <p:nvSpPr>
          <p:cNvPr id="5" name="Title 4"/>
          <p:cNvSpPr>
            <a:spLocks noGrp="1"/>
          </p:cNvSpPr>
          <p:nvPr>
            <p:ph type="title"/>
          </p:nvPr>
        </p:nvSpPr>
        <p:spPr/>
        <p:txBody>
          <a:bodyPr>
            <a:noAutofit/>
          </a:bodyPr>
          <a:lstStyle/>
          <a:p>
            <a:r>
              <a:rPr lang="en-US" sz="4219" dirty="0"/>
              <a:t>Multi-AZ deployment</a:t>
            </a:r>
          </a:p>
        </p:txBody>
      </p:sp>
      <p:sp>
        <p:nvSpPr>
          <p:cNvPr id="9" name="TextBox 8">
            <a:extLst>
              <a:ext uri="{FF2B5EF4-FFF2-40B4-BE49-F238E27FC236}">
                <a16:creationId xmlns:a16="http://schemas.microsoft.com/office/drawing/2014/main" id="{CD6484A1-7047-BB1E-B051-D1177F133E1F}"/>
              </a:ext>
            </a:extLst>
          </p:cNvPr>
          <p:cNvSpPr txBox="1"/>
          <p:nvPr/>
        </p:nvSpPr>
        <p:spPr>
          <a:xfrm>
            <a:off x="403225" y="1371123"/>
            <a:ext cx="11385550" cy="1289071"/>
          </a:xfrm>
          <a:prstGeom prst="rect">
            <a:avLst/>
          </a:prstGeom>
          <a:noFill/>
        </p:spPr>
        <p:txBody>
          <a:bodyPr wrap="square">
            <a:spAutoFit/>
          </a:bodyPr>
          <a:lstStyle/>
          <a:p>
            <a:pPr>
              <a:lnSpc>
                <a:spcPct val="150000"/>
              </a:lnSpc>
            </a:pPr>
            <a:r>
              <a:rPr lang="en-US" b="0" i="0" dirty="0">
                <a:solidFill>
                  <a:schemeClr val="bg1"/>
                </a:solidFill>
                <a:effectLst/>
                <a:latin typeface="Times New Roman" panose="02020603050405020304" pitchFamily="18" charset="0"/>
                <a:cs typeface="Times New Roman" panose="02020603050405020304" pitchFamily="18" charset="0"/>
              </a:rPr>
              <a:t>In an Amazon RDS Multi-AZ deployment, Amazon RDS automatically creates a primary database (DB) instance and synchronously replicates the data to an instance in a different AZ. When it detects a failure, Amazon RDS automatically fails over to a standby instance without manual intervention.</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9218" name="Picture 2" descr="Amazon RDS Multi-AZ deployment How It Works Diagram">
            <a:extLst>
              <a:ext uri="{FF2B5EF4-FFF2-40B4-BE49-F238E27FC236}">
                <a16:creationId xmlns:a16="http://schemas.microsoft.com/office/drawing/2014/main" id="{F5A3E96C-2645-FA06-7EB9-432C030B7A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1612" y="2766555"/>
            <a:ext cx="6848475" cy="34246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Amazon Relational Database Service (RDS)">
            <a:extLst>
              <a:ext uri="{FF2B5EF4-FFF2-40B4-BE49-F238E27FC236}">
                <a16:creationId xmlns:a16="http://schemas.microsoft.com/office/drawing/2014/main" id="{6AD84203-8476-8542-90A9-1BED134D0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04807"/>
      </p:ext>
    </p:extLst>
  </p:cSld>
  <p:clrMapOvr>
    <a:masterClrMapping/>
  </p:clrMapOvr>
  <p:transition spd="slow">
    <p:randomBar dir="ver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87</a:t>
            </a:fld>
            <a:endParaRPr lang="en-US"/>
          </a:p>
        </p:txBody>
      </p:sp>
      <p:sp>
        <p:nvSpPr>
          <p:cNvPr id="5" name="Title 4"/>
          <p:cNvSpPr>
            <a:spLocks noGrp="1"/>
          </p:cNvSpPr>
          <p:nvPr>
            <p:ph type="title"/>
          </p:nvPr>
        </p:nvSpPr>
        <p:spPr/>
        <p:txBody>
          <a:bodyPr>
            <a:noAutofit/>
          </a:bodyPr>
          <a:lstStyle/>
          <a:p>
            <a:r>
              <a:rPr lang="en-US" sz="4219" dirty="0"/>
              <a:t>Read Replica</a:t>
            </a:r>
          </a:p>
        </p:txBody>
      </p:sp>
      <p:sp>
        <p:nvSpPr>
          <p:cNvPr id="9" name="TextBox 8">
            <a:extLst>
              <a:ext uri="{FF2B5EF4-FFF2-40B4-BE49-F238E27FC236}">
                <a16:creationId xmlns:a16="http://schemas.microsoft.com/office/drawing/2014/main" id="{CD6484A1-7047-BB1E-B051-D1177F133E1F}"/>
              </a:ext>
            </a:extLst>
          </p:cNvPr>
          <p:cNvSpPr txBox="1"/>
          <p:nvPr/>
        </p:nvSpPr>
        <p:spPr>
          <a:xfrm>
            <a:off x="403225" y="1371123"/>
            <a:ext cx="11385550" cy="37820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Replication means a continuous copy of the data from one Database (master/publisher) to another Database (slave/subscriber). </a:t>
            </a:r>
          </a:p>
          <a:p>
            <a:pPr marL="285750" indent="-285750">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The slave/subscriber Databases can be on the same server or different servers and contain the replica of the master database. </a:t>
            </a:r>
          </a:p>
          <a:p>
            <a:pPr marL="285750" indent="-285750">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The main aim of replication is to provide fault-tolerant access to data in case of failure of the master. Also, load balancing and routing some of the queries to the subscriber database to reduce the load on the primary Database.</a:t>
            </a:r>
          </a:p>
          <a:p>
            <a:pPr marL="285750" indent="-285750">
              <a:lnSpc>
                <a:spcPct val="150000"/>
              </a:lnSpc>
              <a:buFont typeface="Arial" panose="020B0604020202020204" pitchFamily="34" charset="0"/>
              <a:buChar char="•"/>
            </a:pPr>
            <a:r>
              <a:rPr lang="en-US" b="0" i="0" dirty="0">
                <a:solidFill>
                  <a:schemeClr val="bg1"/>
                </a:solidFill>
                <a:effectLst/>
                <a:latin typeface="Times New Roman" panose="02020603050405020304" pitchFamily="18" charset="0"/>
                <a:cs typeface="Times New Roman" panose="02020603050405020304" pitchFamily="18" charset="0"/>
              </a:rPr>
              <a:t>Amazon RDS Read Replication is a feature on Amazon RDS that allows you to create one or more read copies of the primary Database within the same or different AWS region. The data from the master database is asynchronously copied to these slave or secondary databases. </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2" name="Picture 8" descr="Amazon Relational Database Service (RDS)">
            <a:extLst>
              <a:ext uri="{FF2B5EF4-FFF2-40B4-BE49-F238E27FC236}">
                <a16:creationId xmlns:a16="http://schemas.microsoft.com/office/drawing/2014/main" id="{817CB8F9-B594-9A26-028F-6D802058F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838726"/>
      </p:ext>
    </p:extLst>
  </p:cSld>
  <p:clrMapOvr>
    <a:masterClrMapping/>
  </p:clrMapOvr>
  <p:transition spd="slow">
    <p:randomBar dir="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88</a:t>
            </a:fld>
            <a:endParaRPr lang="en-US"/>
          </a:p>
        </p:txBody>
      </p:sp>
      <p:sp>
        <p:nvSpPr>
          <p:cNvPr id="5" name="Title 4"/>
          <p:cNvSpPr>
            <a:spLocks noGrp="1"/>
          </p:cNvSpPr>
          <p:nvPr>
            <p:ph type="title"/>
          </p:nvPr>
        </p:nvSpPr>
        <p:spPr>
          <a:xfrm>
            <a:off x="0" y="609601"/>
            <a:ext cx="10156511" cy="535531"/>
          </a:xfrm>
        </p:spPr>
        <p:txBody>
          <a:bodyPr>
            <a:noAutofit/>
          </a:bodyPr>
          <a:lstStyle/>
          <a:p>
            <a:r>
              <a:rPr lang="en-US" sz="3600" dirty="0"/>
              <a:t>Multi-AZ deployment vs Read Replica</a:t>
            </a:r>
          </a:p>
        </p:txBody>
      </p:sp>
      <p:graphicFrame>
        <p:nvGraphicFramePr>
          <p:cNvPr id="2" name="Table 1">
            <a:extLst>
              <a:ext uri="{FF2B5EF4-FFF2-40B4-BE49-F238E27FC236}">
                <a16:creationId xmlns:a16="http://schemas.microsoft.com/office/drawing/2014/main" id="{AC273B8A-CB07-B9AB-D643-081580B12BBC}"/>
              </a:ext>
            </a:extLst>
          </p:cNvPr>
          <p:cNvGraphicFramePr>
            <a:graphicFrameLocks noGrp="1"/>
          </p:cNvGraphicFramePr>
          <p:nvPr>
            <p:extLst>
              <p:ext uri="{D42A27DB-BD31-4B8C-83A1-F6EECF244321}">
                <p14:modId xmlns:p14="http://schemas.microsoft.com/office/powerpoint/2010/main" val="3732725580"/>
              </p:ext>
            </p:extLst>
          </p:nvPr>
        </p:nvGraphicFramePr>
        <p:xfrm>
          <a:off x="0" y="1352550"/>
          <a:ext cx="12192000" cy="4895849"/>
        </p:xfrm>
        <a:graphic>
          <a:graphicData uri="http://schemas.openxmlformats.org/drawingml/2006/table">
            <a:tbl>
              <a:tblPr>
                <a:tableStyleId>{8FD4443E-F989-4FC4-A0C8-D5A2AF1F390B}</a:tableStyleId>
              </a:tblPr>
              <a:tblGrid>
                <a:gridCol w="6145301">
                  <a:extLst>
                    <a:ext uri="{9D8B030D-6E8A-4147-A177-3AD203B41FA5}">
                      <a16:colId xmlns:a16="http://schemas.microsoft.com/office/drawing/2014/main" val="3480312348"/>
                    </a:ext>
                  </a:extLst>
                </a:gridCol>
                <a:gridCol w="6046699">
                  <a:extLst>
                    <a:ext uri="{9D8B030D-6E8A-4147-A177-3AD203B41FA5}">
                      <a16:colId xmlns:a16="http://schemas.microsoft.com/office/drawing/2014/main" val="3747862293"/>
                    </a:ext>
                  </a:extLst>
                </a:gridCol>
              </a:tblGrid>
              <a:tr h="251322">
                <a:tc>
                  <a:txBody>
                    <a:bodyPr/>
                    <a:lstStyle/>
                    <a:p>
                      <a:pPr algn="ctr" fontAlgn="b">
                        <a:lnSpc>
                          <a:spcPct val="150000"/>
                        </a:lnSpc>
                      </a:pPr>
                      <a:r>
                        <a:rPr lang="en-US" sz="1200" b="1" dirty="0">
                          <a:solidFill>
                            <a:srgbClr val="FF0000"/>
                          </a:solidFill>
                          <a:effectLst/>
                          <a:highlight>
                            <a:srgbClr val="FFFF00"/>
                          </a:highlight>
                        </a:rPr>
                        <a:t>Multi-AZ Deployment</a:t>
                      </a:r>
                      <a:endParaRPr lang="en-US" sz="1200" b="1" dirty="0">
                        <a:solidFill>
                          <a:srgbClr val="FF0000"/>
                        </a:solidFill>
                        <a:effectLst/>
                        <a:highlight>
                          <a:srgbClr val="FFFF00"/>
                        </a:highlight>
                        <a:latin typeface="Times New Roman" panose="02020603050405020304" pitchFamily="18" charset="0"/>
                        <a:cs typeface="Times New Roman" panose="02020603050405020304" pitchFamily="18" charset="0"/>
                      </a:endParaRPr>
                    </a:p>
                  </a:txBody>
                  <a:tcPr marL="14800" marR="14800" marT="7400" marB="7400" anchor="b"/>
                </a:tc>
                <a:tc>
                  <a:txBody>
                    <a:bodyPr/>
                    <a:lstStyle/>
                    <a:p>
                      <a:pPr algn="ctr" fontAlgn="b">
                        <a:lnSpc>
                          <a:spcPct val="150000"/>
                        </a:lnSpc>
                      </a:pPr>
                      <a:r>
                        <a:rPr lang="en-US" sz="1200" b="1" dirty="0">
                          <a:solidFill>
                            <a:srgbClr val="FF0000"/>
                          </a:solidFill>
                          <a:effectLst/>
                          <a:highlight>
                            <a:srgbClr val="FFFF00"/>
                          </a:highlight>
                        </a:rPr>
                        <a:t>Read Replicas</a:t>
                      </a:r>
                      <a:endParaRPr lang="en-US" sz="1200" b="1" dirty="0">
                        <a:solidFill>
                          <a:srgbClr val="FF0000"/>
                        </a:solidFill>
                        <a:effectLst/>
                        <a:highlight>
                          <a:srgbClr val="FFFF00"/>
                        </a:highlight>
                        <a:latin typeface="Times New Roman" panose="02020603050405020304" pitchFamily="18" charset="0"/>
                        <a:cs typeface="Times New Roman" panose="02020603050405020304" pitchFamily="18" charset="0"/>
                      </a:endParaRPr>
                    </a:p>
                  </a:txBody>
                  <a:tcPr marL="14800" marR="14800" marT="7400" marB="7400" anchor="b"/>
                </a:tc>
                <a:extLst>
                  <a:ext uri="{0D108BD9-81ED-4DB2-BD59-A6C34878D82A}">
                    <a16:rowId xmlns:a16="http://schemas.microsoft.com/office/drawing/2014/main" val="1833480652"/>
                  </a:ext>
                </a:extLst>
              </a:tr>
              <a:tr h="764381">
                <a:tc>
                  <a:txBody>
                    <a:bodyPr/>
                    <a:lstStyle/>
                    <a:p>
                      <a:pPr algn="l" fontAlgn="base">
                        <a:lnSpc>
                          <a:spcPct val="100000"/>
                        </a:lnSpc>
                      </a:pPr>
                      <a:r>
                        <a:rPr lang="en-US" sz="1100" dirty="0">
                          <a:solidFill>
                            <a:schemeClr val="bg1"/>
                          </a:solidFill>
                          <a:effectLst/>
                        </a:rPr>
                        <a:t>High Availability: Provides failover support in case of primary database failure by maintaining a synchronous standby replica in a different Availability Zone (AZ).</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Scaling: Used for offloading read-only queries from the primary database to improve performance and scalability.</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4159211894"/>
                  </a:ext>
                </a:extLst>
              </a:tr>
              <a:tr h="513749">
                <a:tc>
                  <a:txBody>
                    <a:bodyPr/>
                    <a:lstStyle/>
                    <a:p>
                      <a:pPr algn="l" fontAlgn="base">
                        <a:lnSpc>
                          <a:spcPct val="100000"/>
                        </a:lnSpc>
                      </a:pPr>
                      <a:r>
                        <a:rPr lang="en-US" sz="1100" dirty="0">
                          <a:solidFill>
                            <a:schemeClr val="bg1"/>
                          </a:solidFill>
                          <a:effectLst/>
                        </a:rPr>
                        <a:t>Automatic creation of a synchronous standby replica in a different AZ from the primary database.</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Manual creation of one or more asynchronous replicas from the primary database.</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1827831352"/>
                  </a:ext>
                </a:extLst>
              </a:tr>
              <a:tr h="513749">
                <a:tc>
                  <a:txBody>
                    <a:bodyPr/>
                    <a:lstStyle/>
                    <a:p>
                      <a:pPr algn="l" fontAlgn="base">
                        <a:lnSpc>
                          <a:spcPct val="100000"/>
                        </a:lnSpc>
                      </a:pPr>
                      <a:r>
                        <a:rPr lang="en-US" sz="1100" dirty="0">
                          <a:solidFill>
                            <a:schemeClr val="bg1"/>
                          </a:solidFill>
                          <a:effectLst/>
                        </a:rPr>
                        <a:t>Synchronous replication between primary and standby replicas, ensuring data consistency at all times.</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Asynchronous replication from the primary database, providing slightly delayed data compared to the primary.</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1825179039"/>
                  </a:ext>
                </a:extLst>
              </a:tr>
              <a:tr h="670782">
                <a:tc>
                  <a:txBody>
                    <a:bodyPr/>
                    <a:lstStyle/>
                    <a:p>
                      <a:pPr algn="l" fontAlgn="base">
                        <a:lnSpc>
                          <a:spcPct val="100000"/>
                        </a:lnSpc>
                      </a:pPr>
                      <a:r>
                        <a:rPr lang="en-US" sz="1100" dirty="0">
                          <a:solidFill>
                            <a:schemeClr val="bg1"/>
                          </a:solidFill>
                          <a:effectLst/>
                        </a:rPr>
                        <a:t>Automatic failover to the standby replica in case of primary database failure, with minimal downtime.</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No automatic failover capability. If the primary instance fails, manual intervention or automated scripts are needed to promote a replica to become the new primary.</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2209607136"/>
                  </a:ext>
                </a:extLst>
              </a:tr>
              <a:tr h="577184">
                <a:tc>
                  <a:txBody>
                    <a:bodyPr/>
                    <a:lstStyle/>
                    <a:p>
                      <a:pPr algn="l" fontAlgn="base">
                        <a:lnSpc>
                          <a:spcPct val="100000"/>
                        </a:lnSpc>
                      </a:pPr>
                      <a:r>
                        <a:rPr lang="en-US" sz="1100" dirty="0">
                          <a:solidFill>
                            <a:schemeClr val="bg1"/>
                          </a:solidFill>
                          <a:effectLst/>
                        </a:rPr>
                        <a:t>Ensures high availability and data durability by maintaining synchronized copies in different AZs.</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Used primarily for scaling read-heavy workloads, reporting, analytics, etc., without impacting the primary database's performance.</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3719410073"/>
                  </a:ext>
                </a:extLst>
              </a:tr>
              <a:tr h="513749">
                <a:tc>
                  <a:txBody>
                    <a:bodyPr/>
                    <a:lstStyle/>
                    <a:p>
                      <a:pPr algn="l" fontAlgn="base">
                        <a:lnSpc>
                          <a:spcPct val="100000"/>
                        </a:lnSpc>
                      </a:pPr>
                      <a:r>
                        <a:rPr lang="en-US" sz="1100" dirty="0">
                          <a:solidFill>
                            <a:schemeClr val="bg1"/>
                          </a:solidFill>
                          <a:effectLst/>
                        </a:rPr>
                        <a:t>Generally more expensive due to the cost of maintaining standby replicas in a different AZ.</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Additional cost-effective option for scaling read operations without the expense of maintaining synchronous replicas.</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2371684774"/>
                  </a:ext>
                </a:extLst>
              </a:tr>
              <a:tr h="577184">
                <a:tc>
                  <a:txBody>
                    <a:bodyPr/>
                    <a:lstStyle/>
                    <a:p>
                      <a:pPr algn="l" fontAlgn="base">
                        <a:lnSpc>
                          <a:spcPct val="100000"/>
                        </a:lnSpc>
                      </a:pPr>
                      <a:r>
                        <a:rPr lang="en-US" sz="1100" dirty="0">
                          <a:solidFill>
                            <a:schemeClr val="bg1"/>
                          </a:solidFill>
                          <a:effectLst/>
                        </a:rPr>
                        <a:t>Minimal performance impact on the primary instance due to synchronous replication.</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Read replicas can reduce the load on the primary instance, improving overall performance for read-heavy workloads.</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549233159"/>
                  </a:ext>
                </a:extLst>
              </a:tr>
              <a:tr h="513749">
                <a:tc>
                  <a:txBody>
                    <a:bodyPr/>
                    <a:lstStyle/>
                    <a:p>
                      <a:pPr algn="l" fontAlgn="base">
                        <a:lnSpc>
                          <a:spcPct val="100000"/>
                        </a:lnSpc>
                      </a:pPr>
                      <a:r>
                        <a:rPr lang="en-US" sz="1100" dirty="0">
                          <a:solidFill>
                            <a:schemeClr val="bg1"/>
                          </a:solidFill>
                          <a:effectLst/>
                        </a:rPr>
                        <a:t>Critical production databases requiring high availability and minimal downtime in case of failure.</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tc>
                  <a:txBody>
                    <a:bodyPr/>
                    <a:lstStyle/>
                    <a:p>
                      <a:pPr fontAlgn="base">
                        <a:lnSpc>
                          <a:spcPct val="100000"/>
                        </a:lnSpc>
                      </a:pPr>
                      <a:r>
                        <a:rPr lang="en-US" sz="1100" dirty="0">
                          <a:solidFill>
                            <a:schemeClr val="bg1"/>
                          </a:solidFill>
                          <a:effectLst/>
                        </a:rPr>
                        <a:t>Applications with read-heavy workloads that can benefit from distributing read queries to replicas.</a:t>
                      </a:r>
                      <a:endParaRPr lang="en-US" sz="1100" dirty="0">
                        <a:solidFill>
                          <a:schemeClr val="bg1"/>
                        </a:solidFill>
                        <a:effectLst/>
                        <a:latin typeface="Times New Roman" panose="02020603050405020304" pitchFamily="18" charset="0"/>
                        <a:cs typeface="Times New Roman" panose="02020603050405020304" pitchFamily="18" charset="0"/>
                      </a:endParaRPr>
                    </a:p>
                  </a:txBody>
                  <a:tcPr marL="14800" marR="14800" marT="7400" marB="7400" anchor="ctr"/>
                </a:tc>
                <a:extLst>
                  <a:ext uri="{0D108BD9-81ED-4DB2-BD59-A6C34878D82A}">
                    <a16:rowId xmlns:a16="http://schemas.microsoft.com/office/drawing/2014/main" val="3678955585"/>
                  </a:ext>
                </a:extLst>
              </a:tr>
            </a:tbl>
          </a:graphicData>
        </a:graphic>
      </p:graphicFrame>
      <p:pic>
        <p:nvPicPr>
          <p:cNvPr id="8" name="Picture 8" descr="Amazon Relational Database Service (RDS)">
            <a:extLst>
              <a:ext uri="{FF2B5EF4-FFF2-40B4-BE49-F238E27FC236}">
                <a16:creationId xmlns:a16="http://schemas.microsoft.com/office/drawing/2014/main" id="{BE56947C-5826-C039-B0CA-07B4DB841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30" y="-194122"/>
            <a:ext cx="3348569" cy="17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2972068"/>
      </p:ext>
    </p:extLst>
  </p:cSld>
  <p:clrMapOvr>
    <a:masterClrMapping/>
  </p:clrMapOvr>
  <p:transition spd="slow">
    <p:randomBar dir="ver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89</a:t>
            </a:fld>
            <a:endParaRPr lang="en-US"/>
          </a:p>
        </p:txBody>
      </p:sp>
      <p:sp>
        <p:nvSpPr>
          <p:cNvPr id="2" name="Content Placeholder 1"/>
          <p:cNvSpPr>
            <a:spLocks noGrp="1"/>
          </p:cNvSpPr>
          <p:nvPr>
            <p:ph idx="1"/>
          </p:nvPr>
        </p:nvSpPr>
        <p:spPr>
          <a:xfrm>
            <a:off x="223837" y="1709031"/>
            <a:ext cx="11744325" cy="3833354"/>
          </a:xfrm>
        </p:spPr>
        <p:txBody>
          <a:bodyPr>
            <a:normAutofit/>
          </a:bodyPr>
          <a:lstStyle/>
          <a:p>
            <a:pPr>
              <a:lnSpc>
                <a:spcPct val="150000"/>
              </a:lnSpc>
            </a:pPr>
            <a:r>
              <a:rPr lang="en-US" sz="1600" b="1" dirty="0">
                <a:latin typeface="Times New Roman" panose="02020603050405020304" pitchFamily="18" charset="0"/>
                <a:cs typeface="Times New Roman" panose="02020603050405020304" pitchFamily="18" charset="0"/>
              </a:rPr>
              <a:t>PostgreSQL is an advanced, enterprise-class, and open-source relational database system. PostgreSQL supports both SQL (relational) and JSON (non-relational) querying.</a:t>
            </a:r>
          </a:p>
          <a:p>
            <a:pPr>
              <a:lnSpc>
                <a:spcPct val="150000"/>
              </a:lnSpc>
            </a:pPr>
            <a:r>
              <a:rPr lang="en-US" sz="1600" b="1" dirty="0">
                <a:latin typeface="Times New Roman" panose="02020603050405020304" pitchFamily="18" charset="0"/>
                <a:cs typeface="Times New Roman" panose="02020603050405020304" pitchFamily="18" charset="0"/>
              </a:rPr>
              <a:t>PostgreSQL is a highly stable database backed by more than 20 years of development by the open-source community.</a:t>
            </a:r>
          </a:p>
          <a:p>
            <a:pPr>
              <a:lnSpc>
                <a:spcPct val="150000"/>
              </a:lnSpc>
            </a:pPr>
            <a:r>
              <a:rPr lang="en-US" sz="1600" b="1" dirty="0">
                <a:latin typeface="Times New Roman" panose="02020603050405020304" pitchFamily="18" charset="0"/>
                <a:cs typeface="Times New Roman" panose="02020603050405020304" pitchFamily="18" charset="0"/>
              </a:rPr>
              <a:t>PostgreSQL is used as a primary database for many web applications as well as mobile and analytics applications.</a:t>
            </a:r>
          </a:p>
          <a:p>
            <a:pPr>
              <a:lnSpc>
                <a:spcPct val="150000"/>
              </a:lnSpc>
            </a:pPr>
            <a:r>
              <a:rPr lang="en-US" sz="1600" b="1" dirty="0">
                <a:latin typeface="Times New Roman" panose="02020603050405020304" pitchFamily="18" charset="0"/>
                <a:cs typeface="Times New Roman" panose="02020603050405020304" pitchFamily="18" charset="0"/>
              </a:rPr>
              <a:t>PostgreSQL’s community pronounces PostgreSQL</a:t>
            </a:r>
          </a:p>
          <a:p>
            <a:pPr>
              <a:lnSpc>
                <a:spcPct val="150000"/>
              </a:lnSpc>
            </a:pPr>
            <a:r>
              <a:rPr lang="en-US" sz="1600" b="1" dirty="0">
                <a:latin typeface="Times New Roman" panose="02020603050405020304" pitchFamily="18" charset="0"/>
                <a:cs typeface="Times New Roman" panose="02020603050405020304" pitchFamily="18" charset="0"/>
              </a:rPr>
              <a:t>AWS PostgreSQL refers to PostgreSQL database hosting services provided by Amazon Web Services (AWS) through their Amazon Relational Database Service (RDS). PostgreSQL is an open-source, powerful, and feature-rich relational database management system known for its reliability, extensibility, and strong compliance with SQL standards.</a:t>
            </a:r>
            <a:endParaRPr lang="en-US" sz="1600" dirty="0">
              <a:latin typeface="Times New Roman" panose="02020603050405020304" pitchFamily="18" charset="0"/>
              <a:cs typeface="Times New Roman" panose="02020603050405020304" pitchFamily="18" charset="0"/>
            </a:endParaRPr>
          </a:p>
        </p:txBody>
      </p:sp>
      <p:sp>
        <p:nvSpPr>
          <p:cNvPr id="8" name="Title 4"/>
          <p:cNvSpPr>
            <a:spLocks noGrp="1"/>
          </p:cNvSpPr>
          <p:nvPr>
            <p:ph type="title"/>
          </p:nvPr>
        </p:nvSpPr>
        <p:spPr>
          <a:xfrm>
            <a:off x="238125" y="466530"/>
            <a:ext cx="10801350" cy="951107"/>
          </a:xfrm>
        </p:spPr>
        <p:txBody>
          <a:bodyPr>
            <a:noAutofit/>
          </a:bodyPr>
          <a:lstStyle/>
          <a:p>
            <a:r>
              <a:rPr lang="en-US" sz="4219" dirty="0"/>
              <a:t>AWS PostgreSQL</a:t>
            </a:r>
          </a:p>
        </p:txBody>
      </p:sp>
      <p:pic>
        <p:nvPicPr>
          <p:cNvPr id="1026" name="Picture 2" descr="Migrate PostgreSQL on Linux server to AWS PostgreSQL RDS using Londiste  (Skytools 2) | TO THE NEW Blog">
            <a:extLst>
              <a:ext uri="{FF2B5EF4-FFF2-40B4-BE49-F238E27FC236}">
                <a16:creationId xmlns:a16="http://schemas.microsoft.com/office/drawing/2014/main" id="{76EDCA29-6160-2B79-7605-F9C6F830A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0301" y="175137"/>
            <a:ext cx="2366449" cy="1086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363034"/>
      </p:ext>
    </p:extLst>
  </p:cSld>
  <p:clrMapOvr>
    <a:masterClrMapping/>
  </p:clrMapOvr>
  <p:transition spd="slow">
    <p:randomBar dir="ver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90</a:t>
            </a:fld>
            <a:endParaRPr lang="en-US"/>
          </a:p>
        </p:txBody>
      </p:sp>
      <p:sp>
        <p:nvSpPr>
          <p:cNvPr id="2" name="Content Placeholder 1"/>
          <p:cNvSpPr>
            <a:spLocks noGrp="1"/>
          </p:cNvSpPr>
          <p:nvPr>
            <p:ph idx="1"/>
          </p:nvPr>
        </p:nvSpPr>
        <p:spPr>
          <a:xfrm>
            <a:off x="223837" y="1709031"/>
            <a:ext cx="11744325" cy="3833354"/>
          </a:xfrm>
        </p:spPr>
        <p:txBody>
          <a:bodyPr>
            <a:normAutofit/>
          </a:bodyPr>
          <a:lstStyle/>
          <a:p>
            <a:pPr marL="0" indent="0">
              <a:lnSpc>
                <a:spcPct val="150000"/>
              </a:lnSpc>
              <a:buNone/>
            </a:pPr>
            <a:r>
              <a:rPr lang="en-US" sz="1600" dirty="0">
                <a:latin typeface="Times New Roman" panose="02020603050405020304" pitchFamily="18" charset="0"/>
                <a:cs typeface="Times New Roman" panose="02020603050405020304" pitchFamily="18" charset="0"/>
              </a:rPr>
              <a:t>We will complete this lab in three steps: </a:t>
            </a:r>
          </a:p>
          <a:p>
            <a:pPr marL="0" indent="0">
              <a:lnSpc>
                <a:spcPct val="150000"/>
              </a:lnSpc>
              <a:buNone/>
            </a:pPr>
            <a:endParaRPr lang="en-US" sz="16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1600" dirty="0">
                <a:latin typeface="Times New Roman" panose="02020603050405020304" pitchFamily="18" charset="0"/>
                <a:cs typeface="Times New Roman" panose="02020603050405020304" pitchFamily="18" charset="0"/>
              </a:rPr>
              <a:t>Step 1: we will create one AWS EC2</a:t>
            </a:r>
          </a:p>
          <a:p>
            <a:pPr marL="457200" lvl="1" indent="0">
              <a:lnSpc>
                <a:spcPct val="150000"/>
              </a:lnSpc>
              <a:buNone/>
            </a:pPr>
            <a:r>
              <a:rPr lang="en-US" sz="1600" dirty="0">
                <a:latin typeface="Times New Roman" panose="02020603050405020304" pitchFamily="18" charset="0"/>
                <a:cs typeface="Times New Roman" panose="02020603050405020304" pitchFamily="18" charset="0"/>
              </a:rPr>
              <a:t>Step 2 : We will setup PostgreSQL</a:t>
            </a:r>
          </a:p>
          <a:p>
            <a:pPr marL="457200" lvl="1" indent="0">
              <a:lnSpc>
                <a:spcPct val="150000"/>
              </a:lnSpc>
              <a:buNone/>
            </a:pPr>
            <a:r>
              <a:rPr lang="en-US" sz="1600" dirty="0">
                <a:latin typeface="Times New Roman" panose="02020603050405020304" pitchFamily="18" charset="0"/>
                <a:cs typeface="Times New Roman" panose="02020603050405020304" pitchFamily="18" charset="0"/>
              </a:rPr>
              <a:t>Step 3: Connect EC2 Instance to PostgreSQL RDS</a:t>
            </a:r>
          </a:p>
        </p:txBody>
      </p:sp>
      <p:sp>
        <p:nvSpPr>
          <p:cNvPr id="8" name="Title 4"/>
          <p:cNvSpPr>
            <a:spLocks noGrp="1"/>
          </p:cNvSpPr>
          <p:nvPr>
            <p:ph type="title"/>
          </p:nvPr>
        </p:nvSpPr>
        <p:spPr>
          <a:xfrm>
            <a:off x="238125" y="466530"/>
            <a:ext cx="10801350" cy="951107"/>
          </a:xfrm>
        </p:spPr>
        <p:txBody>
          <a:bodyPr>
            <a:noAutofit/>
          </a:bodyPr>
          <a:lstStyle/>
          <a:p>
            <a:r>
              <a:rPr lang="en-US" sz="4219" dirty="0"/>
              <a:t>Lab : Setup AWS PostgreSQL</a:t>
            </a:r>
          </a:p>
        </p:txBody>
      </p:sp>
      <p:pic>
        <p:nvPicPr>
          <p:cNvPr id="1026" name="Picture 2" descr="Migrate PostgreSQL on Linux server to AWS PostgreSQL RDS using Londiste  (Skytools 2) | TO THE NEW Blog">
            <a:extLst>
              <a:ext uri="{FF2B5EF4-FFF2-40B4-BE49-F238E27FC236}">
                <a16:creationId xmlns:a16="http://schemas.microsoft.com/office/drawing/2014/main" id="{76EDCA29-6160-2B79-7605-F9C6F830A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0301" y="175137"/>
            <a:ext cx="2366449" cy="1086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46167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91</a:t>
            </a:fld>
            <a:endParaRPr lang="en-US"/>
          </a:p>
        </p:txBody>
      </p:sp>
      <p:sp>
        <p:nvSpPr>
          <p:cNvPr id="2" name="Content Placeholder 1"/>
          <p:cNvSpPr>
            <a:spLocks noGrp="1"/>
          </p:cNvSpPr>
          <p:nvPr>
            <p:ph idx="1"/>
          </p:nvPr>
        </p:nvSpPr>
        <p:spPr>
          <a:xfrm>
            <a:off x="223837" y="1709031"/>
            <a:ext cx="11744325" cy="4309214"/>
          </a:xfrm>
        </p:spPr>
        <p:txBody>
          <a:bodyPr>
            <a:normAutofit/>
          </a:bodyPr>
          <a:lstStyle/>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Log in to your AWS Management Console.</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Navigate to the EC2 Dashboard.</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Click on "Launch Instance" to create a new EC2 instance.</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Choose an Amazon Machine Image (AMI) for your instance.</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Select an instance type and configure the instance details.</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Configure security groups to allow inbound traffic on the PostgreSQL port (default is 5432).</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Launch the instance and create or select an existing key pair to access it securely.</a:t>
            </a:r>
          </a:p>
        </p:txBody>
      </p:sp>
      <p:sp>
        <p:nvSpPr>
          <p:cNvPr id="8" name="Title 4"/>
          <p:cNvSpPr>
            <a:spLocks noGrp="1"/>
          </p:cNvSpPr>
          <p:nvPr>
            <p:ph type="title"/>
          </p:nvPr>
        </p:nvSpPr>
        <p:spPr>
          <a:xfrm>
            <a:off x="238125" y="466530"/>
            <a:ext cx="10801350" cy="951107"/>
          </a:xfrm>
        </p:spPr>
        <p:txBody>
          <a:bodyPr>
            <a:noAutofit/>
          </a:bodyPr>
          <a:lstStyle/>
          <a:p>
            <a:r>
              <a:rPr lang="en-US" sz="4219" dirty="0"/>
              <a:t>Step 1: Create one AWS EC2</a:t>
            </a:r>
          </a:p>
        </p:txBody>
      </p:sp>
      <p:pic>
        <p:nvPicPr>
          <p:cNvPr id="1026" name="Picture 2" descr="Migrate PostgreSQL on Linux server to AWS PostgreSQL RDS using Londiste  (Skytools 2) | TO THE NEW Blog">
            <a:extLst>
              <a:ext uri="{FF2B5EF4-FFF2-40B4-BE49-F238E27FC236}">
                <a16:creationId xmlns:a16="http://schemas.microsoft.com/office/drawing/2014/main" id="{76EDCA29-6160-2B79-7605-F9C6F830A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0301" y="175137"/>
            <a:ext cx="2366449" cy="1086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82211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92</a:t>
            </a:fld>
            <a:endParaRPr lang="en-US"/>
          </a:p>
        </p:txBody>
      </p:sp>
      <p:sp>
        <p:nvSpPr>
          <p:cNvPr id="2" name="Content Placeholder 1"/>
          <p:cNvSpPr>
            <a:spLocks noGrp="1"/>
          </p:cNvSpPr>
          <p:nvPr>
            <p:ph idx="1"/>
          </p:nvPr>
        </p:nvSpPr>
        <p:spPr>
          <a:xfrm>
            <a:off x="223837" y="1709031"/>
            <a:ext cx="11744325" cy="4309214"/>
          </a:xfrm>
        </p:spPr>
        <p:txBody>
          <a:bodyPr>
            <a:normAutofit/>
          </a:bodyPr>
          <a:lstStyle/>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Go to the Amazon RDS service in the AWS Management Console.</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Click on "Create database" and choose PostgreSQL as the database engine.</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Select the desired version, instance size, and other configuration settings.</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Set up the database credentials (username and password) and define the database details.</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Configure the security group to allow inbound traffic from the EC2 instance on port 5432 (PostgreSQL default port).</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Launch the RDS instance</a:t>
            </a:r>
          </a:p>
        </p:txBody>
      </p:sp>
      <p:sp>
        <p:nvSpPr>
          <p:cNvPr id="8" name="Title 4"/>
          <p:cNvSpPr>
            <a:spLocks noGrp="1"/>
          </p:cNvSpPr>
          <p:nvPr>
            <p:ph type="title"/>
          </p:nvPr>
        </p:nvSpPr>
        <p:spPr>
          <a:xfrm>
            <a:off x="238125" y="466530"/>
            <a:ext cx="10801350" cy="951107"/>
          </a:xfrm>
        </p:spPr>
        <p:txBody>
          <a:bodyPr>
            <a:noAutofit/>
          </a:bodyPr>
          <a:lstStyle/>
          <a:p>
            <a:r>
              <a:rPr lang="en-US" sz="4219" dirty="0"/>
              <a:t>Step 2: Setup PostgreSQL</a:t>
            </a:r>
          </a:p>
        </p:txBody>
      </p:sp>
      <p:pic>
        <p:nvPicPr>
          <p:cNvPr id="1026" name="Picture 2" descr="Migrate PostgreSQL on Linux server to AWS PostgreSQL RDS using Londiste  (Skytools 2) | TO THE NEW Blog">
            <a:extLst>
              <a:ext uri="{FF2B5EF4-FFF2-40B4-BE49-F238E27FC236}">
                <a16:creationId xmlns:a16="http://schemas.microsoft.com/office/drawing/2014/main" id="{76EDCA29-6160-2B79-7605-F9C6F830A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0301" y="175137"/>
            <a:ext cx="2366449" cy="1086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77827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93</a:t>
            </a:fld>
            <a:endParaRPr lang="en-US"/>
          </a:p>
        </p:txBody>
      </p:sp>
      <p:sp>
        <p:nvSpPr>
          <p:cNvPr id="2" name="Content Placeholder 1"/>
          <p:cNvSpPr>
            <a:spLocks noGrp="1"/>
          </p:cNvSpPr>
          <p:nvPr>
            <p:ph idx="1"/>
          </p:nvPr>
        </p:nvSpPr>
        <p:spPr>
          <a:xfrm>
            <a:off x="223837" y="1709031"/>
            <a:ext cx="11744325" cy="4309214"/>
          </a:xfrm>
        </p:spPr>
        <p:txBody>
          <a:bodyPr>
            <a:normAutofit/>
          </a:bodyPr>
          <a:lstStyle/>
          <a:p>
            <a:pPr marL="0" indent="0" algn="l">
              <a:buNone/>
            </a:pPr>
            <a:r>
              <a:rPr lang="en-US" sz="1400" b="1" i="0" dirty="0">
                <a:effectLst/>
                <a:latin typeface="Times New Roman" panose="02020603050405020304" pitchFamily="18" charset="0"/>
                <a:cs typeface="Times New Roman" panose="02020603050405020304" pitchFamily="18" charset="0"/>
              </a:rPr>
              <a:t>To connect to a PostgreSQL DB instance using </a:t>
            </a:r>
            <a:r>
              <a:rPr lang="en-US" sz="1400" b="1" i="0" dirty="0" err="1">
                <a:effectLst/>
                <a:latin typeface="Times New Roman" panose="02020603050405020304" pitchFamily="18" charset="0"/>
                <a:cs typeface="Times New Roman" panose="02020603050405020304" pitchFamily="18" charset="0"/>
              </a:rPr>
              <a:t>psql</a:t>
            </a:r>
            <a:endParaRPr lang="en-US" sz="1400" b="1" i="0" dirty="0">
              <a:effectLst/>
              <a:latin typeface="Times New Roman" panose="02020603050405020304" pitchFamily="18" charset="0"/>
              <a:cs typeface="Times New Roman" panose="02020603050405020304" pitchFamily="18" charset="0"/>
            </a:endParaRPr>
          </a:p>
          <a:p>
            <a:pPr algn="l">
              <a:buFont typeface="+mj-lt"/>
              <a:buAutoNum type="arabicPeriod"/>
            </a:pPr>
            <a:r>
              <a:rPr lang="en-US" sz="1400" b="0" i="0" dirty="0">
                <a:effectLst/>
                <a:latin typeface="Times New Roman" panose="02020603050405020304" pitchFamily="18" charset="0"/>
                <a:cs typeface="Times New Roman" panose="02020603050405020304" pitchFamily="18" charset="0"/>
              </a:rPr>
              <a:t>Find the endpoint (DNS name) and port number for your DB instance.</a:t>
            </a:r>
          </a:p>
          <a:p>
            <a:pPr marL="800100" lvl="1" indent="-342900" algn="l">
              <a:buFont typeface="+mj-lt"/>
              <a:buAutoNum type="alphaLcPeriod"/>
            </a:pPr>
            <a:r>
              <a:rPr lang="en-US" sz="1400" b="0" i="0" dirty="0">
                <a:effectLst/>
                <a:latin typeface="Times New Roman" panose="02020603050405020304" pitchFamily="18" charset="0"/>
                <a:cs typeface="Times New Roman" panose="02020603050405020304" pitchFamily="18" charset="0"/>
              </a:rPr>
              <a:t>Sign in to the AWS Management Console and open the Amazon RDS console at </a:t>
            </a:r>
            <a:r>
              <a:rPr lang="en-US" sz="14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https://console.aws.amazon.com/rds/</a:t>
            </a:r>
            <a:r>
              <a:rPr lang="en-US" sz="1400" b="0" i="0" dirty="0">
                <a:effectLst/>
                <a:latin typeface="Times New Roman" panose="02020603050405020304" pitchFamily="18" charset="0"/>
                <a:cs typeface="Times New Roman" panose="02020603050405020304" pitchFamily="18" charset="0"/>
              </a:rPr>
              <a:t>.</a:t>
            </a:r>
          </a:p>
          <a:p>
            <a:pPr marL="800100" lvl="1" indent="-342900" algn="l">
              <a:buFont typeface="+mj-lt"/>
              <a:buAutoNum type="alphaLcPeriod"/>
            </a:pPr>
            <a:r>
              <a:rPr lang="en-US" sz="1400" b="0" i="0" dirty="0">
                <a:effectLst/>
                <a:latin typeface="Times New Roman" panose="02020603050405020304" pitchFamily="18" charset="0"/>
                <a:cs typeface="Times New Roman" panose="02020603050405020304" pitchFamily="18" charset="0"/>
              </a:rPr>
              <a:t>In the upper-right corner of the Amazon RDS console, choose the AWS Region for the DB instance.</a:t>
            </a:r>
          </a:p>
          <a:p>
            <a:pPr marL="800100" lvl="1" indent="-342900" algn="l">
              <a:buFont typeface="+mj-lt"/>
              <a:buAutoNum type="alphaLcPeriod"/>
            </a:pPr>
            <a:r>
              <a:rPr lang="en-US" sz="1400" b="0" i="0" dirty="0">
                <a:effectLst/>
                <a:latin typeface="Times New Roman" panose="02020603050405020304" pitchFamily="18" charset="0"/>
                <a:cs typeface="Times New Roman" panose="02020603050405020304" pitchFamily="18" charset="0"/>
              </a:rPr>
              <a:t>In the navigation pane, choose </a:t>
            </a:r>
            <a:r>
              <a:rPr lang="en-US" sz="1400" b="1" i="0" dirty="0">
                <a:effectLst/>
                <a:latin typeface="Times New Roman" panose="02020603050405020304" pitchFamily="18" charset="0"/>
                <a:cs typeface="Times New Roman" panose="02020603050405020304" pitchFamily="18" charset="0"/>
              </a:rPr>
              <a:t>Databases</a:t>
            </a:r>
            <a:r>
              <a:rPr lang="en-US" sz="1400" b="0" i="0" dirty="0">
                <a:effectLst/>
                <a:latin typeface="Times New Roman" panose="02020603050405020304" pitchFamily="18" charset="0"/>
                <a:cs typeface="Times New Roman" panose="02020603050405020304" pitchFamily="18" charset="0"/>
              </a:rPr>
              <a:t>.</a:t>
            </a:r>
          </a:p>
          <a:p>
            <a:pPr marL="800100" lvl="1" indent="-342900" algn="l">
              <a:buFont typeface="+mj-lt"/>
              <a:buAutoNum type="alphaLcPeriod"/>
            </a:pPr>
            <a:r>
              <a:rPr lang="en-US" sz="1400" b="0" i="0" dirty="0">
                <a:effectLst/>
                <a:latin typeface="Times New Roman" panose="02020603050405020304" pitchFamily="18" charset="0"/>
                <a:cs typeface="Times New Roman" panose="02020603050405020304" pitchFamily="18" charset="0"/>
              </a:rPr>
              <a:t>Choose the PostgreSQL DB instance name to display its details.</a:t>
            </a:r>
          </a:p>
          <a:p>
            <a:pPr marL="800100" lvl="1" indent="-342900" algn="l">
              <a:buFont typeface="+mj-lt"/>
              <a:buAutoNum type="alphaLcPeriod"/>
            </a:pPr>
            <a:r>
              <a:rPr lang="en-US" sz="1400" b="0" i="0" dirty="0">
                <a:effectLst/>
                <a:latin typeface="Times New Roman" panose="02020603050405020304" pitchFamily="18" charset="0"/>
                <a:cs typeface="Times New Roman" panose="02020603050405020304" pitchFamily="18" charset="0"/>
              </a:rPr>
              <a:t>On the </a:t>
            </a:r>
            <a:r>
              <a:rPr lang="en-US" sz="1400" b="1" i="0" dirty="0">
                <a:effectLst/>
                <a:latin typeface="Times New Roman" panose="02020603050405020304" pitchFamily="18" charset="0"/>
                <a:cs typeface="Times New Roman" panose="02020603050405020304" pitchFamily="18" charset="0"/>
              </a:rPr>
              <a:t>Connectivity &amp; security</a:t>
            </a:r>
            <a:r>
              <a:rPr lang="en-US" sz="1400" b="0" i="0" dirty="0">
                <a:effectLst/>
                <a:latin typeface="Times New Roman" panose="02020603050405020304" pitchFamily="18" charset="0"/>
                <a:cs typeface="Times New Roman" panose="02020603050405020304" pitchFamily="18" charset="0"/>
              </a:rPr>
              <a:t> tab, copy the endpoint. Also note the port number. You need both the endpoint and the port number to connect to the DB instance.</a:t>
            </a:r>
          </a:p>
          <a:p>
            <a:pPr algn="l">
              <a:buFont typeface="+mj-lt"/>
              <a:buAutoNum type="arabicPeriod"/>
            </a:pPr>
            <a:r>
              <a:rPr lang="en-US" sz="1400" b="0" i="0" dirty="0">
                <a:effectLst/>
                <a:latin typeface="Times New Roman" panose="02020603050405020304" pitchFamily="18" charset="0"/>
                <a:cs typeface="Times New Roman" panose="02020603050405020304" pitchFamily="18" charset="0"/>
              </a:rPr>
              <a:t>Connect to the EC2 instance that you created earlier by following the steps in </a:t>
            </a:r>
            <a:r>
              <a:rPr lang="en-US" sz="1400" b="0" i="0" u="none"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Connect to your Linux instance</a:t>
            </a:r>
            <a:r>
              <a:rPr lang="en-US" sz="1400" b="0" i="0" dirty="0">
                <a:effectLst/>
                <a:latin typeface="Times New Roman" panose="02020603050405020304" pitchFamily="18" charset="0"/>
                <a:cs typeface="Times New Roman" panose="02020603050405020304" pitchFamily="18" charset="0"/>
              </a:rPr>
              <a:t> in the </a:t>
            </a:r>
            <a:r>
              <a:rPr lang="en-US" sz="1400" b="0" i="1" dirty="0">
                <a:effectLst/>
                <a:latin typeface="Times New Roman" panose="02020603050405020304" pitchFamily="18" charset="0"/>
                <a:cs typeface="Times New Roman" panose="02020603050405020304" pitchFamily="18" charset="0"/>
              </a:rPr>
              <a:t>Amazon EC2 User Guide for Linux Instances</a:t>
            </a:r>
            <a:r>
              <a:rPr lang="en-US" sz="1400" b="0" i="0" dirty="0">
                <a:effectLst/>
                <a:latin typeface="Times New Roman" panose="02020603050405020304" pitchFamily="18" charset="0"/>
                <a:cs typeface="Times New Roman" panose="02020603050405020304" pitchFamily="18" charset="0"/>
              </a:rPr>
              <a:t>.</a:t>
            </a:r>
          </a:p>
          <a:p>
            <a:pPr marL="0" indent="0" algn="l">
              <a:buNone/>
            </a:pPr>
            <a:r>
              <a:rPr lang="en-US" sz="1400" b="1" dirty="0">
                <a:solidFill>
                  <a:srgbClr val="C00000"/>
                </a:solidFill>
                <a:latin typeface="Times New Roman" panose="02020603050405020304" pitchFamily="18" charset="0"/>
                <a:cs typeface="Times New Roman" panose="02020603050405020304" pitchFamily="18" charset="0"/>
              </a:rPr>
              <a:t>                                                           </a:t>
            </a:r>
            <a:r>
              <a:rPr lang="en-US" sz="1400" b="1" dirty="0" err="1">
                <a:solidFill>
                  <a:srgbClr val="C00000"/>
                </a:solidFill>
                <a:highlight>
                  <a:srgbClr val="FFFF00"/>
                </a:highlight>
                <a:latin typeface="Times New Roman" panose="02020603050405020304" pitchFamily="18" charset="0"/>
                <a:cs typeface="Times New Roman" panose="02020603050405020304" pitchFamily="18" charset="0"/>
              </a:rPr>
              <a:t>ssh</a:t>
            </a:r>
            <a:r>
              <a:rPr lang="en-US" sz="1400" b="1" dirty="0">
                <a:solidFill>
                  <a:srgbClr val="C00000"/>
                </a:solidFill>
                <a:highlight>
                  <a:srgbClr val="FFFF00"/>
                </a:highlight>
                <a:latin typeface="Times New Roman" panose="02020603050405020304" pitchFamily="18" charset="0"/>
                <a:cs typeface="Times New Roman" panose="02020603050405020304" pitchFamily="18" charset="0"/>
              </a:rPr>
              <a:t> -</a:t>
            </a:r>
            <a:r>
              <a:rPr lang="en-US" sz="1400" b="1" dirty="0" err="1">
                <a:solidFill>
                  <a:srgbClr val="C00000"/>
                </a:solidFill>
                <a:highlight>
                  <a:srgbClr val="FFFF00"/>
                </a:highlight>
                <a:latin typeface="Times New Roman" panose="02020603050405020304" pitchFamily="18" charset="0"/>
                <a:cs typeface="Times New Roman" panose="02020603050405020304" pitchFamily="18" charset="0"/>
              </a:rPr>
              <a:t>i</a:t>
            </a:r>
            <a:r>
              <a:rPr lang="en-US" sz="1400" b="1" dirty="0">
                <a:solidFill>
                  <a:srgbClr val="C00000"/>
                </a:solidFill>
                <a:highlight>
                  <a:srgbClr val="FFFF00"/>
                </a:highlight>
                <a:latin typeface="Times New Roman" panose="02020603050405020304" pitchFamily="18" charset="0"/>
                <a:cs typeface="Times New Roman" panose="02020603050405020304" pitchFamily="18" charset="0"/>
              </a:rPr>
              <a:t> </a:t>
            </a:r>
            <a:r>
              <a:rPr lang="en-US" sz="1400" b="1" dirty="0" err="1">
                <a:solidFill>
                  <a:srgbClr val="C00000"/>
                </a:solidFill>
                <a:highlight>
                  <a:srgbClr val="FFFF00"/>
                </a:highlight>
                <a:latin typeface="Times New Roman" panose="02020603050405020304" pitchFamily="18" charset="0"/>
                <a:cs typeface="Times New Roman" panose="02020603050405020304" pitchFamily="18" charset="0"/>
              </a:rPr>
              <a:t>location_of_pem_file</a:t>
            </a:r>
            <a:r>
              <a:rPr lang="en-US" sz="1400" b="1" dirty="0">
                <a:solidFill>
                  <a:srgbClr val="C00000"/>
                </a:solidFill>
                <a:highlight>
                  <a:srgbClr val="FFFF00"/>
                </a:highlight>
                <a:latin typeface="Times New Roman" panose="02020603050405020304" pitchFamily="18" charset="0"/>
                <a:cs typeface="Times New Roman" panose="02020603050405020304" pitchFamily="18" charset="0"/>
              </a:rPr>
              <a:t> ec2-user@ec2-instance-public-dns-name</a:t>
            </a:r>
          </a:p>
          <a:p>
            <a:pPr marL="0" indent="0" algn="l">
              <a:buNone/>
            </a:pPr>
            <a:r>
              <a:rPr lang="en-US" sz="1400" b="1" i="0" dirty="0">
                <a:effectLst/>
                <a:latin typeface="Times New Roman" panose="02020603050405020304" pitchFamily="18" charset="0"/>
                <a:cs typeface="Times New Roman" panose="02020603050405020304" pitchFamily="18" charset="0"/>
              </a:rPr>
              <a:t>3. To install the </a:t>
            </a:r>
            <a:r>
              <a:rPr lang="en-US" sz="1400" b="1" i="0" dirty="0" err="1">
                <a:effectLst/>
                <a:latin typeface="Times New Roman" panose="02020603050405020304" pitchFamily="18" charset="0"/>
                <a:cs typeface="Times New Roman" panose="02020603050405020304" pitchFamily="18" charset="0"/>
              </a:rPr>
              <a:t>psql</a:t>
            </a:r>
            <a:r>
              <a:rPr lang="en-US" sz="1400" b="1" i="0" dirty="0">
                <a:effectLst/>
                <a:latin typeface="Times New Roman" panose="02020603050405020304" pitchFamily="18" charset="0"/>
                <a:cs typeface="Times New Roman" panose="02020603050405020304" pitchFamily="18" charset="0"/>
              </a:rPr>
              <a:t> command-line client from PostgreSQL on Amazon Linux 2023, run the following command:</a:t>
            </a:r>
          </a:p>
          <a:p>
            <a:pPr marL="0" indent="0" algn="ctr">
              <a:buNone/>
            </a:pPr>
            <a:r>
              <a:rPr lang="en-US" sz="1400" b="1" dirty="0" err="1">
                <a:solidFill>
                  <a:srgbClr val="C00000"/>
                </a:solidFill>
                <a:highlight>
                  <a:srgbClr val="FFFF00"/>
                </a:highlight>
                <a:latin typeface="Times New Roman" panose="02020603050405020304" pitchFamily="18" charset="0"/>
                <a:cs typeface="Times New Roman" panose="02020603050405020304" pitchFamily="18" charset="0"/>
              </a:rPr>
              <a:t>sudo</a:t>
            </a:r>
            <a:r>
              <a:rPr lang="en-US" sz="1400" b="1" dirty="0">
                <a:solidFill>
                  <a:srgbClr val="C00000"/>
                </a:solidFill>
                <a:highlight>
                  <a:srgbClr val="FFFF00"/>
                </a:highlight>
                <a:latin typeface="Times New Roman" panose="02020603050405020304" pitchFamily="18" charset="0"/>
                <a:cs typeface="Times New Roman" panose="02020603050405020304" pitchFamily="18" charset="0"/>
              </a:rPr>
              <a:t> </a:t>
            </a:r>
            <a:r>
              <a:rPr lang="en-US" sz="1400" b="1" dirty="0" err="1">
                <a:solidFill>
                  <a:srgbClr val="C00000"/>
                </a:solidFill>
                <a:highlight>
                  <a:srgbClr val="FFFF00"/>
                </a:highlight>
                <a:latin typeface="Times New Roman" panose="02020603050405020304" pitchFamily="18" charset="0"/>
                <a:cs typeface="Times New Roman" panose="02020603050405020304" pitchFamily="18" charset="0"/>
              </a:rPr>
              <a:t>dnf</a:t>
            </a:r>
            <a:r>
              <a:rPr lang="en-US" sz="1400" b="1" dirty="0">
                <a:solidFill>
                  <a:srgbClr val="C00000"/>
                </a:solidFill>
                <a:highlight>
                  <a:srgbClr val="FFFF00"/>
                </a:highlight>
                <a:latin typeface="Times New Roman" panose="02020603050405020304" pitchFamily="18" charset="0"/>
                <a:cs typeface="Times New Roman" panose="02020603050405020304" pitchFamily="18" charset="0"/>
              </a:rPr>
              <a:t> install postgresql15</a:t>
            </a:r>
          </a:p>
          <a:p>
            <a:pPr marL="0" indent="0">
              <a:buNone/>
            </a:pPr>
            <a:r>
              <a:rPr lang="en-US" sz="1400" b="1" dirty="0">
                <a:latin typeface="Times New Roman" panose="02020603050405020304" pitchFamily="18" charset="0"/>
                <a:cs typeface="Times New Roman" panose="02020603050405020304" pitchFamily="18" charset="0"/>
              </a:rPr>
              <a:t>And then execute below command to connect your </a:t>
            </a:r>
            <a:r>
              <a:rPr lang="en-US" sz="1400" b="1" dirty="0" err="1">
                <a:latin typeface="Times New Roman" panose="02020603050405020304" pitchFamily="18" charset="0"/>
                <a:cs typeface="Times New Roman" panose="02020603050405020304" pitchFamily="18" charset="0"/>
              </a:rPr>
              <a:t>db</a:t>
            </a:r>
            <a:r>
              <a:rPr lang="en-US" sz="1400" b="1" dirty="0">
                <a:latin typeface="Times New Roman" panose="02020603050405020304" pitchFamily="18" charset="0"/>
                <a:cs typeface="Times New Roman" panose="02020603050405020304" pitchFamily="18" charset="0"/>
              </a:rPr>
              <a:t> to ec2</a:t>
            </a:r>
          </a:p>
          <a:p>
            <a:pPr marL="0" indent="0" algn="ctr">
              <a:buNone/>
            </a:pPr>
            <a:r>
              <a:rPr lang="en-US" sz="1400" b="1" i="0" dirty="0" err="1">
                <a:solidFill>
                  <a:srgbClr val="C00000"/>
                </a:solidFill>
                <a:effectLst/>
                <a:highlight>
                  <a:srgbClr val="FFFF00"/>
                </a:highlight>
                <a:latin typeface="Times New Roman" panose="02020603050405020304" pitchFamily="18" charset="0"/>
                <a:cs typeface="Times New Roman" panose="02020603050405020304" pitchFamily="18" charset="0"/>
              </a:rPr>
              <a:t>psql</a:t>
            </a: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 --host=endpoint --port=5432 --</a:t>
            </a:r>
            <a:r>
              <a:rPr lang="en-US" sz="1400" b="1" i="0" dirty="0" err="1">
                <a:solidFill>
                  <a:srgbClr val="C00000"/>
                </a:solidFill>
                <a:effectLst/>
                <a:highlight>
                  <a:srgbClr val="FFFF00"/>
                </a:highlight>
                <a:latin typeface="Times New Roman" panose="02020603050405020304" pitchFamily="18" charset="0"/>
                <a:cs typeface="Times New Roman" panose="02020603050405020304" pitchFamily="18" charset="0"/>
              </a:rPr>
              <a:t>dbname</a:t>
            </a: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a:t>
            </a:r>
            <a:r>
              <a:rPr lang="en-US" sz="1400" b="1" i="0" dirty="0" err="1">
                <a:solidFill>
                  <a:srgbClr val="C00000"/>
                </a:solidFill>
                <a:effectLst/>
                <a:highlight>
                  <a:srgbClr val="FFFF00"/>
                </a:highlight>
                <a:latin typeface="Times New Roman" panose="02020603050405020304" pitchFamily="18" charset="0"/>
                <a:cs typeface="Times New Roman" panose="02020603050405020304" pitchFamily="18" charset="0"/>
              </a:rPr>
              <a:t>postgres</a:t>
            </a: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 --username=</a:t>
            </a:r>
            <a:r>
              <a:rPr lang="en-US" sz="1400" b="1" i="0" dirty="0" err="1">
                <a:solidFill>
                  <a:srgbClr val="C00000"/>
                </a:solidFill>
                <a:effectLst/>
                <a:highlight>
                  <a:srgbClr val="FFFF00"/>
                </a:highlight>
                <a:latin typeface="Times New Roman" panose="02020603050405020304" pitchFamily="18" charset="0"/>
                <a:cs typeface="Times New Roman" panose="02020603050405020304" pitchFamily="18" charset="0"/>
              </a:rPr>
              <a:t>postgres</a:t>
            </a:r>
            <a:endPar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endParaRPr>
          </a:p>
        </p:txBody>
      </p:sp>
      <p:sp>
        <p:nvSpPr>
          <p:cNvPr id="8" name="Title 4"/>
          <p:cNvSpPr>
            <a:spLocks noGrp="1"/>
          </p:cNvSpPr>
          <p:nvPr>
            <p:ph type="title"/>
          </p:nvPr>
        </p:nvSpPr>
        <p:spPr>
          <a:xfrm>
            <a:off x="238125" y="466530"/>
            <a:ext cx="10801350" cy="951107"/>
          </a:xfrm>
        </p:spPr>
        <p:txBody>
          <a:bodyPr>
            <a:noAutofit/>
          </a:bodyPr>
          <a:lstStyle/>
          <a:p>
            <a:r>
              <a:rPr lang="en-US" sz="2800" dirty="0"/>
              <a:t>Step 3: Connect EC2 Instance to RDS</a:t>
            </a:r>
          </a:p>
        </p:txBody>
      </p:sp>
      <p:pic>
        <p:nvPicPr>
          <p:cNvPr id="1026" name="Picture 2" descr="Migrate PostgreSQL on Linux server to AWS PostgreSQL RDS using Londiste  (Skytools 2) | TO THE NEW Blog">
            <a:extLst>
              <a:ext uri="{FF2B5EF4-FFF2-40B4-BE49-F238E27FC236}">
                <a16:creationId xmlns:a16="http://schemas.microsoft.com/office/drawing/2014/main" id="{76EDCA29-6160-2B79-7605-F9C6F830A0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0301" y="175137"/>
            <a:ext cx="2366449" cy="1086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678628"/>
      </p:ext>
    </p:extLst>
  </p:cSld>
  <p:clrMapOvr>
    <a:masterClrMapping/>
  </p:clrMapOvr>
  <p:transition spd="slow">
    <p:randomBar dir="ver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94</a:t>
            </a:fld>
            <a:endParaRPr lang="en-US"/>
          </a:p>
        </p:txBody>
      </p:sp>
      <p:sp>
        <p:nvSpPr>
          <p:cNvPr id="2" name="Content Placeholder 1"/>
          <p:cNvSpPr>
            <a:spLocks noGrp="1"/>
          </p:cNvSpPr>
          <p:nvPr>
            <p:ph idx="1"/>
          </p:nvPr>
        </p:nvSpPr>
        <p:spPr>
          <a:xfrm>
            <a:off x="223837" y="1709031"/>
            <a:ext cx="11744325" cy="4309214"/>
          </a:xfrm>
        </p:spPr>
        <p:txBody>
          <a:bodyPr>
            <a:normAutofit/>
          </a:bodyPr>
          <a:lstStyle/>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NoSQL is a type of database management system (DBMS) that is designed to handle and store large volumes of unstructured and semi-structured data. </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Unlike traditional relational databases that use tables with pre-defined schemas to store data, NoSQL databases use flexible data models that can adapt to changes in data structures and are capable of scaling horizontally to handle growing amounts of data.</a:t>
            </a:r>
          </a:p>
          <a:p>
            <a:pPr marL="800100" lvl="1" indent="-342900">
              <a:lnSpc>
                <a:spcPct val="160000"/>
              </a:lnSpc>
              <a:buFont typeface="+mj-lt"/>
              <a:buAutoNum type="arabicPeriod"/>
            </a:pPr>
            <a:r>
              <a:rPr lang="en-US" sz="1600" dirty="0">
                <a:latin typeface="Times New Roman" panose="02020603050405020304" pitchFamily="18" charset="0"/>
                <a:cs typeface="Times New Roman" panose="02020603050405020304" pitchFamily="18" charset="0"/>
              </a:rPr>
              <a:t>The term NoSQL originally referred to “non-SQL” or “non-relational” databases, but the term has since evolved to mean “not only SQL,” as NoSQL databases have expanded to include a wide range of different database architectures and data models.</a:t>
            </a:r>
          </a:p>
        </p:txBody>
      </p:sp>
      <p:sp>
        <p:nvSpPr>
          <p:cNvPr id="8" name="Title 4"/>
          <p:cNvSpPr>
            <a:spLocks noGrp="1"/>
          </p:cNvSpPr>
          <p:nvPr>
            <p:ph type="title"/>
          </p:nvPr>
        </p:nvSpPr>
        <p:spPr>
          <a:xfrm>
            <a:off x="238125" y="466530"/>
            <a:ext cx="10801350" cy="951107"/>
          </a:xfrm>
        </p:spPr>
        <p:txBody>
          <a:bodyPr>
            <a:noAutofit/>
          </a:bodyPr>
          <a:lstStyle/>
          <a:p>
            <a:r>
              <a:rPr lang="en-US" sz="4219" dirty="0"/>
              <a:t>Introduction of NoSQL</a:t>
            </a:r>
          </a:p>
        </p:txBody>
      </p:sp>
      <p:pic>
        <p:nvPicPr>
          <p:cNvPr id="5" name="Picture 2" descr="NoSQL Tutorials">
            <a:extLst>
              <a:ext uri="{FF2B5EF4-FFF2-40B4-BE49-F238E27FC236}">
                <a16:creationId xmlns:a16="http://schemas.microsoft.com/office/drawing/2014/main" id="{6ABE1A25-1AE1-FB2A-1134-E9D4CA1A7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6368" y="-322224"/>
            <a:ext cx="1882840" cy="1882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203302"/>
      </p:ext>
    </p:extLst>
  </p:cSld>
  <p:clrMapOvr>
    <a:masterClrMapping/>
  </p:clrMapOvr>
  <p:transition spd="slow">
    <p:randomBar dir="ver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95</a:t>
            </a:fld>
            <a:endParaRPr lang="en-US"/>
          </a:p>
        </p:txBody>
      </p:sp>
      <p:sp>
        <p:nvSpPr>
          <p:cNvPr id="2" name="Content Placeholder 1"/>
          <p:cNvSpPr>
            <a:spLocks noGrp="1"/>
          </p:cNvSpPr>
          <p:nvPr>
            <p:ph idx="1"/>
          </p:nvPr>
        </p:nvSpPr>
        <p:spPr>
          <a:xfrm>
            <a:off x="223837" y="1709031"/>
            <a:ext cx="11744325" cy="4309214"/>
          </a:xfrm>
        </p:spPr>
        <p:txBody>
          <a:bodyPr>
            <a:normAutofit/>
          </a:bodyPr>
          <a:lstStyle/>
          <a:p>
            <a:pPr marL="0" indent="0" algn="l" fontAlgn="base">
              <a:lnSpc>
                <a:spcPct val="150000"/>
              </a:lnSpc>
              <a:buNone/>
            </a:pPr>
            <a:r>
              <a:rPr lang="en-US" sz="1600" b="1" i="0" dirty="0">
                <a:effectLst/>
                <a:latin typeface="Times New Roman" panose="02020603050405020304" pitchFamily="18" charset="0"/>
                <a:cs typeface="Times New Roman" panose="02020603050405020304" pitchFamily="18" charset="0"/>
              </a:rPr>
              <a:t>NoSQL databases are generally classified into four main categories:</a:t>
            </a:r>
          </a:p>
          <a:p>
            <a:pPr algn="l" fontAlgn="base">
              <a:lnSpc>
                <a:spcPct val="150000"/>
              </a:lnSpc>
              <a:buFont typeface="+mj-lt"/>
              <a:buAutoNum type="arabicPeriod"/>
            </a:pPr>
            <a:r>
              <a:rPr lang="en-US" sz="1600" b="1" i="0" dirty="0">
                <a:effectLst/>
                <a:latin typeface="Times New Roman" panose="02020603050405020304" pitchFamily="18" charset="0"/>
                <a:cs typeface="Times New Roman" panose="02020603050405020304" pitchFamily="18" charset="0"/>
              </a:rPr>
              <a:t>Document databases: </a:t>
            </a:r>
            <a:r>
              <a:rPr lang="en-US" sz="1600" b="0" i="0" dirty="0">
                <a:effectLst/>
                <a:latin typeface="Times New Roman" panose="02020603050405020304" pitchFamily="18" charset="0"/>
                <a:cs typeface="Times New Roman" panose="02020603050405020304" pitchFamily="18" charset="0"/>
              </a:rPr>
              <a:t>These databases store data as semi-structured documents, such as JSON or XML, and can be queried using document-oriented query languages.</a:t>
            </a:r>
          </a:p>
          <a:p>
            <a:pPr algn="l" fontAlgn="base">
              <a:lnSpc>
                <a:spcPct val="150000"/>
              </a:lnSpc>
              <a:buFont typeface="+mj-lt"/>
              <a:buAutoNum type="arabicPeriod" startAt="2"/>
            </a:pPr>
            <a:r>
              <a:rPr lang="en-US" sz="1600" b="1" i="0" dirty="0">
                <a:effectLst/>
                <a:latin typeface="Times New Roman" panose="02020603050405020304" pitchFamily="18" charset="0"/>
                <a:cs typeface="Times New Roman" panose="02020603050405020304" pitchFamily="18" charset="0"/>
              </a:rPr>
              <a:t>Key-value stores:</a:t>
            </a:r>
            <a:r>
              <a:rPr lang="en-US" sz="1600" b="0" i="0" dirty="0">
                <a:effectLst/>
                <a:latin typeface="Times New Roman" panose="02020603050405020304" pitchFamily="18" charset="0"/>
                <a:cs typeface="Times New Roman" panose="02020603050405020304" pitchFamily="18" charset="0"/>
              </a:rPr>
              <a:t> These databases store data as key-value pairs, and are optimized for simple and fast read/write operations.</a:t>
            </a:r>
          </a:p>
          <a:p>
            <a:pPr algn="l" fontAlgn="base">
              <a:lnSpc>
                <a:spcPct val="150000"/>
              </a:lnSpc>
              <a:buFont typeface="+mj-lt"/>
              <a:buAutoNum type="arabicPeriod" startAt="3"/>
            </a:pPr>
            <a:r>
              <a:rPr lang="en-US" sz="1600" b="1" i="0" dirty="0">
                <a:effectLst/>
                <a:latin typeface="Times New Roman" panose="02020603050405020304" pitchFamily="18" charset="0"/>
                <a:cs typeface="Times New Roman" panose="02020603050405020304" pitchFamily="18" charset="0"/>
              </a:rPr>
              <a:t>Column-family stores:</a:t>
            </a:r>
            <a:r>
              <a:rPr lang="en-US" sz="1600" b="0" i="0" dirty="0">
                <a:effectLst/>
                <a:latin typeface="Times New Roman" panose="02020603050405020304" pitchFamily="18" charset="0"/>
                <a:cs typeface="Times New Roman" panose="02020603050405020304" pitchFamily="18" charset="0"/>
              </a:rPr>
              <a:t> These databases store data as column families, which are sets of columns that are treated as a single entity. They are optimized for fast and efficient querying of large amounts of data.</a:t>
            </a:r>
          </a:p>
          <a:p>
            <a:pPr algn="l" fontAlgn="base">
              <a:lnSpc>
                <a:spcPct val="150000"/>
              </a:lnSpc>
              <a:buFont typeface="+mj-lt"/>
              <a:buAutoNum type="arabicPeriod" startAt="4"/>
            </a:pPr>
            <a:r>
              <a:rPr lang="en-US" sz="1600" b="1" i="0" dirty="0">
                <a:effectLst/>
                <a:latin typeface="Times New Roman" panose="02020603050405020304" pitchFamily="18" charset="0"/>
                <a:cs typeface="Times New Roman" panose="02020603050405020304" pitchFamily="18" charset="0"/>
              </a:rPr>
              <a:t>Graph databases:</a:t>
            </a:r>
            <a:r>
              <a:rPr lang="en-US" sz="1600" b="0" i="0" dirty="0">
                <a:effectLst/>
                <a:latin typeface="Times New Roman" panose="02020603050405020304" pitchFamily="18" charset="0"/>
                <a:cs typeface="Times New Roman" panose="02020603050405020304" pitchFamily="18" charset="0"/>
              </a:rPr>
              <a:t> These databases store data as nodes and edges, and are designed to handle complex relationships between data.</a:t>
            </a:r>
          </a:p>
        </p:txBody>
      </p:sp>
      <p:sp>
        <p:nvSpPr>
          <p:cNvPr id="8" name="Title 4"/>
          <p:cNvSpPr>
            <a:spLocks noGrp="1"/>
          </p:cNvSpPr>
          <p:nvPr>
            <p:ph type="title"/>
          </p:nvPr>
        </p:nvSpPr>
        <p:spPr>
          <a:xfrm>
            <a:off x="238125" y="466530"/>
            <a:ext cx="10801350" cy="951107"/>
          </a:xfrm>
        </p:spPr>
        <p:txBody>
          <a:bodyPr>
            <a:noAutofit/>
          </a:bodyPr>
          <a:lstStyle/>
          <a:p>
            <a:r>
              <a:rPr lang="en-US" sz="4219" dirty="0"/>
              <a:t>Introduction of NoSQL</a:t>
            </a:r>
          </a:p>
        </p:txBody>
      </p:sp>
      <p:pic>
        <p:nvPicPr>
          <p:cNvPr id="2050" name="Picture 2" descr="NoSQL Tutorials">
            <a:extLst>
              <a:ext uri="{FF2B5EF4-FFF2-40B4-BE49-F238E27FC236}">
                <a16:creationId xmlns:a16="http://schemas.microsoft.com/office/drawing/2014/main" id="{A9ACE63D-B635-5B23-B745-642D4DBE12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6368" y="-322224"/>
            <a:ext cx="1882840" cy="1882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33442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96</a:t>
            </a:fld>
            <a:endParaRPr lang="en-US"/>
          </a:p>
        </p:txBody>
      </p:sp>
      <p:sp>
        <p:nvSpPr>
          <p:cNvPr id="8" name="Title 4"/>
          <p:cNvSpPr>
            <a:spLocks noGrp="1"/>
          </p:cNvSpPr>
          <p:nvPr>
            <p:ph type="title"/>
          </p:nvPr>
        </p:nvSpPr>
        <p:spPr>
          <a:xfrm>
            <a:off x="238125" y="466530"/>
            <a:ext cx="10801350" cy="951107"/>
          </a:xfrm>
        </p:spPr>
        <p:txBody>
          <a:bodyPr>
            <a:noAutofit/>
          </a:bodyPr>
          <a:lstStyle/>
          <a:p>
            <a:r>
              <a:rPr lang="en-US" sz="4219" dirty="0"/>
              <a:t>SQL vs NoSQL</a:t>
            </a:r>
          </a:p>
        </p:txBody>
      </p:sp>
      <p:pic>
        <p:nvPicPr>
          <p:cNvPr id="2050" name="Picture 2" descr="NoSQL Tutorials">
            <a:extLst>
              <a:ext uri="{FF2B5EF4-FFF2-40B4-BE49-F238E27FC236}">
                <a16:creationId xmlns:a16="http://schemas.microsoft.com/office/drawing/2014/main" id="{A9ACE63D-B635-5B23-B745-642D4DBE12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6368" y="-322224"/>
            <a:ext cx="1882840" cy="18828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Content Placeholder 6">
            <a:extLst>
              <a:ext uri="{FF2B5EF4-FFF2-40B4-BE49-F238E27FC236}">
                <a16:creationId xmlns:a16="http://schemas.microsoft.com/office/drawing/2014/main" id="{877721E3-4D07-5BF3-F298-947F05C2B556}"/>
              </a:ext>
            </a:extLst>
          </p:cNvPr>
          <p:cNvGraphicFramePr>
            <a:graphicFrameLocks noGrp="1"/>
          </p:cNvGraphicFramePr>
          <p:nvPr>
            <p:ph idx="1"/>
            <p:extLst>
              <p:ext uri="{D42A27DB-BD31-4B8C-83A1-F6EECF244321}">
                <p14:modId xmlns:p14="http://schemas.microsoft.com/office/powerpoint/2010/main" val="3908841597"/>
              </p:ext>
            </p:extLst>
          </p:nvPr>
        </p:nvGraphicFramePr>
        <p:xfrm>
          <a:off x="0" y="1306286"/>
          <a:ext cx="12192000" cy="5003234"/>
        </p:xfrm>
        <a:graphic>
          <a:graphicData uri="http://schemas.openxmlformats.org/drawingml/2006/table">
            <a:tbl>
              <a:tblPr>
                <a:tableStyleId>{8FD4443E-F989-4FC4-A0C8-D5A2AF1F390B}</a:tableStyleId>
              </a:tblPr>
              <a:tblGrid>
                <a:gridCol w="6055567">
                  <a:extLst>
                    <a:ext uri="{9D8B030D-6E8A-4147-A177-3AD203B41FA5}">
                      <a16:colId xmlns:a16="http://schemas.microsoft.com/office/drawing/2014/main" val="4134637877"/>
                    </a:ext>
                  </a:extLst>
                </a:gridCol>
                <a:gridCol w="6136433">
                  <a:extLst>
                    <a:ext uri="{9D8B030D-6E8A-4147-A177-3AD203B41FA5}">
                      <a16:colId xmlns:a16="http://schemas.microsoft.com/office/drawing/2014/main" val="2248313610"/>
                    </a:ext>
                  </a:extLst>
                </a:gridCol>
              </a:tblGrid>
              <a:tr h="293284">
                <a:tc>
                  <a:txBody>
                    <a:bodyPr/>
                    <a:lstStyle/>
                    <a:p>
                      <a:pPr algn="ctr"/>
                      <a:r>
                        <a:rPr lang="en-US" sz="2400" b="1" dirty="0">
                          <a:solidFill>
                            <a:srgbClr val="FF0000"/>
                          </a:solidFill>
                          <a:effectLst/>
                          <a:highlight>
                            <a:srgbClr val="FFFF00"/>
                          </a:highlight>
                          <a:latin typeface="Times New Roman" panose="02020603050405020304" pitchFamily="18" charset="0"/>
                          <a:cs typeface="Times New Roman" panose="02020603050405020304" pitchFamily="18" charset="0"/>
                        </a:rPr>
                        <a:t>SQL</a:t>
                      </a:r>
                    </a:p>
                  </a:txBody>
                  <a:tcPr marL="70357" marR="70357" marT="32473" marB="32473" anchor="ctr"/>
                </a:tc>
                <a:tc>
                  <a:txBody>
                    <a:bodyPr/>
                    <a:lstStyle/>
                    <a:p>
                      <a:pPr algn="ctr"/>
                      <a:r>
                        <a:rPr lang="en-US" sz="2400" b="1" dirty="0">
                          <a:solidFill>
                            <a:srgbClr val="FF0000"/>
                          </a:solidFill>
                          <a:effectLst/>
                          <a:highlight>
                            <a:srgbClr val="FFFF00"/>
                          </a:highlight>
                          <a:latin typeface="Times New Roman" panose="02020603050405020304" pitchFamily="18" charset="0"/>
                          <a:cs typeface="Times New Roman" panose="02020603050405020304" pitchFamily="18" charset="0"/>
                        </a:rPr>
                        <a:t>NoSQL</a:t>
                      </a:r>
                    </a:p>
                  </a:txBody>
                  <a:tcPr marL="70357" marR="70357" marT="32473" marB="32473" anchor="ctr"/>
                </a:tc>
                <a:extLst>
                  <a:ext uri="{0D108BD9-81ED-4DB2-BD59-A6C34878D82A}">
                    <a16:rowId xmlns:a16="http://schemas.microsoft.com/office/drawing/2014/main" val="3877857636"/>
                  </a:ext>
                </a:extLst>
              </a:tr>
              <a:tr h="293284">
                <a:tc>
                  <a:txBody>
                    <a:bodyPr/>
                    <a:lstStyle/>
                    <a:p>
                      <a:pPr marL="342900" indent="-342900" algn="l">
                        <a:buFont typeface="Wingdings" panose="05000000000000000000" pitchFamily="2" charset="2"/>
                        <a:buChar char="ü"/>
                      </a:pPr>
                      <a:r>
                        <a:rPr lang="en-US" sz="1400" b="0" dirty="0">
                          <a:solidFill>
                            <a:schemeClr val="bg1"/>
                          </a:solidFill>
                          <a:effectLst/>
                        </a:rPr>
                        <a:t>Stands for Structured Query Language</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b="0" dirty="0">
                          <a:solidFill>
                            <a:schemeClr val="bg1"/>
                          </a:solidFill>
                          <a:effectLst/>
                        </a:rPr>
                        <a:t>Stands for Not Only SQL</a:t>
                      </a:r>
                      <a:endParaRPr lang="en-US" sz="1400" b="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2289482637"/>
                  </a:ext>
                </a:extLst>
              </a:tr>
              <a:tr h="506838">
                <a:tc>
                  <a:txBody>
                    <a:bodyPr/>
                    <a:lstStyle/>
                    <a:p>
                      <a:pPr marL="342900" indent="-342900" algn="l">
                        <a:buFont typeface="Wingdings" panose="05000000000000000000" pitchFamily="2" charset="2"/>
                        <a:buChar char="ü"/>
                      </a:pPr>
                      <a:r>
                        <a:rPr lang="en-US" sz="1400" dirty="0">
                          <a:solidFill>
                            <a:schemeClr val="bg1"/>
                          </a:solidFill>
                          <a:effectLst/>
                        </a:rPr>
                        <a:t>Relational database management system (RDBMS)</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Non-relational database management system</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4002263482"/>
                  </a:ext>
                </a:extLst>
              </a:tr>
              <a:tr h="506838">
                <a:tc>
                  <a:txBody>
                    <a:bodyPr/>
                    <a:lstStyle/>
                    <a:p>
                      <a:pPr marL="342900" indent="-342900" algn="l">
                        <a:buFont typeface="Wingdings" panose="05000000000000000000" pitchFamily="2" charset="2"/>
                        <a:buChar char="ü"/>
                      </a:pPr>
                      <a:r>
                        <a:rPr lang="en-US" sz="1400" dirty="0">
                          <a:solidFill>
                            <a:schemeClr val="bg1"/>
                          </a:solidFill>
                          <a:effectLst/>
                        </a:rPr>
                        <a:t>Suitable for structured data with predefined schema</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Suitable for unstructured and semi-structured data</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1284891181"/>
                  </a:ext>
                </a:extLst>
              </a:tr>
              <a:tr h="506838">
                <a:tc>
                  <a:txBody>
                    <a:bodyPr/>
                    <a:lstStyle/>
                    <a:p>
                      <a:pPr marL="342900" indent="-342900" algn="l">
                        <a:buFont typeface="Wingdings" panose="05000000000000000000" pitchFamily="2" charset="2"/>
                        <a:buChar char="ü"/>
                      </a:pPr>
                      <a:r>
                        <a:rPr lang="en-US" sz="1400" dirty="0">
                          <a:solidFill>
                            <a:schemeClr val="bg1"/>
                          </a:solidFill>
                          <a:effectLst/>
                        </a:rPr>
                        <a:t>Data is stored in tables with columns and rows</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Data is stored in collections or documents</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985138853"/>
                  </a:ext>
                </a:extLst>
              </a:tr>
              <a:tr h="514161">
                <a:tc>
                  <a:txBody>
                    <a:bodyPr/>
                    <a:lstStyle/>
                    <a:p>
                      <a:pPr marL="342900" indent="-342900" algn="l">
                        <a:buFont typeface="Wingdings" panose="05000000000000000000" pitchFamily="2" charset="2"/>
                        <a:buChar char="ü"/>
                      </a:pPr>
                      <a:r>
                        <a:rPr lang="en-US" sz="1400">
                          <a:solidFill>
                            <a:schemeClr val="bg1"/>
                          </a:solidFill>
                          <a:effectLst/>
                        </a:rPr>
                        <a:t>Follows ACID properties (Atomicity, Consistency, Isolation, Durability) for transaction management</a:t>
                      </a:r>
                      <a:endParaRPr lang="en-US" sz="140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Does not necessarily follow ACID properties</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925115647"/>
                  </a:ext>
                </a:extLst>
              </a:tr>
              <a:tr h="506838">
                <a:tc>
                  <a:txBody>
                    <a:bodyPr/>
                    <a:lstStyle/>
                    <a:p>
                      <a:pPr marL="342900" indent="-342900" algn="l">
                        <a:buFont typeface="Wingdings" panose="05000000000000000000" pitchFamily="2" charset="2"/>
                        <a:buChar char="ü"/>
                      </a:pPr>
                      <a:r>
                        <a:rPr lang="en-US" sz="1400" dirty="0">
                          <a:solidFill>
                            <a:schemeClr val="bg1"/>
                          </a:solidFill>
                          <a:effectLst/>
                        </a:rPr>
                        <a:t>Supports JOIN and complex queries</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Does not support JOIN and complex queries</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42508497"/>
                  </a:ext>
                </a:extLst>
              </a:tr>
              <a:tr h="506838">
                <a:tc>
                  <a:txBody>
                    <a:bodyPr/>
                    <a:lstStyle/>
                    <a:p>
                      <a:pPr marL="342900" indent="-342900" algn="l">
                        <a:buFont typeface="Wingdings" panose="05000000000000000000" pitchFamily="2" charset="2"/>
                        <a:buChar char="ü"/>
                      </a:pPr>
                      <a:r>
                        <a:rPr lang="en-US" sz="1400" dirty="0">
                          <a:solidFill>
                            <a:schemeClr val="bg1"/>
                          </a:solidFill>
                          <a:effectLst/>
                        </a:rPr>
                        <a:t>Uses normalized data structure</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Uses denormalized data structure</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3905893238"/>
                  </a:ext>
                </a:extLst>
              </a:tr>
              <a:tr h="506838">
                <a:tc>
                  <a:txBody>
                    <a:bodyPr/>
                    <a:lstStyle/>
                    <a:p>
                      <a:pPr marL="342900" indent="-342900" algn="l">
                        <a:buFont typeface="Wingdings" panose="05000000000000000000" pitchFamily="2" charset="2"/>
                        <a:buChar char="ü"/>
                      </a:pPr>
                      <a:r>
                        <a:rPr lang="en-US" sz="1400" dirty="0">
                          <a:solidFill>
                            <a:schemeClr val="bg1"/>
                          </a:solidFill>
                          <a:effectLst/>
                        </a:rPr>
                        <a:t>Requires vertical scaling to handle large volumes of data</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Horizontal scaling is possible to handle large volumes of data</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705929416"/>
                  </a:ext>
                </a:extLst>
              </a:tr>
              <a:tr h="724055">
                <a:tc>
                  <a:txBody>
                    <a:bodyPr/>
                    <a:lstStyle/>
                    <a:p>
                      <a:pPr marL="342900" indent="-342900" algn="l">
                        <a:buFont typeface="Wingdings" panose="05000000000000000000" pitchFamily="2" charset="2"/>
                        <a:buChar char="ü"/>
                      </a:pPr>
                      <a:r>
                        <a:rPr lang="en-US" sz="1400" dirty="0">
                          <a:solidFill>
                            <a:schemeClr val="bg1"/>
                          </a:solidFill>
                          <a:effectLst/>
                        </a:rPr>
                        <a:t>Examples: MySQL, PostgreSQL, Oracle, SQL Server, Microsoft SQL Server</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tc>
                  <a:txBody>
                    <a:bodyPr/>
                    <a:lstStyle/>
                    <a:p>
                      <a:pPr marL="285750" indent="-285750" algn="l">
                        <a:buFont typeface="Wingdings" panose="05000000000000000000" pitchFamily="2" charset="2"/>
                        <a:buChar char="ü"/>
                      </a:pPr>
                      <a:r>
                        <a:rPr lang="en-US" sz="1400" dirty="0">
                          <a:solidFill>
                            <a:schemeClr val="bg1"/>
                          </a:solidFill>
                          <a:effectLst/>
                        </a:rPr>
                        <a:t>Examples: MongoDB, Cassandra, Couchbase, Amazon DynamoDB, Redis</a:t>
                      </a:r>
                      <a:endParaRPr lang="en-US" sz="1400" dirty="0">
                        <a:solidFill>
                          <a:schemeClr val="bg1"/>
                        </a:solidFill>
                        <a:effectLst/>
                        <a:latin typeface="Times New Roman" panose="02020603050405020304" pitchFamily="18" charset="0"/>
                        <a:cs typeface="Times New Roman" panose="02020603050405020304" pitchFamily="18" charset="0"/>
                      </a:endParaRPr>
                    </a:p>
                  </a:txBody>
                  <a:tcPr marL="70357" marR="70357" marT="32473" marB="32473" anchor="ctr"/>
                </a:tc>
                <a:extLst>
                  <a:ext uri="{0D108BD9-81ED-4DB2-BD59-A6C34878D82A}">
                    <a16:rowId xmlns:a16="http://schemas.microsoft.com/office/drawing/2014/main" val="3623649582"/>
                  </a:ext>
                </a:extLst>
              </a:tr>
            </a:tbl>
          </a:graphicData>
        </a:graphic>
      </p:graphicFrame>
    </p:spTree>
    <p:extLst>
      <p:ext uri="{BB962C8B-B14F-4D97-AF65-F5344CB8AC3E}">
        <p14:creationId xmlns:p14="http://schemas.microsoft.com/office/powerpoint/2010/main" val="2726532057"/>
      </p:ext>
    </p:extLst>
  </p:cSld>
  <p:clrMapOvr>
    <a:masterClrMapping/>
  </p:clrMapOvr>
  <p:transition spd="slow">
    <p:randomBar dir="ver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AWS Networking </a:t>
            </a:r>
            <a:endParaRPr lang="en-GB" dirty="0"/>
          </a:p>
        </p:txBody>
      </p:sp>
      <p:pic>
        <p:nvPicPr>
          <p:cNvPr id="12290" name="Picture 2" descr="Creating a Custom VPC in AWS. In this article, we are going to create… | by  Kunal Yadav | Level Up Coding">
            <a:extLst>
              <a:ext uri="{FF2B5EF4-FFF2-40B4-BE49-F238E27FC236}">
                <a16:creationId xmlns:a16="http://schemas.microsoft.com/office/drawing/2014/main" id="{5922891B-3A8F-86FF-579F-8E62393F6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9814" y="0"/>
            <a:ext cx="2832186" cy="1924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058493"/>
      </p:ext>
    </p:extLst>
  </p:cSld>
  <p:clrMapOvr>
    <a:masterClrMapping/>
  </p:clrMapOvr>
  <p:transition spd="slow">
    <p:randomBar dir="ver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98</a:t>
            </a:fld>
            <a:endParaRPr lang="en-US"/>
          </a:p>
        </p:txBody>
      </p:sp>
      <p:sp>
        <p:nvSpPr>
          <p:cNvPr id="2" name="Content Placeholder 1"/>
          <p:cNvSpPr>
            <a:spLocks noGrp="1"/>
          </p:cNvSpPr>
          <p:nvPr>
            <p:ph idx="1"/>
          </p:nvPr>
        </p:nvSpPr>
        <p:spPr>
          <a:xfrm>
            <a:off x="223837" y="1537580"/>
            <a:ext cx="11968163" cy="4596519"/>
          </a:xfrm>
        </p:spPr>
        <p:txBody>
          <a:bodyPr>
            <a:noAutofit/>
          </a:bodyPr>
          <a:lstStyle/>
          <a:p>
            <a:pPr fontAlgn="base">
              <a:lnSpc>
                <a:spcPct val="150000"/>
              </a:lnSpc>
            </a:pPr>
            <a:r>
              <a:rPr lang="en-US" sz="1600" dirty="0">
                <a:latin typeface="Times New Roman" panose="02020603050405020304" pitchFamily="18" charset="0"/>
                <a:cs typeface="Times New Roman" panose="02020603050405020304" pitchFamily="18" charset="0"/>
              </a:rPr>
              <a:t>VPC stands for Virtual Private Cloud. VPC is a private cloud located inside a public cloud that enables you to experience the benefits of a virtualized network while using public cloud resources. </a:t>
            </a:r>
          </a:p>
          <a:p>
            <a:pPr fontAlgn="base">
              <a:lnSpc>
                <a:spcPct val="150000"/>
              </a:lnSpc>
            </a:pPr>
            <a:r>
              <a:rPr lang="en-US" sz="1600" dirty="0">
                <a:latin typeface="Times New Roman" panose="02020603050405020304" pitchFamily="18" charset="0"/>
                <a:cs typeface="Times New Roman" panose="02020603050405020304" pitchFamily="18" charset="0"/>
              </a:rPr>
              <a:t>Amazon Virtual Private Cloud (Amazon VPC) provides a logically isolated area of the AWS cloud where you can launch AWS resources in a virtual network that you define.</a:t>
            </a:r>
          </a:p>
          <a:p>
            <a:pPr fontAlgn="base">
              <a:lnSpc>
                <a:spcPct val="150000"/>
              </a:lnSpc>
            </a:pPr>
            <a:r>
              <a:rPr lang="en-US" sz="1600" dirty="0">
                <a:latin typeface="Times New Roman" panose="02020603050405020304" pitchFamily="18" charset="0"/>
                <a:cs typeface="Times New Roman" panose="02020603050405020304" pitchFamily="18" charset="0"/>
              </a:rPr>
              <a:t>You have complete control over your virtual networking environment, including a selection of your IP address range, the creation of subnets, and configuration of route tables and network gateways.</a:t>
            </a:r>
          </a:p>
          <a:p>
            <a:pPr fontAlgn="base">
              <a:lnSpc>
                <a:spcPct val="150000"/>
              </a:lnSpc>
            </a:pPr>
            <a:r>
              <a:rPr lang="en-US" sz="1600" dirty="0">
                <a:latin typeface="Times New Roman" panose="02020603050405020304" pitchFamily="18" charset="0"/>
                <a:cs typeface="Times New Roman" panose="02020603050405020304" pitchFamily="18" charset="0"/>
              </a:rPr>
              <a:t>You can easily customize the network configuration for your Amazon Virtual Private Cloud. For example, you can create a public-facing subnet for web servers that can access to the internet and can also place your backend system such as databases or application servers to a private-facing subnet.</a:t>
            </a:r>
          </a:p>
          <a:p>
            <a:pPr fontAlgn="base">
              <a:lnSpc>
                <a:spcPct val="150000"/>
              </a:lnSpc>
            </a:pPr>
            <a:r>
              <a:rPr lang="en-US" sz="1600" dirty="0">
                <a:latin typeface="Times New Roman" panose="02020603050405020304" pitchFamily="18" charset="0"/>
                <a:cs typeface="Times New Roman" panose="02020603050405020304" pitchFamily="18" charset="0"/>
              </a:rPr>
              <a:t>You can provide multiple layers of security, including security groups and network access control lists, to help control access to Amazon EC2 instances in each subnet.</a:t>
            </a:r>
          </a:p>
        </p:txBody>
      </p:sp>
      <p:sp>
        <p:nvSpPr>
          <p:cNvPr id="8" name="Title 4"/>
          <p:cNvSpPr>
            <a:spLocks noGrp="1"/>
          </p:cNvSpPr>
          <p:nvPr>
            <p:ph type="title"/>
          </p:nvPr>
        </p:nvSpPr>
        <p:spPr>
          <a:xfrm>
            <a:off x="238125" y="466530"/>
            <a:ext cx="10801350" cy="951107"/>
          </a:xfrm>
        </p:spPr>
        <p:txBody>
          <a:bodyPr>
            <a:noAutofit/>
          </a:bodyPr>
          <a:lstStyle/>
          <a:p>
            <a:r>
              <a:rPr lang="en-US" sz="4219" dirty="0"/>
              <a:t> AWS Virtual Private Cloud </a:t>
            </a:r>
          </a:p>
        </p:txBody>
      </p:sp>
      <p:pic>
        <p:nvPicPr>
          <p:cNvPr id="3" name="Picture 2" descr="Creating a Custom VPC in AWS. In this article, we are going to create… | by  Kunal Yadav | Level Up Coding">
            <a:extLst>
              <a:ext uri="{FF2B5EF4-FFF2-40B4-BE49-F238E27FC236}">
                <a16:creationId xmlns:a16="http://schemas.microsoft.com/office/drawing/2014/main" id="{F618ED5A-4AD2-C576-0247-ABCE0E962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64868"/>
      </p:ext>
    </p:extLst>
  </p:cSld>
  <p:clrMapOvr>
    <a:masterClrMapping/>
  </p:clrMapOvr>
  <p:transition spd="slow">
    <p:randomBar dir="ver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AWS SNS</a:t>
            </a:r>
            <a:endParaRPr lang="en-GB" dirty="0"/>
          </a:p>
        </p:txBody>
      </p:sp>
      <p:pic>
        <p:nvPicPr>
          <p:cNvPr id="12290" name="Picture 2" descr="Creating a Custom VPC in AWS. In this article, we are going to create… | by  Kunal Yadav | Level Up Coding">
            <a:extLst>
              <a:ext uri="{FF2B5EF4-FFF2-40B4-BE49-F238E27FC236}">
                <a16:creationId xmlns:a16="http://schemas.microsoft.com/office/drawing/2014/main" id="{5922891B-3A8F-86FF-579F-8E62393F6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9814" y="0"/>
            <a:ext cx="2832186" cy="1924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021936"/>
      </p:ext>
    </p:extLst>
  </p:cSld>
  <p:clrMapOvr>
    <a:masterClrMapping/>
  </p:clrMapOvr>
  <p:transition spd="slow">
    <p:randomBar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100</a:t>
            </a:fld>
            <a:endParaRPr lang="en-US"/>
          </a:p>
        </p:txBody>
      </p:sp>
      <p:sp>
        <p:nvSpPr>
          <p:cNvPr id="2" name="Content Placeholder 1"/>
          <p:cNvSpPr>
            <a:spLocks noGrp="1"/>
          </p:cNvSpPr>
          <p:nvPr>
            <p:ph idx="1"/>
          </p:nvPr>
        </p:nvSpPr>
        <p:spPr>
          <a:xfrm>
            <a:off x="223837" y="1537580"/>
            <a:ext cx="11968163" cy="4596519"/>
          </a:xfrm>
        </p:spPr>
        <p:txBody>
          <a:bodyPr>
            <a:noAutofit/>
          </a:bodyPr>
          <a:lstStyle/>
          <a:p>
            <a:pPr fontAlgn="base">
              <a:lnSpc>
                <a:spcPct val="150000"/>
              </a:lnSpc>
            </a:pPr>
            <a:r>
              <a:rPr lang="en-US" sz="1600" dirty="0">
                <a:latin typeface="Times New Roman" panose="02020603050405020304" pitchFamily="18" charset="0"/>
                <a:cs typeface="Times New Roman" panose="02020603050405020304" pitchFamily="18" charset="0"/>
              </a:rPr>
              <a:t>SNS stands for Simple Notification Service.</a:t>
            </a:r>
          </a:p>
          <a:p>
            <a:pPr fontAlgn="base">
              <a:lnSpc>
                <a:spcPct val="150000"/>
              </a:lnSpc>
            </a:pPr>
            <a:r>
              <a:rPr lang="en-US" sz="1600" dirty="0">
                <a:latin typeface="Times New Roman" panose="02020603050405020304" pitchFamily="18" charset="0"/>
                <a:cs typeface="Times New Roman" panose="02020603050405020304" pitchFamily="18" charset="0"/>
              </a:rPr>
              <a:t>It is a web service which makes it easy to set up, operate, and send a notification from the cloud.</a:t>
            </a:r>
          </a:p>
          <a:p>
            <a:pPr fontAlgn="base">
              <a:lnSpc>
                <a:spcPct val="150000"/>
              </a:lnSpc>
            </a:pPr>
            <a:r>
              <a:rPr lang="en-US" sz="1600" dirty="0">
                <a:latin typeface="Times New Roman" panose="02020603050405020304" pitchFamily="18" charset="0"/>
                <a:cs typeface="Times New Roman" panose="02020603050405020304" pitchFamily="18" charset="0"/>
              </a:rPr>
              <a:t>It provides developers with the highly scalable, cost-effective, and flexible capability to publish messages from an application and sends them to other applications.</a:t>
            </a:r>
          </a:p>
          <a:p>
            <a:pPr fontAlgn="base">
              <a:lnSpc>
                <a:spcPct val="150000"/>
              </a:lnSpc>
            </a:pPr>
            <a:r>
              <a:rPr lang="en-US" sz="1600" dirty="0">
                <a:latin typeface="Times New Roman" panose="02020603050405020304" pitchFamily="18" charset="0"/>
                <a:cs typeface="Times New Roman" panose="02020603050405020304" pitchFamily="18" charset="0"/>
              </a:rPr>
              <a:t>It is a way of sending messages. When you are using </a:t>
            </a:r>
            <a:r>
              <a:rPr lang="en-US" sz="1600" dirty="0" err="1">
                <a:latin typeface="Times New Roman" panose="02020603050405020304" pitchFamily="18" charset="0"/>
                <a:cs typeface="Times New Roman" panose="02020603050405020304" pitchFamily="18" charset="0"/>
              </a:rPr>
              <a:t>AutoScaling</a:t>
            </a:r>
            <a:r>
              <a:rPr lang="en-US" sz="1600" dirty="0">
                <a:latin typeface="Times New Roman" panose="02020603050405020304" pitchFamily="18" charset="0"/>
                <a:cs typeface="Times New Roman" panose="02020603050405020304" pitchFamily="18" charset="0"/>
              </a:rPr>
              <a:t>, it triggers an SNS service which will email you that "your EC2 instance is growing".</a:t>
            </a:r>
          </a:p>
          <a:p>
            <a:pPr fontAlgn="base">
              <a:lnSpc>
                <a:spcPct val="150000"/>
              </a:lnSpc>
            </a:pPr>
            <a:r>
              <a:rPr lang="en-US" sz="1600" dirty="0">
                <a:latin typeface="Times New Roman" panose="02020603050405020304" pitchFamily="18" charset="0"/>
                <a:cs typeface="Times New Roman" panose="02020603050405020304" pitchFamily="18" charset="0"/>
              </a:rPr>
              <a:t>SNS can also send the messages to devices by sending push notifications to Apple, Google, Fire OS, and Windows devices, as well as Android devices in China with Baidu Cloud Push.</a:t>
            </a:r>
          </a:p>
          <a:p>
            <a:pPr fontAlgn="base">
              <a:lnSpc>
                <a:spcPct val="150000"/>
              </a:lnSpc>
            </a:pPr>
            <a:r>
              <a:rPr lang="en-US" sz="1600" dirty="0">
                <a:latin typeface="Times New Roman" panose="02020603050405020304" pitchFamily="18" charset="0"/>
                <a:cs typeface="Times New Roman" panose="02020603050405020304" pitchFamily="18" charset="0"/>
              </a:rPr>
              <a:t>Besides sending the push notifications to the mobile devices, Amazon SNS sends the notifications through SMS or email to an Amazon Simple Queue Service (SQS), or to an HTTP endpoint.</a:t>
            </a:r>
          </a:p>
        </p:txBody>
      </p:sp>
      <p:sp>
        <p:nvSpPr>
          <p:cNvPr id="8" name="Title 4"/>
          <p:cNvSpPr>
            <a:spLocks noGrp="1"/>
          </p:cNvSpPr>
          <p:nvPr>
            <p:ph type="title"/>
          </p:nvPr>
        </p:nvSpPr>
        <p:spPr>
          <a:xfrm>
            <a:off x="238125" y="466530"/>
            <a:ext cx="10801350" cy="951107"/>
          </a:xfrm>
        </p:spPr>
        <p:txBody>
          <a:bodyPr>
            <a:noAutofit/>
          </a:bodyPr>
          <a:lstStyle/>
          <a:p>
            <a:r>
              <a:rPr lang="en-US" sz="4219" dirty="0"/>
              <a:t> Simple Notification Service</a:t>
            </a:r>
          </a:p>
        </p:txBody>
      </p:sp>
      <p:pic>
        <p:nvPicPr>
          <p:cNvPr id="3" name="Picture 2" descr="Creating a Custom VPC in AWS. In this article, we are going to create… | by  Kunal Yadav | Level Up Coding">
            <a:extLst>
              <a:ext uri="{FF2B5EF4-FFF2-40B4-BE49-F238E27FC236}">
                <a16:creationId xmlns:a16="http://schemas.microsoft.com/office/drawing/2014/main" id="{F618ED5A-4AD2-C576-0247-ABCE0E962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63861"/>
      </p:ext>
    </p:extLst>
  </p:cSld>
  <p:clrMapOvr>
    <a:masterClrMapping/>
  </p:clrMapOvr>
  <p:transition spd="slow">
    <p:randomBar dir="ver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101</a:t>
            </a:fld>
            <a:endParaRPr lang="en-US"/>
          </a:p>
        </p:txBody>
      </p:sp>
      <p:sp>
        <p:nvSpPr>
          <p:cNvPr id="8" name="Title 4"/>
          <p:cNvSpPr>
            <a:spLocks noGrp="1"/>
          </p:cNvSpPr>
          <p:nvPr>
            <p:ph type="title"/>
          </p:nvPr>
        </p:nvSpPr>
        <p:spPr>
          <a:xfrm>
            <a:off x="238125" y="466530"/>
            <a:ext cx="10801350" cy="951107"/>
          </a:xfrm>
        </p:spPr>
        <p:txBody>
          <a:bodyPr>
            <a:noAutofit/>
          </a:bodyPr>
          <a:lstStyle/>
          <a:p>
            <a:r>
              <a:rPr lang="en-US" sz="4219" dirty="0"/>
              <a:t> Simple Notification Service</a:t>
            </a:r>
          </a:p>
        </p:txBody>
      </p:sp>
      <p:pic>
        <p:nvPicPr>
          <p:cNvPr id="3" name="Picture 2" descr="Creating a Custom VPC in AWS. In this article, we are going to create… | by  Kunal Yadav | Level Up Coding">
            <a:extLst>
              <a:ext uri="{FF2B5EF4-FFF2-40B4-BE49-F238E27FC236}">
                <a16:creationId xmlns:a16="http://schemas.microsoft.com/office/drawing/2014/main" id="{F618ED5A-4AD2-C576-0247-ABCE0E962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NS">
            <a:extLst>
              <a:ext uri="{FF2B5EF4-FFF2-40B4-BE49-F238E27FC236}">
                <a16:creationId xmlns:a16="http://schemas.microsoft.com/office/drawing/2014/main" id="{8089CE21-257A-C489-AE25-788843AA3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528" y="2195513"/>
            <a:ext cx="4562401" cy="24374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NS">
            <a:extLst>
              <a:ext uri="{FF2B5EF4-FFF2-40B4-BE49-F238E27FC236}">
                <a16:creationId xmlns:a16="http://schemas.microsoft.com/office/drawing/2014/main" id="{561B1E69-2891-D7CD-FCD6-21302DFF2A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145" y="1992630"/>
            <a:ext cx="554355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422988"/>
      </p:ext>
    </p:extLst>
  </p:cSld>
  <p:clrMapOvr>
    <a:masterClrMapping/>
  </p:clrMapOvr>
  <p:transition spd="slow">
    <p:randomBar dir="ver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102</a:t>
            </a:fld>
            <a:endParaRPr lang="en-US"/>
          </a:p>
        </p:txBody>
      </p:sp>
      <p:sp>
        <p:nvSpPr>
          <p:cNvPr id="8" name="Title 4"/>
          <p:cNvSpPr>
            <a:spLocks noGrp="1"/>
          </p:cNvSpPr>
          <p:nvPr>
            <p:ph type="title"/>
          </p:nvPr>
        </p:nvSpPr>
        <p:spPr>
          <a:xfrm>
            <a:off x="238125" y="466530"/>
            <a:ext cx="10801350" cy="951107"/>
          </a:xfrm>
        </p:spPr>
        <p:txBody>
          <a:bodyPr>
            <a:noAutofit/>
          </a:bodyPr>
          <a:lstStyle/>
          <a:p>
            <a:r>
              <a:rPr lang="en-US" sz="4219" dirty="0"/>
              <a:t> Simple Notification Service</a:t>
            </a:r>
          </a:p>
        </p:txBody>
      </p:sp>
      <p:pic>
        <p:nvPicPr>
          <p:cNvPr id="3" name="Picture 2" descr="Creating a Custom VPC in AWS. In this article, we are going to create… | by  Kunal Yadav | Level Up Coding">
            <a:extLst>
              <a:ext uri="{FF2B5EF4-FFF2-40B4-BE49-F238E27FC236}">
                <a16:creationId xmlns:a16="http://schemas.microsoft.com/office/drawing/2014/main" id="{F618ED5A-4AD2-C576-0247-ABCE0E962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NS">
            <a:extLst>
              <a:ext uri="{FF2B5EF4-FFF2-40B4-BE49-F238E27FC236}">
                <a16:creationId xmlns:a16="http://schemas.microsoft.com/office/drawing/2014/main" id="{8089CE21-257A-C489-AE25-788843AA3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528" y="2195513"/>
            <a:ext cx="4562401" cy="24374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NS">
            <a:extLst>
              <a:ext uri="{FF2B5EF4-FFF2-40B4-BE49-F238E27FC236}">
                <a16:creationId xmlns:a16="http://schemas.microsoft.com/office/drawing/2014/main" id="{561B1E69-2891-D7CD-FCD6-21302DFF2A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145" y="1992630"/>
            <a:ext cx="554355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3084268"/>
      </p:ext>
    </p:extLst>
  </p:cSld>
  <p:clrMapOvr>
    <a:masterClrMapping/>
  </p:clrMapOvr>
  <p:transition spd="slow">
    <p:randomBar dir="ver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103</a:t>
            </a:fld>
            <a:endParaRPr lang="en-US"/>
          </a:p>
        </p:txBody>
      </p:sp>
      <p:sp>
        <p:nvSpPr>
          <p:cNvPr id="8" name="Title 4"/>
          <p:cNvSpPr>
            <a:spLocks noGrp="1"/>
          </p:cNvSpPr>
          <p:nvPr>
            <p:ph type="title"/>
          </p:nvPr>
        </p:nvSpPr>
        <p:spPr>
          <a:xfrm>
            <a:off x="238125" y="466530"/>
            <a:ext cx="10801350" cy="951107"/>
          </a:xfrm>
        </p:spPr>
        <p:txBody>
          <a:bodyPr>
            <a:noAutofit/>
          </a:bodyPr>
          <a:lstStyle/>
          <a:p>
            <a:r>
              <a:rPr lang="en-US" sz="4219" dirty="0"/>
              <a:t> AWS Virtual Private Cloud </a:t>
            </a:r>
          </a:p>
        </p:txBody>
      </p:sp>
      <p:pic>
        <p:nvPicPr>
          <p:cNvPr id="3" name="Picture 2" descr="Creating a Custom VPC in AWS. In this article, we are going to create… | by  Kunal Yadav | Level Up Coding">
            <a:extLst>
              <a:ext uri="{FF2B5EF4-FFF2-40B4-BE49-F238E27FC236}">
                <a16:creationId xmlns:a16="http://schemas.microsoft.com/office/drawing/2014/main" id="{F618ED5A-4AD2-C576-0247-ABCE0E962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VPC, Subnet and Router in AWS Cloud | by competitor | Towards Data Science">
            <a:extLst>
              <a:ext uri="{FF2B5EF4-FFF2-40B4-BE49-F238E27FC236}">
                <a16:creationId xmlns:a16="http://schemas.microsoft.com/office/drawing/2014/main" id="{3ACEC94D-AC58-25AA-F328-B79C8C21E8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557337"/>
            <a:ext cx="7519987" cy="4610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043497"/>
      </p:ext>
    </p:extLst>
  </p:cSld>
  <p:clrMapOvr>
    <a:masterClrMapping/>
  </p:clrMapOvr>
  <p:transition spd="slow">
    <p:randomBar dir="ver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104</a:t>
            </a:fld>
            <a:endParaRPr lang="en-US"/>
          </a:p>
        </p:txBody>
      </p:sp>
      <p:sp>
        <p:nvSpPr>
          <p:cNvPr id="8" name="Title 4"/>
          <p:cNvSpPr>
            <a:spLocks noGrp="1"/>
          </p:cNvSpPr>
          <p:nvPr>
            <p:ph type="title"/>
          </p:nvPr>
        </p:nvSpPr>
        <p:spPr>
          <a:xfrm>
            <a:off x="238125" y="466530"/>
            <a:ext cx="10801350" cy="951107"/>
          </a:xfrm>
        </p:spPr>
        <p:txBody>
          <a:bodyPr>
            <a:noAutofit/>
          </a:bodyPr>
          <a:lstStyle/>
          <a:p>
            <a:r>
              <a:rPr lang="en-US" sz="4219" dirty="0"/>
              <a:t> What can we do with a VPC?</a:t>
            </a:r>
            <a:br>
              <a:rPr lang="en-US" sz="4219" dirty="0"/>
            </a:br>
            <a:endParaRPr lang="en-US" sz="4219" dirty="0"/>
          </a:p>
        </p:txBody>
      </p:sp>
      <p:pic>
        <p:nvPicPr>
          <p:cNvPr id="3" name="Picture 2" descr="Creating a Custom VPC in AWS. In this article, we are going to create… | by  Kunal Yadav | Level Up Coding">
            <a:extLst>
              <a:ext uri="{FF2B5EF4-FFF2-40B4-BE49-F238E27FC236}">
                <a16:creationId xmlns:a16="http://schemas.microsoft.com/office/drawing/2014/main" id="{F618ED5A-4AD2-C576-0247-ABCE0E962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8D5F719-C9AB-5497-A2BC-C1D2E159252A}"/>
              </a:ext>
            </a:extLst>
          </p:cNvPr>
          <p:cNvSpPr txBox="1"/>
          <p:nvPr/>
        </p:nvSpPr>
        <p:spPr>
          <a:xfrm>
            <a:off x="457199" y="1583500"/>
            <a:ext cx="10582275" cy="3464410"/>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sz="1600" b="0" i="0" dirty="0">
                <a:solidFill>
                  <a:schemeClr val="bg1"/>
                </a:solidFill>
                <a:effectLst/>
                <a:latin typeface="Times New Roman" panose="02020603050405020304" pitchFamily="18" charset="0"/>
                <a:cs typeface="Times New Roman" panose="02020603050405020304" pitchFamily="18" charset="0"/>
              </a:rPr>
              <a:t>Launch instances in a subnet of your choosing. We can choose our own subnet addressing.</a:t>
            </a:r>
          </a:p>
          <a:p>
            <a:pPr marL="285750" indent="-285750" algn="just">
              <a:lnSpc>
                <a:spcPct val="200000"/>
              </a:lnSpc>
              <a:buFont typeface="Arial" panose="020B0604020202020204" pitchFamily="34" charset="0"/>
              <a:buChar char="•"/>
            </a:pPr>
            <a:r>
              <a:rPr lang="en-US" sz="1600" b="0" i="0" dirty="0">
                <a:solidFill>
                  <a:schemeClr val="bg1"/>
                </a:solidFill>
                <a:effectLst/>
                <a:latin typeface="Times New Roman" panose="02020603050405020304" pitchFamily="18" charset="0"/>
                <a:cs typeface="Times New Roman" panose="02020603050405020304" pitchFamily="18" charset="0"/>
              </a:rPr>
              <a:t>We can assign custom IP address ranges in each subnet.</a:t>
            </a:r>
          </a:p>
          <a:p>
            <a:pPr marL="285750" indent="-285750" algn="just">
              <a:lnSpc>
                <a:spcPct val="200000"/>
              </a:lnSpc>
              <a:buFont typeface="Arial" panose="020B0604020202020204" pitchFamily="34" charset="0"/>
              <a:buChar char="•"/>
            </a:pPr>
            <a:r>
              <a:rPr lang="en-US" sz="1600" b="0" i="0" dirty="0">
                <a:solidFill>
                  <a:schemeClr val="bg1"/>
                </a:solidFill>
                <a:effectLst/>
                <a:latin typeface="Times New Roman" panose="02020603050405020304" pitchFamily="18" charset="0"/>
                <a:cs typeface="Times New Roman" panose="02020603050405020304" pitchFamily="18" charset="0"/>
              </a:rPr>
              <a:t>We can configure route tables between subnets.</a:t>
            </a:r>
          </a:p>
          <a:p>
            <a:pPr marL="285750" indent="-285750" algn="just">
              <a:lnSpc>
                <a:spcPct val="200000"/>
              </a:lnSpc>
              <a:buFont typeface="Arial" panose="020B0604020202020204" pitchFamily="34" charset="0"/>
              <a:buChar char="•"/>
            </a:pPr>
            <a:r>
              <a:rPr lang="en-US" sz="1600" b="0" i="0" dirty="0">
                <a:solidFill>
                  <a:schemeClr val="bg1"/>
                </a:solidFill>
                <a:effectLst/>
                <a:latin typeface="Times New Roman" panose="02020603050405020304" pitchFamily="18" charset="0"/>
                <a:cs typeface="Times New Roman" panose="02020603050405020304" pitchFamily="18" charset="0"/>
              </a:rPr>
              <a:t>We can create an internet gateway and attach it to our VPC.</a:t>
            </a:r>
          </a:p>
          <a:p>
            <a:pPr marL="285750" indent="-285750" algn="just">
              <a:lnSpc>
                <a:spcPct val="200000"/>
              </a:lnSpc>
              <a:buFont typeface="Arial" panose="020B0604020202020204" pitchFamily="34" charset="0"/>
              <a:buChar char="•"/>
            </a:pPr>
            <a:r>
              <a:rPr lang="en-US" sz="1600" b="0" i="0" dirty="0">
                <a:solidFill>
                  <a:schemeClr val="bg1"/>
                </a:solidFill>
                <a:effectLst/>
                <a:latin typeface="Times New Roman" panose="02020603050405020304" pitchFamily="18" charset="0"/>
                <a:cs typeface="Times New Roman" panose="02020603050405020304" pitchFamily="18" charset="0"/>
              </a:rPr>
              <a:t>It provides much better security control over your AWS resources.</a:t>
            </a:r>
          </a:p>
          <a:p>
            <a:pPr marL="285750" indent="-285750" algn="just">
              <a:lnSpc>
                <a:spcPct val="200000"/>
              </a:lnSpc>
              <a:buFont typeface="Arial" panose="020B0604020202020204" pitchFamily="34" charset="0"/>
              <a:buChar char="•"/>
            </a:pPr>
            <a:r>
              <a:rPr lang="en-US" sz="1600" b="0" i="0" dirty="0">
                <a:solidFill>
                  <a:schemeClr val="bg1"/>
                </a:solidFill>
                <a:effectLst/>
                <a:latin typeface="Times New Roman" panose="02020603050405020304" pitchFamily="18" charset="0"/>
                <a:cs typeface="Times New Roman" panose="02020603050405020304" pitchFamily="18" charset="0"/>
              </a:rPr>
              <a:t>We can assign security groups to individual instances.</a:t>
            </a:r>
          </a:p>
          <a:p>
            <a:pPr marL="285750" indent="-285750" algn="just">
              <a:lnSpc>
                <a:spcPct val="200000"/>
              </a:lnSpc>
              <a:buFont typeface="Arial" panose="020B0604020202020204" pitchFamily="34" charset="0"/>
              <a:buChar char="•"/>
            </a:pPr>
            <a:r>
              <a:rPr lang="en-US" sz="1600" b="0" i="0" dirty="0">
                <a:solidFill>
                  <a:schemeClr val="bg1"/>
                </a:solidFill>
                <a:effectLst/>
                <a:latin typeface="Times New Roman" panose="02020603050405020304" pitchFamily="18" charset="0"/>
                <a:cs typeface="Times New Roman" panose="02020603050405020304" pitchFamily="18" charset="0"/>
              </a:rPr>
              <a:t>We also have subnet network access control lists (ACLS).</a:t>
            </a:r>
          </a:p>
        </p:txBody>
      </p:sp>
    </p:spTree>
    <p:extLst>
      <p:ext uri="{BB962C8B-B14F-4D97-AF65-F5344CB8AC3E}">
        <p14:creationId xmlns:p14="http://schemas.microsoft.com/office/powerpoint/2010/main" val="3456641797"/>
      </p:ext>
    </p:extLst>
  </p:cSld>
  <p:clrMapOvr>
    <a:masterClrMapping/>
  </p:clrMapOvr>
  <p:transition spd="slow">
    <p:randomBar dir="ver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105</a:t>
            </a:fld>
            <a:endParaRPr lang="en-US"/>
          </a:p>
        </p:txBody>
      </p:sp>
      <p:sp>
        <p:nvSpPr>
          <p:cNvPr id="8" name="Title 4"/>
          <p:cNvSpPr>
            <a:spLocks noGrp="1"/>
          </p:cNvSpPr>
          <p:nvPr>
            <p:ph type="title"/>
          </p:nvPr>
        </p:nvSpPr>
        <p:spPr>
          <a:xfrm>
            <a:off x="238125" y="466530"/>
            <a:ext cx="10801350" cy="951107"/>
          </a:xfrm>
        </p:spPr>
        <p:txBody>
          <a:bodyPr>
            <a:noAutofit/>
          </a:bodyPr>
          <a:lstStyle/>
          <a:p>
            <a:r>
              <a:rPr lang="en-US" sz="4219" dirty="0"/>
              <a:t> Components of VPC?</a:t>
            </a:r>
            <a:br>
              <a:rPr lang="en-US" sz="4219" dirty="0"/>
            </a:br>
            <a:endParaRPr lang="en-US" sz="4219" dirty="0"/>
          </a:p>
        </p:txBody>
      </p:sp>
      <p:pic>
        <p:nvPicPr>
          <p:cNvPr id="3" name="Picture 2" descr="Creating a Custom VPC in AWS. In this article, we are going to create… | by  Kunal Yadav | Level Up Coding">
            <a:extLst>
              <a:ext uri="{FF2B5EF4-FFF2-40B4-BE49-F238E27FC236}">
                <a16:creationId xmlns:a16="http://schemas.microsoft.com/office/drawing/2014/main" id="{F618ED5A-4AD2-C576-0247-ABCE0E962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9832"/>
            <a:ext cx="1914525" cy="1300636"/>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a:extLst>
              <a:ext uri="{FF2B5EF4-FFF2-40B4-BE49-F238E27FC236}">
                <a16:creationId xmlns:a16="http://schemas.microsoft.com/office/drawing/2014/main" id="{10076EA2-0C8D-341F-E6E4-47755A22F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4" y="1571624"/>
            <a:ext cx="8153399" cy="4550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515346"/>
      </p:ext>
    </p:extLst>
  </p:cSld>
  <p:clrMapOvr>
    <a:masterClrMapping/>
  </p:clrMapOvr>
  <p:transition spd="slow">
    <p:randomBar dir="ver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219" dirty="0"/>
              <a:t>Subnets</a:t>
            </a:r>
          </a:p>
        </p:txBody>
      </p:sp>
      <p:sp>
        <p:nvSpPr>
          <p:cNvPr id="2" name="Content Placeholder 1"/>
          <p:cNvSpPr>
            <a:spLocks noGrp="1"/>
          </p:cNvSpPr>
          <p:nvPr>
            <p:ph idx="1"/>
          </p:nvPr>
        </p:nvSpPr>
        <p:spPr>
          <a:xfrm>
            <a:off x="695325" y="1219200"/>
            <a:ext cx="11214100" cy="4906963"/>
          </a:xfrm>
        </p:spPr>
        <p:txBody>
          <a:bodyPr>
            <a:normAutofit/>
          </a:bodyPr>
          <a:lstStyle/>
          <a:p>
            <a:endParaRPr lang="en-US"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A </a:t>
            </a:r>
            <a:r>
              <a:rPr lang="en-US" sz="1600" b="1" dirty="0">
                <a:latin typeface="Times New Roman" panose="02020603050405020304" pitchFamily="18" charset="0"/>
                <a:cs typeface="Times New Roman" panose="02020603050405020304" pitchFamily="18" charset="0"/>
              </a:rPr>
              <a:t>subnet </a:t>
            </a:r>
            <a:r>
              <a:rPr lang="en-US" sz="1600" dirty="0">
                <a:latin typeface="Times New Roman" panose="02020603050405020304" pitchFamily="18" charset="0"/>
                <a:cs typeface="Times New Roman" panose="02020603050405020304" pitchFamily="18" charset="0"/>
              </a:rPr>
              <a:t>defines a range of IP addresses in your VPC. A </a:t>
            </a:r>
            <a:r>
              <a:rPr lang="en-US" sz="1600" i="1" dirty="0">
                <a:latin typeface="Times New Roman" panose="02020603050405020304" pitchFamily="18" charset="0"/>
                <a:cs typeface="Times New Roman" panose="02020603050405020304" pitchFamily="18" charset="0"/>
              </a:rPr>
              <a:t>subnet </a:t>
            </a:r>
            <a:r>
              <a:rPr lang="en-US" sz="1600" dirty="0">
                <a:latin typeface="Times New Roman" panose="02020603050405020304" pitchFamily="18" charset="0"/>
                <a:cs typeface="Times New Roman" panose="02020603050405020304" pitchFamily="18" charset="0"/>
              </a:rPr>
              <a:t>is a segment of an Amazon VPC’s IP address range where you can launch Amazon EC2 instances.</a:t>
            </a:r>
          </a:p>
          <a:p>
            <a:pPr>
              <a:lnSpc>
                <a:spcPct val="150000"/>
              </a:lnSpc>
            </a:pPr>
            <a:r>
              <a:rPr lang="en-US" sz="1600" dirty="0">
                <a:latin typeface="Times New Roman" panose="02020603050405020304" pitchFamily="18" charset="0"/>
                <a:cs typeface="Times New Roman" panose="02020603050405020304" pitchFamily="18" charset="0"/>
              </a:rPr>
              <a:t>AWS reserves the first four IP addresses and the last IP address of every subnet for internal networking purposes. For example, a subnet defined as a /28 has 16 available IP addresses; subtract the 5 IPs needed by AWS to yield 11 IP addresses for your use within the subnet.</a:t>
            </a:r>
          </a:p>
          <a:p>
            <a:pPr>
              <a:lnSpc>
                <a:spcPct val="150000"/>
              </a:lnSpc>
            </a:pPr>
            <a:r>
              <a:rPr lang="en-US" sz="1600" dirty="0">
                <a:latin typeface="Times New Roman" panose="02020603050405020304" pitchFamily="18" charset="0"/>
                <a:cs typeface="Times New Roman" panose="02020603050405020304" pitchFamily="18" charset="0"/>
              </a:rPr>
              <a:t>Each subnet must reside entirely within one Availability Zone and cannot span zones. You can add one or more subnets in each Availability Zone.</a:t>
            </a:r>
          </a:p>
          <a:p>
            <a:pPr>
              <a:lnSpc>
                <a:spcPct val="150000"/>
              </a:lnSpc>
            </a:pPr>
            <a:r>
              <a:rPr lang="en-US" sz="1600" dirty="0">
                <a:latin typeface="Times New Roman" panose="02020603050405020304" pitchFamily="18" charset="0"/>
                <a:cs typeface="Times New Roman" panose="02020603050405020304" pitchFamily="18" charset="0"/>
              </a:rPr>
              <a:t>Majorly three types of Subnets, based on usage: </a:t>
            </a:r>
            <a:r>
              <a:rPr lang="en-US" sz="1600" b="1" dirty="0">
                <a:latin typeface="Times New Roman" panose="02020603050405020304" pitchFamily="18" charset="0"/>
                <a:cs typeface="Times New Roman" panose="02020603050405020304" pitchFamily="18" charset="0"/>
              </a:rPr>
              <a:t>Public</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Private </a:t>
            </a:r>
            <a:r>
              <a:rPr lang="en-US" sz="1600" dirty="0">
                <a:latin typeface="Times New Roman" panose="02020603050405020304" pitchFamily="18" charset="0"/>
                <a:cs typeface="Times New Roman" panose="02020603050405020304" pitchFamily="18" charset="0"/>
              </a:rPr>
              <a:t>and </a:t>
            </a:r>
            <a:r>
              <a:rPr lang="en-US" sz="1600" b="1" dirty="0">
                <a:latin typeface="Times New Roman" panose="02020603050405020304" pitchFamily="18" charset="0"/>
                <a:cs typeface="Times New Roman" panose="02020603050405020304" pitchFamily="18" charset="0"/>
              </a:rPr>
              <a:t>VPN-only</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106</a:t>
            </a:fld>
            <a:endParaRPr lang="en-US"/>
          </a:p>
        </p:txBody>
      </p:sp>
      <p:pic>
        <p:nvPicPr>
          <p:cNvPr id="6" name="Picture 5" descr="Creating a Custom VPC in AWS. In this article, we are going to create… | by  Kunal Yadav | Level Up Coding">
            <a:extLst>
              <a:ext uri="{FF2B5EF4-FFF2-40B4-BE49-F238E27FC236}">
                <a16:creationId xmlns:a16="http://schemas.microsoft.com/office/drawing/2014/main" id="{FB607A01-843C-7D95-0393-4703C3846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9100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219" dirty="0"/>
              <a:t>Reserved IP in Subnets</a:t>
            </a:r>
          </a:p>
        </p:txBody>
      </p:sp>
      <p:sp>
        <p:nvSpPr>
          <p:cNvPr id="2" name="Content Placeholder 1"/>
          <p:cNvSpPr>
            <a:spLocks noGrp="1"/>
          </p:cNvSpPr>
          <p:nvPr>
            <p:ph idx="1"/>
          </p:nvPr>
        </p:nvSpPr>
        <p:spPr>
          <a:xfrm>
            <a:off x="695325" y="1219200"/>
            <a:ext cx="10801350" cy="4906963"/>
          </a:xfrm>
        </p:spPr>
        <p:txBody>
          <a:bodyPr>
            <a:normAutofit/>
          </a:bodyPr>
          <a:lstStyle/>
          <a:p>
            <a:endParaRPr lang="en-US" sz="2156" dirty="0"/>
          </a:p>
          <a:p>
            <a:endParaRPr lang="en-US" sz="2156" dirty="0"/>
          </a:p>
          <a:p>
            <a:endParaRPr lang="en-US" sz="2156" dirty="0"/>
          </a:p>
          <a:p>
            <a:endParaRPr lang="en-US" sz="2156" dirty="0"/>
          </a:p>
        </p:txBody>
      </p:sp>
      <p:sp>
        <p:nvSpPr>
          <p:cNvPr id="3" name="Footer Placeholder 2"/>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107</a:t>
            </a:fld>
            <a:endParaRPr lang="en-US"/>
          </a:p>
        </p:txBody>
      </p:sp>
      <p:sp>
        <p:nvSpPr>
          <p:cNvPr id="9" name="TextBox 8">
            <a:extLst>
              <a:ext uri="{FF2B5EF4-FFF2-40B4-BE49-F238E27FC236}">
                <a16:creationId xmlns:a16="http://schemas.microsoft.com/office/drawing/2014/main" id="{8ECEAD4F-9DD7-B962-5402-D7395469044A}"/>
              </a:ext>
            </a:extLst>
          </p:cNvPr>
          <p:cNvSpPr txBox="1"/>
          <p:nvPr/>
        </p:nvSpPr>
        <p:spPr>
          <a:xfrm>
            <a:off x="523875" y="1417638"/>
            <a:ext cx="11358563" cy="3002745"/>
          </a:xfrm>
          <a:prstGeom prst="rect">
            <a:avLst/>
          </a:prstGeom>
          <a:noFill/>
        </p:spPr>
        <p:txBody>
          <a:bodyPr wrap="square">
            <a:spAutoFit/>
          </a:bodyPr>
          <a:lstStyle/>
          <a:p>
            <a:pPr defTabSz="857250" eaLnBrk="0" fontAlgn="base" hangingPunct="0">
              <a:lnSpc>
                <a:spcPct val="150000"/>
              </a:lnSpc>
              <a:spcBef>
                <a:spcPct val="0"/>
              </a:spcBef>
              <a:spcAft>
                <a:spcPct val="0"/>
              </a:spcAft>
            </a:pPr>
            <a:r>
              <a:rPr lang="en-US" altLang="en-US" sz="1600" dirty="0">
                <a:solidFill>
                  <a:schemeClr val="bg1"/>
                </a:solidFill>
                <a:latin typeface="Times New Roman" panose="02020603050405020304" pitchFamily="18" charset="0"/>
                <a:cs typeface="Times New Roman" panose="02020603050405020304" pitchFamily="18" charset="0"/>
              </a:rPr>
              <a:t>The first four IP addresses and the last IP address in each subnet CIDR block are not available for your use, and they cannot be assigned to a resource, such as an EC2 instance. For example, in a subnet with CIDR block 10.0.0.0/24, the following five IP addresses are reserved:</a:t>
            </a:r>
          </a:p>
          <a:p>
            <a:pPr marL="428625" indent="-428625" defTabSz="857250" eaLnBrk="0" fontAlgn="base" hangingPunct="0">
              <a:lnSpc>
                <a:spcPct val="150000"/>
              </a:lnSpc>
              <a:spcBef>
                <a:spcPct val="0"/>
              </a:spcBef>
              <a:spcAft>
                <a:spcPct val="0"/>
              </a:spcAft>
              <a:buFont typeface="+mj-lt"/>
              <a:buAutoNum type="arabicPeriod"/>
            </a:pPr>
            <a:r>
              <a:rPr lang="en-US" altLang="en-US" sz="1600" dirty="0">
                <a:solidFill>
                  <a:schemeClr val="bg1"/>
                </a:solidFill>
                <a:latin typeface="Times New Roman" panose="02020603050405020304" pitchFamily="18" charset="0"/>
                <a:cs typeface="Times New Roman" panose="02020603050405020304" pitchFamily="18" charset="0"/>
              </a:rPr>
              <a:t>10.0.0.0: Network address.</a:t>
            </a:r>
          </a:p>
          <a:p>
            <a:pPr marL="428625" indent="-428625" defTabSz="857250" eaLnBrk="0" fontAlgn="base" hangingPunct="0">
              <a:lnSpc>
                <a:spcPct val="150000"/>
              </a:lnSpc>
              <a:spcBef>
                <a:spcPct val="0"/>
              </a:spcBef>
              <a:spcAft>
                <a:spcPct val="0"/>
              </a:spcAft>
              <a:buFont typeface="+mj-lt"/>
              <a:buAutoNum type="arabicPeriod"/>
            </a:pPr>
            <a:r>
              <a:rPr lang="en-US" altLang="en-US" sz="1600" dirty="0">
                <a:solidFill>
                  <a:schemeClr val="bg1"/>
                </a:solidFill>
                <a:latin typeface="Times New Roman" panose="02020603050405020304" pitchFamily="18" charset="0"/>
                <a:cs typeface="Times New Roman" panose="02020603050405020304" pitchFamily="18" charset="0"/>
              </a:rPr>
              <a:t>10.0.0.1: Reserved by AWS for the VPC router.</a:t>
            </a:r>
          </a:p>
          <a:p>
            <a:pPr marL="428625" indent="-428625" defTabSz="857250" eaLnBrk="0" fontAlgn="base" hangingPunct="0">
              <a:lnSpc>
                <a:spcPct val="150000"/>
              </a:lnSpc>
              <a:spcBef>
                <a:spcPct val="0"/>
              </a:spcBef>
              <a:spcAft>
                <a:spcPct val="0"/>
              </a:spcAft>
              <a:buFont typeface="+mj-lt"/>
              <a:buAutoNum type="arabicPeriod"/>
            </a:pPr>
            <a:r>
              <a:rPr lang="en-US" altLang="en-US" sz="1600" dirty="0">
                <a:solidFill>
                  <a:schemeClr val="bg1"/>
                </a:solidFill>
                <a:latin typeface="Times New Roman" panose="02020603050405020304" pitchFamily="18" charset="0"/>
                <a:cs typeface="Times New Roman" panose="02020603050405020304" pitchFamily="18" charset="0"/>
              </a:rPr>
              <a:t>10.0.0.2: Reserved by AWS. The IP address of the DNS server is the base of the VPC network range plus two. </a:t>
            </a:r>
          </a:p>
          <a:p>
            <a:pPr marL="428625" indent="-428625" defTabSz="857250" eaLnBrk="0" fontAlgn="base" hangingPunct="0">
              <a:lnSpc>
                <a:spcPct val="150000"/>
              </a:lnSpc>
              <a:spcBef>
                <a:spcPct val="0"/>
              </a:spcBef>
              <a:spcAft>
                <a:spcPct val="0"/>
              </a:spcAft>
              <a:buFont typeface="+mj-lt"/>
              <a:buAutoNum type="arabicPeriod"/>
            </a:pPr>
            <a:r>
              <a:rPr lang="en-US" altLang="en-US" sz="1600" dirty="0">
                <a:solidFill>
                  <a:schemeClr val="bg1"/>
                </a:solidFill>
                <a:latin typeface="Times New Roman" panose="02020603050405020304" pitchFamily="18" charset="0"/>
                <a:cs typeface="Times New Roman" panose="02020603050405020304" pitchFamily="18" charset="0"/>
              </a:rPr>
              <a:t>10.0.0.3: Reserved by AWS for future use.</a:t>
            </a:r>
          </a:p>
          <a:p>
            <a:pPr marL="428625" indent="-428625" defTabSz="857250" eaLnBrk="0" fontAlgn="base" hangingPunct="0">
              <a:lnSpc>
                <a:spcPct val="150000"/>
              </a:lnSpc>
              <a:spcBef>
                <a:spcPct val="0"/>
              </a:spcBef>
              <a:spcAft>
                <a:spcPct val="0"/>
              </a:spcAft>
              <a:buFont typeface="+mj-lt"/>
              <a:buAutoNum type="arabicPeriod"/>
            </a:pPr>
            <a:r>
              <a:rPr lang="en-US" altLang="en-US" sz="1600" dirty="0">
                <a:solidFill>
                  <a:schemeClr val="bg1"/>
                </a:solidFill>
                <a:latin typeface="Times New Roman" panose="02020603050405020304" pitchFamily="18" charset="0"/>
                <a:cs typeface="Times New Roman" panose="02020603050405020304" pitchFamily="18" charset="0"/>
              </a:rPr>
              <a:t>10.0.0.255: Network broadcast address. We do not support broadcast in a VPC, therefore we reserve this address.</a:t>
            </a:r>
          </a:p>
        </p:txBody>
      </p:sp>
      <p:pic>
        <p:nvPicPr>
          <p:cNvPr id="6" name="Picture 5" descr="Creating a Custom VPC in AWS. In this article, we are going to create… | by  Kunal Yadav | Level Up Coding">
            <a:extLst>
              <a:ext uri="{FF2B5EF4-FFF2-40B4-BE49-F238E27FC236}">
                <a16:creationId xmlns:a16="http://schemas.microsoft.com/office/drawing/2014/main" id="{6967260B-5505-F6D9-4108-3FDB2840BF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397196"/>
      </p:ext>
    </p:extLst>
  </p:cSld>
  <p:clrMapOvr>
    <a:masterClrMapping/>
  </p:clrMapOvr>
  <p:transition spd="slow">
    <p:randomBar dir="ver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219" dirty="0">
                <a:latin typeface="Times New Roman" panose="02020603050405020304" pitchFamily="18" charset="0"/>
                <a:cs typeface="Times New Roman" panose="02020603050405020304" pitchFamily="18" charset="0"/>
              </a:rPr>
              <a:t>VPC and Subnets</a:t>
            </a:r>
          </a:p>
        </p:txBody>
      </p:sp>
      <p:sp>
        <p:nvSpPr>
          <p:cNvPr id="2" name="Content Placeholder 1"/>
          <p:cNvSpPr>
            <a:spLocks noGrp="1"/>
          </p:cNvSpPr>
          <p:nvPr>
            <p:ph idx="1"/>
          </p:nvPr>
        </p:nvSpPr>
        <p:spPr/>
        <p:txBody>
          <a:bodyPr>
            <a:normAutofit/>
          </a:bodyPr>
          <a:lstStyle/>
          <a:p>
            <a:pPr marL="0" indent="0">
              <a:buNone/>
            </a:pPr>
            <a:r>
              <a:rPr lang="en-US" sz="2156" dirty="0">
                <a:latin typeface="Times New Roman" panose="02020603050405020304" pitchFamily="18" charset="0"/>
                <a:cs typeface="Times New Roman" panose="02020603050405020304" pitchFamily="18" charset="0"/>
              </a:rPr>
              <a:t>You can launch AWS resources into a subnet that you select. </a:t>
            </a:r>
          </a:p>
          <a:p>
            <a:pPr marL="129263" indent="0">
              <a:buNone/>
            </a:pPr>
            <a:endParaRPr lang="en-US" sz="2156" dirty="0">
              <a:latin typeface="Times New Roman" panose="02020603050405020304" pitchFamily="18" charset="0"/>
              <a:cs typeface="Times New Roman" panose="02020603050405020304" pitchFamily="18" charset="0"/>
            </a:endParaRPr>
          </a:p>
          <a:p>
            <a:r>
              <a:rPr lang="en-US" sz="2156" dirty="0">
                <a:latin typeface="Times New Roman" panose="02020603050405020304" pitchFamily="18" charset="0"/>
                <a:cs typeface="Times New Roman" panose="02020603050405020304" pitchFamily="18" charset="0"/>
              </a:rPr>
              <a:t>A </a:t>
            </a:r>
            <a:r>
              <a:rPr lang="en-US" sz="2156" b="1" dirty="0">
                <a:latin typeface="Times New Roman" panose="02020603050405020304" pitchFamily="18" charset="0"/>
                <a:cs typeface="Times New Roman" panose="02020603050405020304" pitchFamily="18" charset="0"/>
              </a:rPr>
              <a:t>private subnet </a:t>
            </a:r>
            <a:r>
              <a:rPr lang="en-US" sz="2156" dirty="0">
                <a:latin typeface="Times New Roman" panose="02020603050405020304" pitchFamily="18" charset="0"/>
                <a:cs typeface="Times New Roman" panose="02020603050405020304" pitchFamily="18" charset="0"/>
              </a:rPr>
              <a:t>should be used for resources that won’t be accessible over the Internet. </a:t>
            </a:r>
          </a:p>
          <a:p>
            <a:pPr marL="129263" indent="0">
              <a:buNone/>
            </a:pPr>
            <a:endParaRPr lang="en-US" sz="2156" dirty="0">
              <a:latin typeface="Times New Roman" panose="02020603050405020304" pitchFamily="18" charset="0"/>
              <a:cs typeface="Times New Roman" panose="02020603050405020304" pitchFamily="18" charset="0"/>
            </a:endParaRPr>
          </a:p>
          <a:p>
            <a:r>
              <a:rPr lang="en-US" sz="2156" dirty="0">
                <a:latin typeface="Times New Roman" panose="02020603050405020304" pitchFamily="18" charset="0"/>
                <a:cs typeface="Times New Roman" panose="02020603050405020304" pitchFamily="18" charset="0"/>
              </a:rPr>
              <a:t>A </a:t>
            </a:r>
            <a:r>
              <a:rPr lang="en-US" sz="2156" b="1" dirty="0">
                <a:latin typeface="Times New Roman" panose="02020603050405020304" pitchFamily="18" charset="0"/>
                <a:cs typeface="Times New Roman" panose="02020603050405020304" pitchFamily="18" charset="0"/>
              </a:rPr>
              <a:t>public subnet </a:t>
            </a:r>
            <a:r>
              <a:rPr lang="en-US" sz="2156" dirty="0">
                <a:latin typeface="Times New Roman" panose="02020603050405020304" pitchFamily="18" charset="0"/>
                <a:cs typeface="Times New Roman" panose="02020603050405020304" pitchFamily="18" charset="0"/>
              </a:rPr>
              <a:t>should be used for resources that will be accessed over the Internet. </a:t>
            </a:r>
          </a:p>
          <a:p>
            <a:endParaRPr lang="en-US" sz="2156" dirty="0">
              <a:latin typeface="Times New Roman" panose="02020603050405020304" pitchFamily="18" charset="0"/>
              <a:cs typeface="Times New Roman" panose="02020603050405020304" pitchFamily="18" charset="0"/>
            </a:endParaRPr>
          </a:p>
          <a:p>
            <a:r>
              <a:rPr lang="en-US" sz="2156" dirty="0">
                <a:latin typeface="Times New Roman" panose="02020603050405020304" pitchFamily="18" charset="0"/>
                <a:cs typeface="Times New Roman" panose="02020603050405020304" pitchFamily="18" charset="0"/>
              </a:rPr>
              <a:t>A </a:t>
            </a:r>
            <a:r>
              <a:rPr lang="en-US" sz="2156" b="1" dirty="0">
                <a:latin typeface="Times New Roman" panose="02020603050405020304" pitchFamily="18" charset="0"/>
                <a:cs typeface="Times New Roman" panose="02020603050405020304" pitchFamily="18" charset="0"/>
              </a:rPr>
              <a:t>VPN only </a:t>
            </a:r>
            <a:r>
              <a:rPr lang="en-US" sz="2156" dirty="0">
                <a:latin typeface="Times New Roman" panose="02020603050405020304" pitchFamily="18" charset="0"/>
                <a:cs typeface="Times New Roman" panose="02020603050405020304" pitchFamily="18" charset="0"/>
              </a:rPr>
              <a:t>subnet must talk only to Organization’s VPN/services</a:t>
            </a:r>
          </a:p>
          <a:p>
            <a:pPr marL="129263" indent="0">
              <a:buNone/>
            </a:pPr>
            <a:endParaRPr lang="en-US" sz="2156" dirty="0">
              <a:latin typeface="Times New Roman" panose="02020603050405020304" pitchFamily="18" charset="0"/>
              <a:cs typeface="Times New Roman" panose="02020603050405020304" pitchFamily="18" charset="0"/>
            </a:endParaRPr>
          </a:p>
          <a:p>
            <a:pPr marL="0" indent="0">
              <a:buNone/>
            </a:pPr>
            <a:r>
              <a:rPr lang="en-US" sz="2156" dirty="0">
                <a:latin typeface="Times New Roman" panose="02020603050405020304" pitchFamily="18" charset="0"/>
                <a:cs typeface="Times New Roman" panose="02020603050405020304" pitchFamily="18" charset="0"/>
              </a:rPr>
              <a:t>Each subnet must reside entirely within one Availability Zone and cannot span zones.</a:t>
            </a:r>
          </a:p>
          <a:p>
            <a:endParaRPr lang="en-US" sz="2156"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108</a:t>
            </a:fld>
            <a:endParaRPr lang="en-US"/>
          </a:p>
        </p:txBody>
      </p:sp>
      <p:pic>
        <p:nvPicPr>
          <p:cNvPr id="6" name="Picture 5" descr="Creating a Custom VPC in AWS. In this article, we are going to create… | by  Kunal Yadav | Level Up Coding">
            <a:extLst>
              <a:ext uri="{FF2B5EF4-FFF2-40B4-BE49-F238E27FC236}">
                <a16:creationId xmlns:a16="http://schemas.microsoft.com/office/drawing/2014/main" id="{7B239009-6A29-03CC-030C-CD0101DCDF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3476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1000"/>
                                        <p:tgtEl>
                                          <p:spTgt spid="2">
                                            <p:txEl>
                                              <p:pRg st="8" end="8"/>
                                            </p:txEl>
                                          </p:spTgt>
                                        </p:tgtEl>
                                      </p:cBhvr>
                                    </p:animEffect>
                                    <p:anim calcmode="lin" valueType="num">
                                      <p:cBhvr>
                                        <p:cTn id="36"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4"/>
          <p:cNvSpPr>
            <a:spLocks noGrp="1"/>
          </p:cNvSpPr>
          <p:nvPr>
            <p:ph type="title"/>
          </p:nvPr>
        </p:nvSpPr>
        <p:spPr/>
        <p:txBody>
          <a:bodyPr>
            <a:noAutofit/>
          </a:bodyPr>
          <a:lstStyle/>
          <a:p>
            <a:r>
              <a:rPr lang="en-US" sz="4219" dirty="0"/>
              <a:t>Creating VPC</a:t>
            </a:r>
          </a:p>
        </p:txBody>
      </p:sp>
      <p:sp>
        <p:nvSpPr>
          <p:cNvPr id="2" name="Content Placeholder 1"/>
          <p:cNvSpPr>
            <a:spLocks noGrp="1"/>
          </p:cNvSpPr>
          <p:nvPr>
            <p:ph idx="1"/>
          </p:nvPr>
        </p:nvSpPr>
        <p:spPr/>
        <p:txBody>
          <a:bodyPr>
            <a:normAutofit/>
          </a:bodyPr>
          <a:lstStyle/>
          <a:p>
            <a:pPr marL="0" indent="0">
              <a:buNone/>
            </a:pPr>
            <a:r>
              <a:rPr lang="en-US" sz="2156" b="1" dirty="0"/>
              <a:t>Create a Custom Amazon VPC</a:t>
            </a:r>
          </a:p>
          <a:p>
            <a:pPr marL="0" indent="0">
              <a:buNone/>
            </a:pPr>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Sign in to the AWS Management Console as an administrator or super user.</a:t>
            </a:r>
          </a:p>
          <a:p>
            <a:pPr marL="0" indent="0">
              <a:buNone/>
            </a:pPr>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Select the Amazon VPC icon to launch the Amazon VPC Dashboard.</a:t>
            </a:r>
          </a:p>
          <a:p>
            <a:pPr marL="0" indent="0">
              <a:buNone/>
            </a:pPr>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Create an Amazon VPC with a CIDR block equal to 10.0.0.0/16, a name tag of </a:t>
            </a:r>
            <a:r>
              <a:rPr lang="en-US" sz="1700" b="1" dirty="0">
                <a:latin typeface="Times New Roman" panose="02020603050405020304" pitchFamily="18" charset="0"/>
                <a:cs typeface="Times New Roman" panose="02020603050405020304" pitchFamily="18" charset="0"/>
              </a:rPr>
              <a:t>My First VPC</a:t>
            </a:r>
            <a:r>
              <a:rPr lang="en-US" sz="1700" dirty="0">
                <a:latin typeface="Times New Roman" panose="02020603050405020304" pitchFamily="18" charset="0"/>
                <a:cs typeface="Times New Roman" panose="02020603050405020304" pitchFamily="18" charset="0"/>
              </a:rPr>
              <a:t>, and default tenancy.</a:t>
            </a:r>
          </a:p>
          <a:p>
            <a:pPr marL="0" indent="0">
              <a:buNone/>
            </a:pPr>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You have created your first custom VPC.</a:t>
            </a:r>
          </a:p>
          <a:p>
            <a:pPr marL="0" indent="0">
              <a:buNone/>
            </a:pPr>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Now create a subnet under this VPC and launch a server in VPC</a:t>
            </a:r>
          </a:p>
          <a:p>
            <a:pPr marL="0" indent="0">
              <a:buNone/>
            </a:pPr>
            <a:endParaRPr lang="en-US" sz="2156" dirty="0"/>
          </a:p>
          <a:p>
            <a:endParaRPr lang="en-US" sz="2156" dirty="0"/>
          </a:p>
        </p:txBody>
      </p:sp>
      <p:sp>
        <p:nvSpPr>
          <p:cNvPr id="3" name="Footer Placeholder 2"/>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109</a:t>
            </a:fld>
            <a:endParaRPr lang="en-US"/>
          </a:p>
        </p:txBody>
      </p:sp>
      <p:pic>
        <p:nvPicPr>
          <p:cNvPr id="5" name="Picture 4" descr="Creating a Custom VPC in AWS. In this article, we are going to create… | by  Kunal Yadav | Level Up Coding">
            <a:extLst>
              <a:ext uri="{FF2B5EF4-FFF2-40B4-BE49-F238E27FC236}">
                <a16:creationId xmlns:a16="http://schemas.microsoft.com/office/drawing/2014/main" id="{CA87CA02-FC39-A3CA-C322-EA33343DF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100187"/>
      </p:ext>
    </p:extLst>
  </p:cSld>
  <p:clrMapOvr>
    <a:masterClrMapping/>
  </p:clrMapOvr>
  <p:transition spd="slow">
    <p:randomBar dir="ver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219" dirty="0"/>
              <a:t>Security in VPC</a:t>
            </a:r>
          </a:p>
        </p:txBody>
      </p:sp>
      <p:sp>
        <p:nvSpPr>
          <p:cNvPr id="2" name="Content Placeholder 1"/>
          <p:cNvSpPr>
            <a:spLocks noGrp="1"/>
          </p:cNvSpPr>
          <p:nvPr>
            <p:ph idx="1"/>
          </p:nvPr>
        </p:nvSpPr>
        <p:spPr/>
        <p:txBody>
          <a:bodyPr>
            <a:normAutofit/>
          </a:bodyPr>
          <a:lstStyle/>
          <a:p>
            <a:endParaRPr lang="en-US" sz="2156" dirty="0"/>
          </a:p>
          <a:p>
            <a:r>
              <a:rPr lang="en-US" sz="1600" dirty="0">
                <a:latin typeface="Times New Roman" panose="02020603050405020304" pitchFamily="18" charset="0"/>
                <a:cs typeface="Times New Roman" panose="02020603050405020304" pitchFamily="18" charset="0"/>
              </a:rPr>
              <a:t>Security Group</a:t>
            </a:r>
          </a:p>
          <a:p>
            <a:pPr marL="0" indent="0">
              <a:buNone/>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Network ACL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Routing Tables</a:t>
            </a:r>
          </a:p>
        </p:txBody>
      </p:sp>
      <p:sp>
        <p:nvSpPr>
          <p:cNvPr id="4" name="Slide Number Placeholder 3"/>
          <p:cNvSpPr>
            <a:spLocks noGrp="1"/>
          </p:cNvSpPr>
          <p:nvPr>
            <p:ph type="sldNum" sz="quarter" idx="12"/>
          </p:nvPr>
        </p:nvSpPr>
        <p:spPr/>
        <p:txBody>
          <a:bodyPr/>
          <a:lstStyle/>
          <a:p>
            <a:fld id="{13F480B4-4699-41FE-89A7-96EFD1001786}" type="slidenum">
              <a:rPr lang="en-US" smtClean="0"/>
              <a:t>110</a:t>
            </a:fld>
            <a:endParaRPr lang="en-US"/>
          </a:p>
        </p:txBody>
      </p:sp>
      <p:pic>
        <p:nvPicPr>
          <p:cNvPr id="3" name="Picture 2" descr="Creating a Custom VPC in AWS. In this article, we are going to create… | by  Kunal Yadav | Level Up Coding">
            <a:extLst>
              <a:ext uri="{FF2B5EF4-FFF2-40B4-BE49-F238E27FC236}">
                <a16:creationId xmlns:a16="http://schemas.microsoft.com/office/drawing/2014/main" id="{61F90BC0-FAD7-3416-592E-74BA6FB1D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73818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fade">
                                      <p:cBhvr>
                                        <p:cTn id="17" dur="1000"/>
                                        <p:tgtEl>
                                          <p:spTgt spid="2">
                                            <p:txEl>
                                              <p:pRg st="5" end="5"/>
                                            </p:txEl>
                                          </p:spTgt>
                                        </p:tgtEl>
                                      </p:cBhvr>
                                    </p:animEffect>
                                    <p:anim calcmode="lin" valueType="num">
                                      <p:cBhvr>
                                        <p:cTn id="1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4"/>
          <p:cNvSpPr>
            <a:spLocks noGrp="1"/>
          </p:cNvSpPr>
          <p:nvPr>
            <p:ph type="title"/>
          </p:nvPr>
        </p:nvSpPr>
        <p:spPr/>
        <p:txBody>
          <a:bodyPr>
            <a:noAutofit/>
          </a:bodyPr>
          <a:lstStyle/>
          <a:p>
            <a:r>
              <a:rPr lang="en-US" sz="4219" dirty="0"/>
              <a:t>Working with Subnets</a:t>
            </a:r>
          </a:p>
        </p:txBody>
      </p:sp>
      <p:sp>
        <p:nvSpPr>
          <p:cNvPr id="2" name="Content Placeholder 1"/>
          <p:cNvSpPr>
            <a:spLocks noGrp="1"/>
          </p:cNvSpPr>
          <p:nvPr>
            <p:ph idx="1"/>
          </p:nvPr>
        </p:nvSpPr>
        <p:spPr>
          <a:xfrm>
            <a:off x="695325" y="1357312"/>
            <a:ext cx="11410950" cy="5364167"/>
          </a:xfrm>
        </p:spPr>
        <p:txBody>
          <a:bodyPr>
            <a:normAutofit/>
          </a:bodyPr>
          <a:lstStyle/>
          <a:p>
            <a:pPr marL="0" indent="0">
              <a:lnSpc>
                <a:spcPct val="160000"/>
              </a:lnSpc>
              <a:buNone/>
            </a:pPr>
            <a:r>
              <a:rPr lang="en-US" sz="1600" b="1" dirty="0">
                <a:latin typeface="Times New Roman" panose="02020603050405020304" pitchFamily="18" charset="0"/>
                <a:cs typeface="Times New Roman" panose="02020603050405020304" pitchFamily="18" charset="0"/>
              </a:rPr>
              <a:t>Working with subnets in your VPC</a:t>
            </a:r>
          </a:p>
          <a:p>
            <a:pPr>
              <a:lnSpc>
                <a:spcPct val="160000"/>
              </a:lnSpc>
            </a:pPr>
            <a:r>
              <a:rPr lang="en-US" sz="1600" dirty="0">
                <a:latin typeface="Times New Roman" panose="02020603050405020304" pitchFamily="18" charset="0"/>
                <a:cs typeface="Times New Roman" panose="02020603050405020304" pitchFamily="18" charset="0"/>
              </a:rPr>
              <a:t>Sign in to the AWS Management Console as an administrator or super user and Select your VPC under Amazon VPC Dashboard.</a:t>
            </a:r>
          </a:p>
          <a:p>
            <a:pPr>
              <a:lnSpc>
                <a:spcPct val="160000"/>
              </a:lnSpc>
            </a:pPr>
            <a:r>
              <a:rPr lang="en-US" sz="1600" dirty="0">
                <a:latin typeface="Times New Roman" panose="02020603050405020304" pitchFamily="18" charset="0"/>
                <a:cs typeface="Times New Roman" panose="02020603050405020304" pitchFamily="18" charset="0"/>
              </a:rPr>
              <a:t>Create two subnets under your VPC as:     Public-Subnet  - 10.0.0.0/24 in us-east-1a   and  Private-Subnet – 10.0.1.0/24 in us-east-1b</a:t>
            </a:r>
          </a:p>
          <a:p>
            <a:pPr>
              <a:lnSpc>
                <a:spcPct val="160000"/>
              </a:lnSpc>
            </a:pPr>
            <a:r>
              <a:rPr lang="en-US" sz="1600" dirty="0">
                <a:latin typeface="Times New Roman" panose="02020603050405020304" pitchFamily="18" charset="0"/>
                <a:cs typeface="Times New Roman" panose="02020603050405020304" pitchFamily="18" charset="0"/>
              </a:rPr>
              <a:t>Create a public server under the public subnets (one in us-east-1a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While creating public server , make sure to enable auto assign public option during server creation.</a:t>
            </a:r>
          </a:p>
          <a:p>
            <a:pPr>
              <a:lnSpc>
                <a:spcPct val="160000"/>
              </a:lnSpc>
            </a:pPr>
            <a:r>
              <a:rPr lang="en-US" sz="1600" dirty="0">
                <a:latin typeface="Times New Roman" panose="02020603050405020304" pitchFamily="18" charset="0"/>
                <a:cs typeface="Times New Roman" panose="02020603050405020304" pitchFamily="18" charset="0"/>
              </a:rPr>
              <a:t>Create a route table named public route for giving </a:t>
            </a:r>
            <a:r>
              <a:rPr lang="en-US" sz="1600" dirty="0" err="1">
                <a:latin typeface="Times New Roman" panose="02020603050405020304" pitchFamily="18" charset="0"/>
                <a:cs typeface="Times New Roman" panose="02020603050405020304" pitchFamily="18" charset="0"/>
              </a:rPr>
              <a:t>vpc</a:t>
            </a:r>
            <a:r>
              <a:rPr lang="en-US" sz="1600" dirty="0">
                <a:latin typeface="Times New Roman" panose="02020603050405020304" pitchFamily="18" charset="0"/>
                <a:cs typeface="Times New Roman" panose="02020603050405020304" pitchFamily="18" charset="0"/>
              </a:rPr>
              <a:t> access to public server externally. In the route table , associate public subnet to the public route. </a:t>
            </a:r>
          </a:p>
          <a:p>
            <a:pPr>
              <a:lnSpc>
                <a:spcPct val="160000"/>
              </a:lnSpc>
            </a:pPr>
            <a:r>
              <a:rPr lang="en-US" sz="1600" dirty="0">
                <a:latin typeface="Times New Roman" panose="02020603050405020304" pitchFamily="18" charset="0"/>
                <a:cs typeface="Times New Roman" panose="02020603050405020304" pitchFamily="18" charset="0"/>
              </a:rPr>
              <a:t>Now Assign an Internet gateway to my-</a:t>
            </a:r>
            <a:r>
              <a:rPr lang="en-US" sz="1600" dirty="0" err="1">
                <a:latin typeface="Times New Roman" panose="02020603050405020304" pitchFamily="18" charset="0"/>
                <a:cs typeface="Times New Roman" panose="02020603050405020304" pitchFamily="18" charset="0"/>
              </a:rPr>
              <a:t>vpc</a:t>
            </a:r>
            <a:r>
              <a:rPr lang="en-US" sz="1600" dirty="0">
                <a:latin typeface="Times New Roman" panose="02020603050405020304" pitchFamily="18" charset="0"/>
                <a:cs typeface="Times New Roman" panose="02020603050405020304" pitchFamily="18" charset="0"/>
              </a:rPr>
              <a:t> and edit  route in public route . Now check whether public server is accessible or not.</a:t>
            </a:r>
          </a:p>
          <a:p>
            <a:pPr marL="0" indent="0">
              <a:lnSpc>
                <a:spcPct val="160000"/>
              </a:lnSpc>
              <a:buNone/>
            </a:pPr>
            <a:r>
              <a:rPr lang="en-US" sz="1600" dirty="0">
                <a:latin typeface="Times New Roman" panose="02020603050405020304" pitchFamily="18" charset="0"/>
                <a:cs typeface="Times New Roman" panose="02020603050405020304" pitchFamily="18" charset="0"/>
              </a:rPr>
              <a:t>		</a:t>
            </a:r>
            <a:r>
              <a:rPr lang="en-US" sz="1600" b="1" dirty="0">
                <a:solidFill>
                  <a:srgbClr val="FF0000"/>
                </a:solidFill>
                <a:highlight>
                  <a:srgbClr val="FFFF00"/>
                </a:highlight>
                <a:latin typeface="Times New Roman" panose="02020603050405020304" pitchFamily="18" charset="0"/>
                <a:cs typeface="Times New Roman" panose="02020603050405020304" pitchFamily="18" charset="0"/>
              </a:rPr>
              <a:t>Note: Make sure to edit routes and add internet gateway to the public route.</a:t>
            </a:r>
          </a:p>
          <a:p>
            <a:pPr>
              <a:lnSpc>
                <a:spcPct val="160000"/>
              </a:lnSpc>
            </a:pP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111</a:t>
            </a:fld>
            <a:endParaRPr lang="en-US"/>
          </a:p>
        </p:txBody>
      </p:sp>
      <p:pic>
        <p:nvPicPr>
          <p:cNvPr id="5" name="Picture 4" descr="Creating a Custom VPC in AWS. In this article, we are going to create… | by  Kunal Yadav | Level Up Coding">
            <a:extLst>
              <a:ext uri="{FF2B5EF4-FFF2-40B4-BE49-F238E27FC236}">
                <a16:creationId xmlns:a16="http://schemas.microsoft.com/office/drawing/2014/main" id="{B67DC4C8-921A-075D-CD9C-A708037BF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407567"/>
      </p:ext>
    </p:extLst>
  </p:cSld>
  <p:clrMapOvr>
    <a:masterClrMapping/>
  </p:clrMapOvr>
  <p:transition spd="slow">
    <p:randomBar dir="ver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AWS Security Group</a:t>
            </a:r>
            <a:endParaRPr lang="en-US" sz="4219" dirty="0"/>
          </a:p>
        </p:txBody>
      </p:sp>
      <p:sp>
        <p:nvSpPr>
          <p:cNvPr id="2" name="Content Placeholder 1"/>
          <p:cNvSpPr>
            <a:spLocks noGrp="1"/>
          </p:cNvSpPr>
          <p:nvPr>
            <p:ph idx="1"/>
          </p:nvPr>
        </p:nvSpPr>
        <p:spPr>
          <a:xfrm>
            <a:off x="444500" y="1485906"/>
            <a:ext cx="10801350" cy="4486270"/>
          </a:xfrm>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An AWS security group acts as a virtual firewall for your EC2 instances to control incoming and outgoing traffic. </a:t>
            </a:r>
          </a:p>
          <a:p>
            <a:pPr>
              <a:lnSpc>
                <a:spcPct val="150000"/>
              </a:lnSpc>
            </a:pPr>
            <a:r>
              <a:rPr lang="en-US" sz="1600" dirty="0">
                <a:latin typeface="Times New Roman" panose="02020603050405020304" pitchFamily="18" charset="0"/>
                <a:cs typeface="Times New Roman" panose="02020603050405020304" pitchFamily="18" charset="0"/>
              </a:rPr>
              <a:t>Both inbound and outbound rules control the flow of traffic to and traffic from your instance, respectively.</a:t>
            </a:r>
          </a:p>
          <a:p>
            <a:pPr>
              <a:lnSpc>
                <a:spcPct val="150000"/>
              </a:lnSpc>
            </a:pPr>
            <a:r>
              <a:rPr lang="en-US" sz="1600" dirty="0">
                <a:latin typeface="Times New Roman" panose="02020603050405020304" pitchFamily="18" charset="0"/>
                <a:cs typeface="Times New Roman" panose="02020603050405020304" pitchFamily="18" charset="0"/>
              </a:rPr>
              <a:t>A Security group is the first </a:t>
            </a:r>
            <a:r>
              <a:rPr lang="en-US" sz="1600" dirty="0" err="1">
                <a:latin typeface="Times New Roman" panose="02020603050405020304" pitchFamily="18" charset="0"/>
                <a:cs typeface="Times New Roman" panose="02020603050405020304" pitchFamily="18" charset="0"/>
              </a:rPr>
              <a:t>defence</a:t>
            </a:r>
            <a:r>
              <a:rPr lang="en-US" sz="1600" dirty="0">
                <a:latin typeface="Times New Roman" panose="02020603050405020304" pitchFamily="18" charset="0"/>
                <a:cs typeface="Times New Roman" panose="02020603050405020304" pitchFamily="18" charset="0"/>
              </a:rPr>
              <a:t> against hackers.</a:t>
            </a:r>
          </a:p>
          <a:p>
            <a:pPr>
              <a:lnSpc>
                <a:spcPct val="150000"/>
              </a:lnSpc>
            </a:pPr>
            <a:r>
              <a:rPr lang="en-US" sz="1600" dirty="0">
                <a:latin typeface="Times New Roman" panose="02020603050405020304" pitchFamily="18" charset="0"/>
                <a:cs typeface="Times New Roman" panose="02020603050405020304" pitchFamily="18" charset="0"/>
              </a:rPr>
              <a:t>A security Group a stateful services. </a:t>
            </a:r>
          </a:p>
          <a:p>
            <a:pPr>
              <a:lnSpc>
                <a:spcPct val="150000"/>
              </a:lnSpc>
            </a:pPr>
            <a:endParaRPr lang="en-US" sz="1600" dirty="0">
              <a:latin typeface="Times New Roman" panose="02020603050405020304" pitchFamily="18" charset="0"/>
              <a:cs typeface="Times New Roman" panose="02020603050405020304" pitchFamily="18" charset="0"/>
            </a:endParaRPr>
          </a:p>
          <a:p>
            <a:pPr>
              <a:lnSpc>
                <a:spcPct val="150000"/>
              </a:lnSpc>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112</a:t>
            </a:fld>
            <a:endParaRPr lang="en-US"/>
          </a:p>
        </p:txBody>
      </p:sp>
      <p:pic>
        <p:nvPicPr>
          <p:cNvPr id="22530" name="Picture 2" descr="&#10;   A VPC with a security group. The EC2 instance in the subnet is associated&#10;    with the security group.&#10;  ">
            <a:extLst>
              <a:ext uri="{FF2B5EF4-FFF2-40B4-BE49-F238E27FC236}">
                <a16:creationId xmlns:a16="http://schemas.microsoft.com/office/drawing/2014/main" id="{897DEDD9-5704-38F2-5D57-C21F7A0E4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7720" y="3297691"/>
            <a:ext cx="4876800" cy="24860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reating a Custom VPC in AWS. In this article, we are going to create… | by  Kunal Yadav | Level Up Coding">
            <a:extLst>
              <a:ext uri="{FF2B5EF4-FFF2-40B4-BE49-F238E27FC236}">
                <a16:creationId xmlns:a16="http://schemas.microsoft.com/office/drawing/2014/main" id="{864D61CF-86F0-97F8-3CDA-5C4CE48C1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664768"/>
      </p:ext>
    </p:extLst>
  </p:cSld>
  <p:clrMapOvr>
    <a:masterClrMapping/>
  </p:clrMapOvr>
  <p:transition spd="slow">
    <p:randomBar dir="ver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AWS NACL</a:t>
            </a:r>
            <a:endParaRPr lang="en-US" sz="4219" dirty="0"/>
          </a:p>
        </p:txBody>
      </p:sp>
      <p:sp>
        <p:nvSpPr>
          <p:cNvPr id="2" name="Content Placeholder 1"/>
          <p:cNvSpPr>
            <a:spLocks noGrp="1"/>
          </p:cNvSpPr>
          <p:nvPr>
            <p:ph idx="1"/>
          </p:nvPr>
        </p:nvSpPr>
        <p:spPr>
          <a:xfrm>
            <a:off x="295275" y="1466849"/>
            <a:ext cx="4410075" cy="3695701"/>
          </a:xfrm>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NACL stands for Network Access Control Lists.</a:t>
            </a:r>
          </a:p>
          <a:p>
            <a:pPr>
              <a:lnSpc>
                <a:spcPct val="150000"/>
              </a:lnSpc>
            </a:pPr>
            <a:r>
              <a:rPr lang="en-US" sz="1600" dirty="0">
                <a:latin typeface="Times New Roman" panose="02020603050405020304" pitchFamily="18" charset="0"/>
                <a:cs typeface="Times New Roman" panose="02020603050405020304" pitchFamily="18" charset="0"/>
              </a:rPr>
              <a:t>It is a security layer for your VPC that controls the traffic in and out of one or more subnets.</a:t>
            </a:r>
          </a:p>
          <a:p>
            <a:pPr>
              <a:lnSpc>
                <a:spcPct val="150000"/>
              </a:lnSpc>
            </a:pPr>
            <a:r>
              <a:rPr lang="en-US" sz="1600" dirty="0">
                <a:latin typeface="Times New Roman" panose="02020603050405020304" pitchFamily="18" charset="0"/>
                <a:cs typeface="Times New Roman" panose="02020603050405020304" pitchFamily="18" charset="0"/>
              </a:rPr>
              <a:t>It is an optional layer for your VPC.</a:t>
            </a:r>
          </a:p>
          <a:p>
            <a:pPr>
              <a:lnSpc>
                <a:spcPct val="150000"/>
              </a:lnSpc>
            </a:pPr>
            <a:r>
              <a:rPr lang="en-US" sz="1600" dirty="0">
                <a:latin typeface="Times New Roman" panose="02020603050405020304" pitchFamily="18" charset="0"/>
                <a:cs typeface="Times New Roman" panose="02020603050405020304" pitchFamily="18" charset="0"/>
              </a:rPr>
              <a:t>You can set up a Network ACL similar to the security group that adds an additional layer of security to your VPC.</a:t>
            </a:r>
          </a:p>
        </p:txBody>
      </p:sp>
      <p:sp>
        <p:nvSpPr>
          <p:cNvPr id="3" name="Footer Placeholder 2"/>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113</a:t>
            </a:fld>
            <a:endParaRPr lang="en-US"/>
          </a:p>
        </p:txBody>
      </p:sp>
      <p:pic>
        <p:nvPicPr>
          <p:cNvPr id="24578" name="Picture 2" descr="AWS: When to Use Security Groups and NACL | by Harsha Koushik | Kernel  Space | Medium">
            <a:extLst>
              <a:ext uri="{FF2B5EF4-FFF2-40B4-BE49-F238E27FC236}">
                <a16:creationId xmlns:a16="http://schemas.microsoft.com/office/drawing/2014/main" id="{A03E70BF-4E67-FDE6-AAEB-3F7306CE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749" y="1367924"/>
            <a:ext cx="5886451" cy="48049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reating a Custom VPC in AWS. In this article, we are going to create… | by  Kunal Yadav | Level Up Coding">
            <a:extLst>
              <a:ext uri="{FF2B5EF4-FFF2-40B4-BE49-F238E27FC236}">
                <a16:creationId xmlns:a16="http://schemas.microsoft.com/office/drawing/2014/main" id="{86A8E6FD-0AC9-4468-15D8-245B13023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9832"/>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311814"/>
      </p:ext>
    </p:extLst>
  </p:cSld>
  <p:clrMapOvr>
    <a:masterClrMapping/>
  </p:clrMapOvr>
  <p:transition spd="slow">
    <p:randomBar dir="ver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AWS NACL</a:t>
            </a:r>
            <a:endParaRPr lang="en-US" sz="4219" dirty="0"/>
          </a:p>
        </p:txBody>
      </p:sp>
      <p:sp>
        <p:nvSpPr>
          <p:cNvPr id="3" name="Footer Placeholder 2"/>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114</a:t>
            </a:fld>
            <a:endParaRPr lang="en-US"/>
          </a:p>
        </p:txBody>
      </p:sp>
      <p:pic>
        <p:nvPicPr>
          <p:cNvPr id="1026" name="Picture 2" descr="AWS — Difference between Security Groups and Network Access Control List ( NACL) | by Ashish Patel | Awesome Cloud | Medium">
            <a:extLst>
              <a:ext uri="{FF2B5EF4-FFF2-40B4-BE49-F238E27FC236}">
                <a16:creationId xmlns:a16="http://schemas.microsoft.com/office/drawing/2014/main" id="{27C2286B-03AB-2B39-5751-771E3D0880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687" y="1522413"/>
            <a:ext cx="7286625" cy="451842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Creating a Custom VPC in AWS. In this article, we are going to create… | by  Kunal Yadav | Level Up Coding">
            <a:extLst>
              <a:ext uri="{FF2B5EF4-FFF2-40B4-BE49-F238E27FC236}">
                <a16:creationId xmlns:a16="http://schemas.microsoft.com/office/drawing/2014/main" id="{5DEB643D-414C-E1AC-35F2-FC1595EC6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963064"/>
      </p:ext>
    </p:extLst>
  </p:cSld>
  <p:clrMapOvr>
    <a:masterClrMapping/>
  </p:clrMapOvr>
  <p:transition spd="slow">
    <p:randomBar dir="ver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5217242" y="2807208"/>
            <a:ext cx="6803308" cy="1243584"/>
          </a:xfrm>
        </p:spPr>
        <p:txBody>
          <a:bodyPr/>
          <a:lstStyle/>
          <a:p>
            <a:r>
              <a:rPr lang="en-IN" sz="5400" b="1" dirty="0">
                <a:solidFill>
                  <a:schemeClr val="bg1"/>
                </a:solidFill>
              </a:rPr>
              <a:t>AWS VPC Peering</a:t>
            </a:r>
            <a:endParaRPr lang="en-GB" dirty="0"/>
          </a:p>
        </p:txBody>
      </p:sp>
      <p:pic>
        <p:nvPicPr>
          <p:cNvPr id="12290" name="Picture 2" descr="Creating a Custom VPC in AWS. In this article, we are going to create… | by  Kunal Yadav | Level Up Coding">
            <a:extLst>
              <a:ext uri="{FF2B5EF4-FFF2-40B4-BE49-F238E27FC236}">
                <a16:creationId xmlns:a16="http://schemas.microsoft.com/office/drawing/2014/main" id="{5922891B-3A8F-86FF-579F-8E62393F6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9814" y="0"/>
            <a:ext cx="2832186" cy="1924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925303"/>
      </p:ext>
    </p:extLst>
  </p:cSld>
  <p:clrMapOvr>
    <a:masterClrMapping/>
  </p:clrMapOvr>
  <p:transition spd="slow">
    <p:randomBar dir="ver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VPC Peering </a:t>
            </a:r>
          </a:p>
        </p:txBody>
      </p:sp>
      <p:sp>
        <p:nvSpPr>
          <p:cNvPr id="2" name="Content Placeholder 1"/>
          <p:cNvSpPr>
            <a:spLocks noGrp="1"/>
          </p:cNvSpPr>
          <p:nvPr>
            <p:ph idx="1"/>
          </p:nvPr>
        </p:nvSpPr>
        <p:spPr>
          <a:xfrm>
            <a:off x="619125" y="1495430"/>
            <a:ext cx="10801350" cy="5036625"/>
          </a:xfrm>
        </p:spPr>
        <p:txBody>
          <a:bodyPr>
            <a:normAutofit/>
          </a:bodyPr>
          <a:lstStyle/>
          <a:p>
            <a:pPr>
              <a:lnSpc>
                <a:spcPct val="150000"/>
              </a:lnSpc>
            </a:pPr>
            <a:endParaRPr lang="en-US"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A VPC peering connection is a networking connection between two VPCs that enables you to route traffic between them using private IPv4 addresses or IPv6 addresses. Instances in either VPC can communicate with each other as if they are within the same network. </a:t>
            </a:r>
          </a:p>
          <a:p>
            <a:pPr>
              <a:lnSpc>
                <a:spcPct val="150000"/>
              </a:lnSpc>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116</a:t>
            </a:fld>
            <a:endParaRPr lang="en-US"/>
          </a:p>
        </p:txBody>
      </p:sp>
      <p:pic>
        <p:nvPicPr>
          <p:cNvPr id="17410" name="Picture 2" descr="What is VPC peering? - Amazon Virtual Private Cloud">
            <a:extLst>
              <a:ext uri="{FF2B5EF4-FFF2-40B4-BE49-F238E27FC236}">
                <a16:creationId xmlns:a16="http://schemas.microsoft.com/office/drawing/2014/main" id="{59429C06-83FC-72D0-6EFA-6B46559BE5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0913" y="3776658"/>
            <a:ext cx="4752975" cy="15335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reating a Custom VPC in AWS. In this article, we are going to create… | by  Kunal Yadav | Level Up Coding">
            <a:extLst>
              <a:ext uri="{FF2B5EF4-FFF2-40B4-BE49-F238E27FC236}">
                <a16:creationId xmlns:a16="http://schemas.microsoft.com/office/drawing/2014/main" id="{CC2E806B-11EB-31CB-F3D1-6CFB2D32E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549959"/>
      </p:ext>
    </p:extLst>
  </p:cSld>
  <p:clrMapOvr>
    <a:masterClrMapping/>
  </p:clrMapOvr>
  <p:transition spd="slow">
    <p:randomBar dir="ver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Types of VPC Peering </a:t>
            </a:r>
          </a:p>
        </p:txBody>
      </p:sp>
      <p:sp>
        <p:nvSpPr>
          <p:cNvPr id="2" name="Content Placeholder 1"/>
          <p:cNvSpPr>
            <a:spLocks noGrp="1"/>
          </p:cNvSpPr>
          <p:nvPr>
            <p:ph idx="1"/>
          </p:nvPr>
        </p:nvSpPr>
        <p:spPr>
          <a:xfrm>
            <a:off x="695325" y="1295405"/>
            <a:ext cx="10801350" cy="5036625"/>
          </a:xfrm>
        </p:spPr>
        <p:txBody>
          <a:bodyPr>
            <a:normAutofit/>
          </a:bodyPr>
          <a:lstStyle/>
          <a:p>
            <a:pPr marL="0" indent="0">
              <a:lnSpc>
                <a:spcPct val="150000"/>
              </a:lnSpc>
              <a:buNone/>
            </a:pPr>
            <a:r>
              <a:rPr lang="en-US" sz="1600" dirty="0">
                <a:latin typeface="Times New Roman" panose="02020603050405020304" pitchFamily="18" charset="0"/>
                <a:cs typeface="Times New Roman" panose="02020603050405020304" pitchFamily="18" charset="0"/>
              </a:rPr>
              <a:t>In Amazon Web Services (AWS), there are several types of VPC Peering connections based on the way peering connections are established and managed. These types include</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 Standard VPC Peering</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 Cross-account VPC Peering,</a:t>
            </a:r>
          </a:p>
          <a:p>
            <a:pPr marL="342900"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VPC Peering with transit gateways.</a:t>
            </a:r>
          </a:p>
        </p:txBody>
      </p:sp>
      <p:sp>
        <p:nvSpPr>
          <p:cNvPr id="4" name="Slide Number Placeholder 3"/>
          <p:cNvSpPr>
            <a:spLocks noGrp="1"/>
          </p:cNvSpPr>
          <p:nvPr>
            <p:ph type="sldNum" sz="quarter" idx="12"/>
          </p:nvPr>
        </p:nvSpPr>
        <p:spPr/>
        <p:txBody>
          <a:bodyPr/>
          <a:lstStyle/>
          <a:p>
            <a:fld id="{13F480B4-4699-41FE-89A7-96EFD1001786}" type="slidenum">
              <a:rPr lang="en-US" smtClean="0"/>
              <a:t>117</a:t>
            </a:fld>
            <a:endParaRPr lang="en-US"/>
          </a:p>
        </p:txBody>
      </p:sp>
      <p:pic>
        <p:nvPicPr>
          <p:cNvPr id="3" name="Picture 2" descr="Creating a Custom VPC in AWS. In this article, we are going to create… | by  Kunal Yadav | Level Up Coding">
            <a:extLst>
              <a:ext uri="{FF2B5EF4-FFF2-40B4-BE49-F238E27FC236}">
                <a16:creationId xmlns:a16="http://schemas.microsoft.com/office/drawing/2014/main" id="{89C22D44-DDF0-4400-B519-2ED85A8D9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735840"/>
      </p:ext>
    </p:extLst>
  </p:cSld>
  <p:clrMapOvr>
    <a:masterClrMapping/>
  </p:clrMapOvr>
  <p:transition spd="slow">
    <p:randomBar dir="ver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Standard VPC Peering</a:t>
            </a:r>
          </a:p>
        </p:txBody>
      </p:sp>
      <p:sp>
        <p:nvSpPr>
          <p:cNvPr id="2" name="Content Placeholder 1"/>
          <p:cNvSpPr>
            <a:spLocks noGrp="1"/>
          </p:cNvSpPr>
          <p:nvPr>
            <p:ph idx="1"/>
          </p:nvPr>
        </p:nvSpPr>
        <p:spPr>
          <a:xfrm>
            <a:off x="593725" y="1476380"/>
            <a:ext cx="10801350" cy="5036625"/>
          </a:xfrm>
        </p:spPr>
        <p:txBody>
          <a:bodyPr>
            <a:normAutofit/>
          </a:bodyPr>
          <a:lstStyle/>
          <a:p>
            <a:pPr marL="0" indent="0" algn="l">
              <a:lnSpc>
                <a:spcPct val="150000"/>
              </a:lnSpc>
              <a:buNone/>
            </a:pPr>
            <a:r>
              <a:rPr lang="en-US" sz="1600" b="1" i="0" dirty="0">
                <a:effectLst/>
                <a:latin typeface="Times New Roman" panose="02020603050405020304" pitchFamily="18" charset="0"/>
                <a:cs typeface="Times New Roman" panose="02020603050405020304" pitchFamily="18" charset="0"/>
              </a:rPr>
              <a:t>Within Same AWS Account:</a:t>
            </a:r>
            <a:r>
              <a:rPr lang="en-US" sz="1600" b="0" i="0" dirty="0">
                <a:effectLst/>
                <a:latin typeface="Times New Roman" panose="02020603050405020304" pitchFamily="18" charset="0"/>
                <a:cs typeface="Times New Roman" panose="02020603050405020304" pitchFamily="18" charset="0"/>
              </a:rPr>
              <a:t> This is the standard VPC Peering where connections are established between VPCs within the same AWS account.</a:t>
            </a:r>
          </a:p>
          <a:p>
            <a:pPr marL="0" indent="0" algn="l">
              <a:lnSpc>
                <a:spcPct val="150000"/>
              </a:lnSpc>
              <a:buNone/>
            </a:pPr>
            <a:r>
              <a:rPr lang="en-US" sz="1600" b="1" i="0" dirty="0">
                <a:effectLst/>
                <a:latin typeface="Times New Roman" panose="02020603050405020304" pitchFamily="18" charset="0"/>
                <a:cs typeface="Times New Roman" panose="02020603050405020304" pitchFamily="18" charset="0"/>
              </a:rPr>
              <a:t>Single Region:</a:t>
            </a:r>
            <a:r>
              <a:rPr lang="en-US" sz="1600" b="0" i="0" dirty="0">
                <a:effectLst/>
                <a:latin typeface="Times New Roman" panose="02020603050405020304" pitchFamily="18" charset="0"/>
                <a:cs typeface="Times New Roman" panose="02020603050405020304" pitchFamily="18" charset="0"/>
              </a:rPr>
              <a:t> VPC Peering is established within a single AWS region.</a:t>
            </a:r>
          </a:p>
          <a:p>
            <a:pPr marL="0" indent="0" algn="l">
              <a:lnSpc>
                <a:spcPct val="150000"/>
              </a:lnSpc>
              <a:buNone/>
            </a:pPr>
            <a:r>
              <a:rPr lang="en-US" sz="1600" b="1" i="0" dirty="0">
                <a:effectLst/>
                <a:latin typeface="Times New Roman" panose="02020603050405020304" pitchFamily="18" charset="0"/>
                <a:cs typeface="Times New Roman" panose="02020603050405020304" pitchFamily="18" charset="0"/>
              </a:rPr>
              <a:t>Non-Transitive:</a:t>
            </a:r>
            <a:r>
              <a:rPr lang="en-US" sz="1600" b="0" i="0" dirty="0">
                <a:effectLst/>
                <a:latin typeface="Times New Roman" panose="02020603050405020304" pitchFamily="18" charset="0"/>
                <a:cs typeface="Times New Roman" panose="02020603050405020304" pitchFamily="18" charset="0"/>
              </a:rPr>
              <a:t> Peering connections are non-transitive, meaning that if VPC A is peered with VPC B and VPC B is peered with VPC C, VPC A cannot directly communicate with VPC C.</a:t>
            </a:r>
          </a:p>
          <a:p>
            <a:pPr marL="0" indent="0">
              <a:lnSpc>
                <a:spcPct val="150000"/>
              </a:lnSpc>
              <a:buNone/>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118</a:t>
            </a:fld>
            <a:endParaRPr lang="en-US"/>
          </a:p>
        </p:txBody>
      </p:sp>
      <p:pic>
        <p:nvPicPr>
          <p:cNvPr id="19458" name="Picture 2" descr="Connect VPCs using VPC peering - Amazon Virtual Private Cloud">
            <a:extLst>
              <a:ext uri="{FF2B5EF4-FFF2-40B4-BE49-F238E27FC236}">
                <a16:creationId xmlns:a16="http://schemas.microsoft.com/office/drawing/2014/main" id="{50CD09B1-81BE-ABB9-D213-5FC91A355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3038" y="3709988"/>
            <a:ext cx="7040896" cy="22717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reating a Custom VPC in AWS. In this article, we are going to create… | by  Kunal Yadav | Level Up Coding">
            <a:extLst>
              <a:ext uri="{FF2B5EF4-FFF2-40B4-BE49-F238E27FC236}">
                <a16:creationId xmlns:a16="http://schemas.microsoft.com/office/drawing/2014/main" id="{83FEC67C-61A2-FD88-0F2E-7F811B13BF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255757"/>
      </p:ext>
    </p:extLst>
  </p:cSld>
  <p:clrMapOvr>
    <a:masterClrMapping/>
  </p:clrMapOvr>
  <p:transition spd="slow">
    <p:randomBar dir="ver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Cross-Account VPC Peering</a:t>
            </a:r>
          </a:p>
        </p:txBody>
      </p:sp>
      <p:sp>
        <p:nvSpPr>
          <p:cNvPr id="2" name="Content Placeholder 1"/>
          <p:cNvSpPr>
            <a:spLocks noGrp="1"/>
          </p:cNvSpPr>
          <p:nvPr>
            <p:ph idx="1"/>
          </p:nvPr>
        </p:nvSpPr>
        <p:spPr>
          <a:xfrm>
            <a:off x="238126" y="1476380"/>
            <a:ext cx="5657849" cy="5036625"/>
          </a:xfrm>
        </p:spPr>
        <p:txBody>
          <a:bodyPr>
            <a:normAutofit/>
          </a:bodyPr>
          <a:lstStyle/>
          <a:p>
            <a:pPr>
              <a:lnSpc>
                <a:spcPct val="150000"/>
              </a:lnSpc>
            </a:pPr>
            <a:r>
              <a:rPr lang="en-US" sz="1600" i="0" dirty="0">
                <a:effectLst/>
                <a:latin typeface="Times New Roman" panose="02020603050405020304" pitchFamily="18" charset="0"/>
                <a:cs typeface="Times New Roman" panose="02020603050405020304" pitchFamily="18" charset="0"/>
              </a:rPr>
              <a:t>Between Different AWS Accounts: Allows VPCs in different AWS accounts to be peered together.</a:t>
            </a:r>
          </a:p>
          <a:p>
            <a:pPr>
              <a:lnSpc>
                <a:spcPct val="150000"/>
              </a:lnSpc>
            </a:pPr>
            <a:r>
              <a:rPr lang="en-US" sz="1600" i="0" dirty="0">
                <a:effectLst/>
                <a:latin typeface="Times New Roman" panose="02020603050405020304" pitchFamily="18" charset="0"/>
                <a:cs typeface="Times New Roman" panose="02020603050405020304" pitchFamily="18" charset="0"/>
              </a:rPr>
              <a:t>Single Region: Similar to standard VPC Peering, cross-account peering is established within a single AWS region.</a:t>
            </a:r>
          </a:p>
          <a:p>
            <a:pPr>
              <a:lnSpc>
                <a:spcPct val="150000"/>
              </a:lnSpc>
            </a:pPr>
            <a:r>
              <a:rPr lang="en-US" sz="1600" i="0" dirty="0">
                <a:effectLst/>
                <a:latin typeface="Times New Roman" panose="02020603050405020304" pitchFamily="18" charset="0"/>
                <a:cs typeface="Times New Roman" panose="02020603050405020304" pitchFamily="18" charset="0"/>
              </a:rPr>
              <a:t>Permissions and Authorization: Requires appropriate permissions and authorization set in both AWS accounts to initiate and accept peering requests across accounts.</a:t>
            </a: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119</a:t>
            </a:fld>
            <a:endParaRPr lang="en-US"/>
          </a:p>
        </p:txBody>
      </p:sp>
      <p:pic>
        <p:nvPicPr>
          <p:cNvPr id="20482" name="Picture 2" descr="How to use VPC Peering cross-accounts in AWS CDK in Python between two different  VPC Networks between AWS Accounts | by Paris Nakita Kejser | DevOps  Engineer, Software Architect and Software Developering |">
            <a:extLst>
              <a:ext uri="{FF2B5EF4-FFF2-40B4-BE49-F238E27FC236}">
                <a16:creationId xmlns:a16="http://schemas.microsoft.com/office/drawing/2014/main" id="{AC6BC317-4C2F-927B-0EFA-F0EF4EE20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50" y="1381130"/>
            <a:ext cx="6334125" cy="48291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reating a Custom VPC in AWS. In this article, we are going to create… | by  Kunal Yadav | Level Up Coding">
            <a:extLst>
              <a:ext uri="{FF2B5EF4-FFF2-40B4-BE49-F238E27FC236}">
                <a16:creationId xmlns:a16="http://schemas.microsoft.com/office/drawing/2014/main" id="{D1014C6C-0FA1-E704-2224-9B2056CFB4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032038"/>
      </p:ext>
    </p:extLst>
  </p:cSld>
  <p:clrMapOvr>
    <a:masterClrMapping/>
  </p:clrMapOvr>
  <p:transition spd="slow">
    <p:randomBar dir="ver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VPC Peering with transit gateways</a:t>
            </a:r>
          </a:p>
        </p:txBody>
      </p:sp>
      <p:sp>
        <p:nvSpPr>
          <p:cNvPr id="2" name="Content Placeholder 1"/>
          <p:cNvSpPr>
            <a:spLocks noGrp="1"/>
          </p:cNvSpPr>
          <p:nvPr>
            <p:ph idx="1"/>
          </p:nvPr>
        </p:nvSpPr>
        <p:spPr>
          <a:xfrm>
            <a:off x="238126" y="1476380"/>
            <a:ext cx="5657849" cy="5036625"/>
          </a:xfrm>
        </p:spPr>
        <p:txBody>
          <a:bodyPr>
            <a:normAutofit/>
          </a:bodyPr>
          <a:lstStyle/>
          <a:p>
            <a:pPr>
              <a:lnSpc>
                <a:spcPct val="150000"/>
              </a:lnSpc>
            </a:pPr>
            <a:r>
              <a:rPr lang="en-US" sz="1600" i="0" dirty="0">
                <a:effectLst/>
                <a:latin typeface="Times New Roman" panose="02020603050405020304" pitchFamily="18" charset="0"/>
                <a:cs typeface="Times New Roman" panose="02020603050405020304" pitchFamily="18" charset="0"/>
              </a:rPr>
              <a:t>Transitive Connectivity: VPC Peering with AWS Transit Gateway allows transitive routing between multiple VPCs and remote networks connected to the Transit Gateway.</a:t>
            </a:r>
          </a:p>
          <a:p>
            <a:pPr>
              <a:lnSpc>
                <a:spcPct val="150000"/>
              </a:lnSpc>
            </a:pPr>
            <a:r>
              <a:rPr lang="en-US" sz="1600" i="0" dirty="0">
                <a:effectLst/>
                <a:latin typeface="Times New Roman" panose="02020603050405020304" pitchFamily="18" charset="0"/>
                <a:cs typeface="Times New Roman" panose="02020603050405020304" pitchFamily="18" charset="0"/>
              </a:rPr>
              <a:t>Centralized Hub: Transit Gateway serves as a centralized hub, facilitating connections between VPCs, VPNs, and other on-premises networks.</a:t>
            </a:r>
          </a:p>
          <a:p>
            <a:pPr>
              <a:lnSpc>
                <a:spcPct val="150000"/>
              </a:lnSpc>
            </a:pPr>
            <a:r>
              <a:rPr lang="en-US" sz="1600" i="0" dirty="0">
                <a:effectLst/>
                <a:latin typeface="Times New Roman" panose="02020603050405020304" pitchFamily="18" charset="0"/>
                <a:cs typeface="Times New Roman" panose="02020603050405020304" pitchFamily="18" charset="0"/>
              </a:rPr>
              <a:t>Cross-Region Connectivity: Transit Gateway can provide connectivity between VPCs in different AWS regions.</a:t>
            </a:r>
          </a:p>
          <a:p>
            <a:pPr>
              <a:lnSpc>
                <a:spcPct val="150000"/>
              </a:lnSpc>
            </a:pPr>
            <a:r>
              <a:rPr lang="en-US" sz="1600" i="0" dirty="0">
                <a:effectLst/>
                <a:latin typeface="Times New Roman" panose="02020603050405020304" pitchFamily="18" charset="0"/>
                <a:cs typeface="Times New Roman" panose="02020603050405020304" pitchFamily="18" charset="0"/>
              </a:rPr>
              <a:t>Simplified Management: Allows for easier management of networking connections and reduces the need for multiple point-to-point peering connections</a:t>
            </a: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120</a:t>
            </a:fld>
            <a:endParaRPr lang="en-US"/>
          </a:p>
        </p:txBody>
      </p:sp>
      <p:pic>
        <p:nvPicPr>
          <p:cNvPr id="21506" name="Picture 2" descr="AWS — Difference between VPC Peering and Transit Gateway | by Ashish Patel  | Awesome Cloud | Medium">
            <a:extLst>
              <a:ext uri="{FF2B5EF4-FFF2-40B4-BE49-F238E27FC236}">
                <a16:creationId xmlns:a16="http://schemas.microsoft.com/office/drawing/2014/main" id="{74FADB61-6507-C7C2-FFBD-70FE81B039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5972" y="1590674"/>
            <a:ext cx="5402627" cy="44291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reating a Custom VPC in AWS. In this article, we are going to create… | by  Kunal Yadav | Level Up Coding">
            <a:extLst>
              <a:ext uri="{FF2B5EF4-FFF2-40B4-BE49-F238E27FC236}">
                <a16:creationId xmlns:a16="http://schemas.microsoft.com/office/drawing/2014/main" id="{B745AE68-6109-55A1-2FDB-AAA12FB19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349020"/>
      </p:ext>
    </p:extLst>
  </p:cSld>
  <p:clrMapOvr>
    <a:masterClrMapping/>
  </p:clrMapOvr>
  <p:transition spd="slow">
    <p:randomBar dir="ver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500" dirty="0"/>
              <a:t>Lab : VPC Peering </a:t>
            </a:r>
          </a:p>
        </p:txBody>
      </p:sp>
      <p:sp>
        <p:nvSpPr>
          <p:cNvPr id="4" name="Slide Number Placeholder 3"/>
          <p:cNvSpPr>
            <a:spLocks noGrp="1"/>
          </p:cNvSpPr>
          <p:nvPr>
            <p:ph type="sldNum" sz="quarter" idx="12"/>
          </p:nvPr>
        </p:nvSpPr>
        <p:spPr/>
        <p:txBody>
          <a:bodyPr/>
          <a:lstStyle/>
          <a:p>
            <a:fld id="{13F480B4-4699-41FE-89A7-96EFD1001786}" type="slidenum">
              <a:rPr lang="en-US" smtClean="0"/>
              <a:t>121</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1026423" y="1419225"/>
            <a:ext cx="9815304"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00113">
              <a:buNone/>
              <a:defRPr/>
            </a:pPr>
            <a:r>
              <a:rPr lang="en-US" sz="1600" b="1" dirty="0">
                <a:solidFill>
                  <a:schemeClr val="bg1"/>
                </a:solidFill>
                <a:latin typeface="Times New Roman" panose="02020603050405020304" pitchFamily="18" charset="0"/>
                <a:cs typeface="Times New Roman" panose="02020603050405020304" pitchFamily="18" charset="0"/>
              </a:rPr>
              <a:t>Create VPC peering among two VPCs in same region</a:t>
            </a:r>
          </a:p>
          <a:p>
            <a:pPr marL="0" indent="0" defTabSz="900113">
              <a:buNone/>
              <a:defRPr/>
            </a:pPr>
            <a:endParaRPr lang="en-US" sz="1600" dirty="0">
              <a:solidFill>
                <a:schemeClr val="bg1"/>
              </a:solidFill>
              <a:latin typeface="Times New Roman" panose="02020603050405020304" pitchFamily="18" charset="0"/>
              <a:cs typeface="Times New Roman" panose="02020603050405020304" pitchFamily="18" charset="0"/>
            </a:endParaRPr>
          </a:p>
          <a:p>
            <a:pPr marL="337542" indent="-337542" defTabSz="900113">
              <a:buFont typeface="+mj-lt"/>
              <a:buAutoNum type="arabicPeriod"/>
              <a:defRPr/>
            </a:pPr>
            <a:r>
              <a:rPr lang="en-US" sz="1600" dirty="0">
                <a:solidFill>
                  <a:schemeClr val="bg1"/>
                </a:solidFill>
                <a:latin typeface="Times New Roman" panose="02020603050405020304" pitchFamily="18" charset="0"/>
                <a:cs typeface="Times New Roman" panose="02020603050405020304" pitchFamily="18" charset="0"/>
              </a:rPr>
              <a:t>Create two VPCs in Mumbai Region and two subnets in each one</a:t>
            </a:r>
          </a:p>
          <a:p>
            <a:pPr marL="337542" indent="-337542" defTabSz="900113">
              <a:buFont typeface="+mj-lt"/>
              <a:buAutoNum type="arabicPeriod"/>
              <a:defRPr/>
            </a:pPr>
            <a:endParaRPr lang="en-US" sz="1600" dirty="0">
              <a:solidFill>
                <a:schemeClr val="bg1"/>
              </a:solidFill>
              <a:latin typeface="Times New Roman" panose="02020603050405020304" pitchFamily="18" charset="0"/>
              <a:cs typeface="Times New Roman" panose="02020603050405020304" pitchFamily="18" charset="0"/>
            </a:endParaRPr>
          </a:p>
          <a:p>
            <a:pPr marL="337542" indent="-337542" defTabSz="900113">
              <a:buFont typeface="+mj-lt"/>
              <a:buAutoNum type="arabicPeriod"/>
              <a:defRPr/>
            </a:pPr>
            <a:r>
              <a:rPr lang="en-US" sz="1600" dirty="0">
                <a:solidFill>
                  <a:schemeClr val="bg1"/>
                </a:solidFill>
                <a:latin typeface="Times New Roman" panose="02020603050405020304" pitchFamily="18" charset="0"/>
                <a:cs typeface="Times New Roman" panose="02020603050405020304" pitchFamily="18" charset="0"/>
              </a:rPr>
              <a:t>Create two servers in each VPC</a:t>
            </a:r>
          </a:p>
          <a:p>
            <a:pPr marL="337542" indent="-337542" defTabSz="900113">
              <a:buFont typeface="+mj-lt"/>
              <a:buAutoNum type="arabicPeriod"/>
              <a:defRPr/>
            </a:pPr>
            <a:endParaRPr lang="en-US" sz="1600" dirty="0">
              <a:solidFill>
                <a:schemeClr val="bg1"/>
              </a:solidFill>
              <a:latin typeface="Times New Roman" panose="02020603050405020304" pitchFamily="18" charset="0"/>
              <a:cs typeface="Times New Roman" panose="02020603050405020304" pitchFamily="18" charset="0"/>
            </a:endParaRPr>
          </a:p>
          <a:p>
            <a:pPr marL="337542" indent="-337542" defTabSz="900113">
              <a:buFont typeface="+mj-lt"/>
              <a:buAutoNum type="arabicPeriod"/>
              <a:defRPr/>
            </a:pPr>
            <a:r>
              <a:rPr lang="en-US" sz="1600" dirty="0">
                <a:solidFill>
                  <a:schemeClr val="bg1"/>
                </a:solidFill>
                <a:latin typeface="Times New Roman" panose="02020603050405020304" pitchFamily="18" charset="0"/>
                <a:cs typeface="Times New Roman" panose="02020603050405020304" pitchFamily="18" charset="0"/>
              </a:rPr>
              <a:t>Verify that servers within VPC are communicating with each other, while outside VPC, same is not pingable.</a:t>
            </a:r>
          </a:p>
          <a:p>
            <a:pPr marL="337542" indent="-337542" defTabSz="900113">
              <a:buFont typeface="+mj-lt"/>
              <a:buAutoNum type="arabicPeriod"/>
              <a:defRPr/>
            </a:pPr>
            <a:endParaRPr lang="en-US" sz="1600" dirty="0">
              <a:solidFill>
                <a:schemeClr val="bg1"/>
              </a:solidFill>
              <a:latin typeface="Times New Roman" panose="02020603050405020304" pitchFamily="18" charset="0"/>
              <a:cs typeface="Times New Roman" panose="02020603050405020304" pitchFamily="18" charset="0"/>
            </a:endParaRPr>
          </a:p>
          <a:p>
            <a:pPr marL="337542" indent="-337542" defTabSz="900113">
              <a:buFont typeface="+mj-lt"/>
              <a:buAutoNum type="arabicPeriod"/>
              <a:defRPr/>
            </a:pPr>
            <a:r>
              <a:rPr lang="en-US" sz="1600" dirty="0">
                <a:solidFill>
                  <a:schemeClr val="bg1"/>
                </a:solidFill>
                <a:latin typeface="Times New Roman" panose="02020603050405020304" pitchFamily="18" charset="0"/>
                <a:cs typeface="Times New Roman" panose="02020603050405020304" pitchFamily="18" charset="0"/>
              </a:rPr>
              <a:t>Create VPC peering by visiting “Peering connections” under VPC dashboard</a:t>
            </a:r>
          </a:p>
          <a:p>
            <a:pPr marL="337542" indent="-337542" defTabSz="900113">
              <a:buFont typeface="+mj-lt"/>
              <a:buAutoNum type="arabicPeriod"/>
              <a:defRPr/>
            </a:pPr>
            <a:endParaRPr lang="en-US" sz="1600" dirty="0">
              <a:solidFill>
                <a:schemeClr val="bg1"/>
              </a:solidFill>
              <a:latin typeface="Times New Roman" panose="02020603050405020304" pitchFamily="18" charset="0"/>
              <a:cs typeface="Times New Roman" panose="02020603050405020304" pitchFamily="18" charset="0"/>
            </a:endParaRPr>
          </a:p>
          <a:p>
            <a:pPr marL="337542" indent="-337542" defTabSz="900113">
              <a:buFont typeface="+mj-lt"/>
              <a:buAutoNum type="arabicPeriod"/>
              <a:defRPr/>
            </a:pPr>
            <a:r>
              <a:rPr lang="en-US" sz="1600" dirty="0">
                <a:solidFill>
                  <a:schemeClr val="bg1"/>
                </a:solidFill>
                <a:latin typeface="Times New Roman" panose="02020603050405020304" pitchFamily="18" charset="0"/>
                <a:cs typeface="Times New Roman" panose="02020603050405020304" pitchFamily="18" charset="0"/>
              </a:rPr>
              <a:t>Select both VPCs and create VPC connection. Approve the connection.</a:t>
            </a:r>
          </a:p>
          <a:p>
            <a:pPr marL="337542" indent="-337542" defTabSz="900113">
              <a:buFont typeface="+mj-lt"/>
              <a:buAutoNum type="arabicPeriod"/>
              <a:defRPr/>
            </a:pPr>
            <a:endParaRPr lang="en-US" sz="1600" dirty="0">
              <a:solidFill>
                <a:schemeClr val="bg1"/>
              </a:solidFill>
              <a:latin typeface="Times New Roman" panose="02020603050405020304" pitchFamily="18" charset="0"/>
              <a:cs typeface="Times New Roman" panose="02020603050405020304" pitchFamily="18" charset="0"/>
            </a:endParaRPr>
          </a:p>
          <a:p>
            <a:pPr marL="337542" indent="-337542" defTabSz="900113">
              <a:buFont typeface="+mj-lt"/>
              <a:buAutoNum type="arabicPeriod"/>
              <a:defRPr/>
            </a:pPr>
            <a:r>
              <a:rPr lang="en-US" sz="1600" dirty="0">
                <a:solidFill>
                  <a:schemeClr val="bg1"/>
                </a:solidFill>
                <a:latin typeface="Times New Roman" panose="02020603050405020304" pitchFamily="18" charset="0"/>
                <a:cs typeface="Times New Roman" panose="02020603050405020304" pitchFamily="18" charset="0"/>
              </a:rPr>
              <a:t>Add route to route tables &amp; verify the traffic movement between these VPCs</a:t>
            </a:r>
          </a:p>
          <a:p>
            <a:pPr marL="337542" indent="-337542" defTabSz="900113">
              <a:buFont typeface="+mj-lt"/>
              <a:buAutoNum type="arabicPeriod"/>
              <a:defRPr/>
            </a:pPr>
            <a:endParaRPr lang="en-US" sz="1772" dirty="0">
              <a:solidFill>
                <a:sysClr val="windowText" lastClr="000000"/>
              </a:solidFill>
              <a:latin typeface="Cambria"/>
            </a:endParaRPr>
          </a:p>
          <a:p>
            <a:pPr marL="337542" indent="-337542" defTabSz="900113">
              <a:buFont typeface="+mj-lt"/>
              <a:buAutoNum type="arabicPeriod"/>
              <a:defRPr/>
            </a:pPr>
            <a:endParaRPr lang="en-US" sz="1772" dirty="0">
              <a:solidFill>
                <a:sysClr val="windowText" lastClr="000000"/>
              </a:solidFill>
              <a:latin typeface="Cambria"/>
            </a:endParaRPr>
          </a:p>
          <a:p>
            <a:pPr marL="0" indent="0" defTabSz="900113">
              <a:buNone/>
              <a:defRPr/>
            </a:pPr>
            <a:endParaRPr lang="en-US" sz="1772" dirty="0">
              <a:solidFill>
                <a:sysClr val="windowText" lastClr="000000"/>
              </a:solidFill>
              <a:latin typeface="Cambria"/>
            </a:endParaRPr>
          </a:p>
          <a:p>
            <a:pPr marL="337542" indent="-337542" defTabSz="900113">
              <a:defRPr/>
            </a:pPr>
            <a:endParaRPr lang="en-US" sz="1772" dirty="0">
              <a:solidFill>
                <a:sysClr val="windowText" lastClr="000000"/>
              </a:solidFill>
              <a:latin typeface="Cambria"/>
            </a:endParaRPr>
          </a:p>
        </p:txBody>
      </p:sp>
      <p:pic>
        <p:nvPicPr>
          <p:cNvPr id="2" name="Picture 1" descr="Creating a Custom VPC in AWS. In this article, we are going to create… | by  Kunal Yadav | Level Up Coding">
            <a:extLst>
              <a:ext uri="{FF2B5EF4-FFF2-40B4-BE49-F238E27FC236}">
                <a16:creationId xmlns:a16="http://schemas.microsoft.com/office/drawing/2014/main" id="{ABCBE2DA-70BE-3D9C-AB7F-3E8AA1E0A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389024"/>
      </p:ext>
    </p:extLst>
  </p:cSld>
  <p:clrMapOvr>
    <a:masterClrMapping/>
  </p:clrMapOvr>
  <p:transition spd="slow">
    <p:randomBar dir="ver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Amazon Load Balancer</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122</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Amazon Load Balancer distributes network traffic across its components like Amazon EC2 instances, AWS Lambda, and containers.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Supports health checks to detect unhealthy Amazon EC2 instances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Supports the routing and load balancing of HTTP, HTTPS, and TCP traffic to Amazon EC2 instances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Works within Region and across Availability zones, which means it can divert traffic to servers in different AZs, but within same Region.</a:t>
            </a: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3078714-9B1D-7F8E-7DEA-E689181970A3}"/>
              </a:ext>
            </a:extLst>
          </p:cNvPr>
          <p:cNvPicPr>
            <a:picLocks noChangeAspect="1"/>
          </p:cNvPicPr>
          <p:nvPr/>
        </p:nvPicPr>
        <p:blipFill>
          <a:blip r:embed="rId2"/>
          <a:stretch>
            <a:fillRect/>
          </a:stretch>
        </p:blipFill>
        <p:spPr>
          <a:xfrm>
            <a:off x="3286304" y="3226254"/>
            <a:ext cx="5148569" cy="2907896"/>
          </a:xfrm>
          <a:prstGeom prst="rect">
            <a:avLst/>
          </a:prstGeom>
        </p:spPr>
      </p:pic>
      <p:pic>
        <p:nvPicPr>
          <p:cNvPr id="2" name="Picture 1" descr="Creating a Custom VPC in AWS. In this article, we are going to create… | by  Kunal Yadav | Level Up Coding">
            <a:extLst>
              <a:ext uri="{FF2B5EF4-FFF2-40B4-BE49-F238E27FC236}">
                <a16:creationId xmlns:a16="http://schemas.microsoft.com/office/drawing/2014/main" id="{87A20FEE-A1A7-5DB0-BC97-1967373742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187391"/>
      </p:ext>
    </p:extLst>
  </p:cSld>
  <p:clrMapOvr>
    <a:masterClrMapping/>
  </p:clrMapOvr>
  <p:transition spd="slow">
    <p:randomBar dir="ver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8825982" cy="535531"/>
          </a:xfrm>
        </p:spPr>
        <p:txBody>
          <a:bodyPr>
            <a:noAutofit/>
          </a:bodyPr>
          <a:lstStyle/>
          <a:p>
            <a:r>
              <a:rPr lang="en-US" sz="3800" dirty="0">
                <a:latin typeface="Times New Roman" panose="02020603050405020304" pitchFamily="18" charset="0"/>
                <a:cs typeface="Times New Roman" panose="02020603050405020304" pitchFamily="18" charset="0"/>
              </a:rPr>
              <a:t>Benefits of Using ELB</a:t>
            </a:r>
          </a:p>
        </p:txBody>
      </p:sp>
      <p:sp>
        <p:nvSpPr>
          <p:cNvPr id="4" name="Slide Number Placeholder 3"/>
          <p:cNvSpPr>
            <a:spLocks noGrp="1"/>
          </p:cNvSpPr>
          <p:nvPr>
            <p:ph type="sldNum" sz="quarter" idx="12"/>
          </p:nvPr>
        </p:nvSpPr>
        <p:spPr/>
        <p:txBody>
          <a:bodyPr/>
          <a:lstStyle/>
          <a:p>
            <a:fld id="{13F480B4-4699-41FE-89A7-96EFD1001786}" type="slidenum">
              <a:rPr lang="en-US" smtClean="0"/>
              <a:t>123</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 is highly available and distributes website traffic across multiple targets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 provides high security through user authentication and SSL/TLS decryption features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 It can handle drastic changes in website traffic without human intervention</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 helps improve the visibility of your applications through continuous monitoring and auditing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 supports hybrid load balancing, which can help when migrating resources to the cloud</a:t>
            </a: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2" name="Picture 1" descr="Creating a Custom VPC in AWS. In this article, we are going to create… | by  Kunal Yadav | Level Up Coding">
            <a:extLst>
              <a:ext uri="{FF2B5EF4-FFF2-40B4-BE49-F238E27FC236}">
                <a16:creationId xmlns:a16="http://schemas.microsoft.com/office/drawing/2014/main" id="{8667EFBE-DED6-C68E-1293-E8A347410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906336"/>
      </p:ext>
    </p:extLst>
  </p:cSld>
  <p:clrMapOvr>
    <a:masterClrMapping/>
  </p:clrMapOvr>
  <p:transition spd="slow">
    <p:randomBar dir="vert"/>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8396773" cy="535531"/>
          </a:xfrm>
        </p:spPr>
        <p:txBody>
          <a:bodyPr>
            <a:noAutofit/>
          </a:bodyPr>
          <a:lstStyle/>
          <a:p>
            <a:r>
              <a:rPr lang="en-US" sz="3800" dirty="0">
                <a:latin typeface="Times New Roman" panose="02020603050405020304" pitchFamily="18" charset="0"/>
                <a:cs typeface="Times New Roman" panose="02020603050405020304" pitchFamily="18" charset="0"/>
              </a:rPr>
              <a:t>Types of AWS ELB</a:t>
            </a:r>
          </a:p>
        </p:txBody>
      </p:sp>
      <p:sp>
        <p:nvSpPr>
          <p:cNvPr id="4" name="Slide Number Placeholder 3"/>
          <p:cNvSpPr>
            <a:spLocks noGrp="1"/>
          </p:cNvSpPr>
          <p:nvPr>
            <p:ph type="sldNum" sz="quarter" idx="12"/>
          </p:nvPr>
        </p:nvSpPr>
        <p:spPr/>
        <p:txBody>
          <a:bodyPr/>
          <a:lstStyle/>
          <a:p>
            <a:fld id="{13F480B4-4699-41FE-89A7-96EFD1001786}" type="slidenum">
              <a:rPr lang="en-US" smtClean="0"/>
              <a:t>124</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00113">
              <a:lnSpc>
                <a:spcPct val="150000"/>
              </a:lnSpc>
              <a:buNone/>
              <a:defRPr/>
            </a:pPr>
            <a:r>
              <a:rPr lang="en-US" sz="1600" dirty="0">
                <a:solidFill>
                  <a:schemeClr val="bg1"/>
                </a:solidFill>
                <a:latin typeface="Times New Roman" panose="02020603050405020304" pitchFamily="18" charset="0"/>
                <a:cs typeface="Times New Roman" panose="02020603050405020304" pitchFamily="18" charset="0"/>
              </a:rPr>
              <a:t>Here are mainly four types of load balancers available on AWS.</a:t>
            </a:r>
          </a:p>
          <a:p>
            <a:pPr defTabSz="900113">
              <a:lnSpc>
                <a:spcPct val="200000"/>
              </a:lnSpc>
              <a:defRPr/>
            </a:pPr>
            <a:r>
              <a:rPr lang="en-US" sz="1600" b="1" dirty="0">
                <a:solidFill>
                  <a:srgbClr val="C00000"/>
                </a:solidFill>
                <a:highlight>
                  <a:srgbClr val="FFFF00"/>
                </a:highlight>
                <a:latin typeface="Times New Roman" panose="02020603050405020304" pitchFamily="18" charset="0"/>
                <a:cs typeface="Times New Roman" panose="02020603050405020304" pitchFamily="18" charset="0"/>
              </a:rPr>
              <a:t>Classic Load Balancer : </a:t>
            </a:r>
            <a:r>
              <a:rPr lang="en-US" sz="1600" dirty="0">
                <a:solidFill>
                  <a:schemeClr val="bg1"/>
                </a:solidFill>
                <a:latin typeface="Times New Roman" panose="02020603050405020304" pitchFamily="18" charset="0"/>
                <a:cs typeface="Times New Roman" panose="02020603050405020304" pitchFamily="18" charset="0"/>
              </a:rPr>
              <a:t>This is the most basic form of the load balancer, that was used initially for classic EC2 instances. It is operated on connection level as well as request level. The main drawback of this type of load balancer is, it does not support features like host-based routing or path-based routing. </a:t>
            </a:r>
          </a:p>
          <a:p>
            <a:pPr defTabSz="900113">
              <a:lnSpc>
                <a:spcPct val="200000"/>
              </a:lnSpc>
              <a:defRPr/>
            </a:pPr>
            <a:r>
              <a:rPr lang="en-US" sz="1600" dirty="0">
                <a:solidFill>
                  <a:srgbClr val="C00000"/>
                </a:solidFill>
                <a:highlight>
                  <a:srgbClr val="FFFF00"/>
                </a:highlight>
                <a:latin typeface="Times New Roman" panose="02020603050405020304" pitchFamily="18" charset="0"/>
                <a:cs typeface="Times New Roman" panose="02020603050405020304" pitchFamily="18" charset="0"/>
              </a:rPr>
              <a:t>Network Load Balancer </a:t>
            </a:r>
            <a:r>
              <a:rPr lang="en-US" sz="1600" dirty="0">
                <a:solidFill>
                  <a:schemeClr val="bg1"/>
                </a:solidFill>
                <a:latin typeface="Times New Roman" panose="02020603050405020304" pitchFamily="18" charset="0"/>
                <a:cs typeface="Times New Roman" panose="02020603050405020304" pitchFamily="18" charset="0"/>
              </a:rPr>
              <a:t>: Network Load Balancer works at layer 4 of the OSI Model(connection level). Its mainly used for load balancing TCP traffic. This Load Balancer can handle millions of traffic and is best suited for maintaining low latencies</a:t>
            </a:r>
          </a:p>
          <a:p>
            <a:pPr defTabSz="900113">
              <a:lnSpc>
                <a:spcPct val="200000"/>
              </a:lnSpc>
              <a:defRPr/>
            </a:pPr>
            <a:r>
              <a:rPr lang="en-US" sz="1600" dirty="0">
                <a:solidFill>
                  <a:srgbClr val="C00000"/>
                </a:solidFill>
                <a:highlight>
                  <a:srgbClr val="FFFF00"/>
                </a:highlight>
                <a:latin typeface="Times New Roman" panose="02020603050405020304" pitchFamily="18" charset="0"/>
                <a:cs typeface="Times New Roman" panose="02020603050405020304" pitchFamily="18" charset="0"/>
              </a:rPr>
              <a:t>Application Load Balancer : </a:t>
            </a:r>
            <a:r>
              <a:rPr lang="en-US" sz="1600" dirty="0">
                <a:solidFill>
                  <a:schemeClr val="bg1"/>
                </a:solidFill>
                <a:latin typeface="Times New Roman" panose="02020603050405020304" pitchFamily="18" charset="0"/>
                <a:cs typeface="Times New Roman" panose="02020603050405020304" pitchFamily="18" charset="0"/>
              </a:rPr>
              <a:t>This type of Load Balancer is used when there are HTTP and HTTPS traffic routing.. This load balancer works at the Application layer of the OSI Model. It provides advanced routing features such as host-based and path-based routing. It also works well with containers and microservices</a:t>
            </a: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2" name="Picture 1" descr="Creating a Custom VPC in AWS. In this article, we are going to create… | by  Kunal Yadav | Level Up Coding">
            <a:extLst>
              <a:ext uri="{FF2B5EF4-FFF2-40B4-BE49-F238E27FC236}">
                <a16:creationId xmlns:a16="http://schemas.microsoft.com/office/drawing/2014/main" id="{88C99BFA-0151-5EA7-62FE-CBDD76F2C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2224" y="0"/>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891013"/>
      </p:ext>
    </p:extLst>
  </p:cSld>
  <p:clrMapOvr>
    <a:masterClrMapping/>
  </p:clrMapOvr>
  <p:transition spd="slow">
    <p:randomBar dir="vert"/>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F480B4-4699-41FE-89A7-96EFD1001786}" type="slidenum">
              <a:rPr lang="en-US" smtClean="0"/>
              <a:t>125</a:t>
            </a:fld>
            <a:endParaRPr lang="en-US"/>
          </a:p>
        </p:txBody>
      </p:sp>
      <p:sp>
        <p:nvSpPr>
          <p:cNvPr id="5" name="Title 4"/>
          <p:cNvSpPr>
            <a:spLocks noGrp="1"/>
          </p:cNvSpPr>
          <p:nvPr>
            <p:ph type="title"/>
          </p:nvPr>
        </p:nvSpPr>
        <p:spPr/>
        <p:txBody>
          <a:bodyPr>
            <a:noAutofit/>
          </a:bodyPr>
          <a:lstStyle/>
          <a:p>
            <a:r>
              <a:rPr lang="en-US" sz="4219" dirty="0"/>
              <a:t>Lab : Working with ELB</a:t>
            </a:r>
          </a:p>
        </p:txBody>
      </p:sp>
      <p:sp>
        <p:nvSpPr>
          <p:cNvPr id="2" name="Content Placeholder 1"/>
          <p:cNvSpPr>
            <a:spLocks noGrp="1"/>
          </p:cNvSpPr>
          <p:nvPr>
            <p:ph idx="1"/>
          </p:nvPr>
        </p:nvSpPr>
        <p:spPr>
          <a:xfrm>
            <a:off x="695324" y="1514168"/>
            <a:ext cx="11427849" cy="4817862"/>
          </a:xfrm>
        </p:spPr>
        <p:txBody>
          <a:bodyPr>
            <a:normAutofit/>
          </a:bodyPr>
          <a:lstStyle/>
          <a:p>
            <a:pPr marL="472166"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Create two </a:t>
            </a:r>
            <a:r>
              <a:rPr lang="en-US" sz="1600" dirty="0" err="1">
                <a:latin typeface="Times New Roman" panose="02020603050405020304" pitchFamily="18" charset="0"/>
                <a:cs typeface="Times New Roman" panose="02020603050405020304" pitchFamily="18" charset="0"/>
              </a:rPr>
              <a:t>AmazonLinux</a:t>
            </a:r>
            <a:r>
              <a:rPr lang="en-US" sz="1600" dirty="0">
                <a:latin typeface="Times New Roman" panose="02020603050405020304" pitchFamily="18" charset="0"/>
                <a:cs typeface="Times New Roman" panose="02020603050405020304" pitchFamily="18" charset="0"/>
              </a:rPr>
              <a:t> servers in different-2 </a:t>
            </a:r>
            <a:r>
              <a:rPr lang="en-US" sz="1600" dirty="0" err="1">
                <a:latin typeface="Times New Roman" panose="02020603050405020304" pitchFamily="18" charset="0"/>
                <a:cs typeface="Times New Roman" panose="02020603050405020304" pitchFamily="18" charset="0"/>
              </a:rPr>
              <a:t>Azs</a:t>
            </a:r>
            <a:r>
              <a:rPr lang="en-US" sz="1600" dirty="0">
                <a:latin typeface="Times New Roman" panose="02020603050405020304" pitchFamily="18" charset="0"/>
                <a:cs typeface="Times New Roman" panose="02020603050405020304" pitchFamily="18" charset="0"/>
              </a:rPr>
              <a:t> (us-east-1a &amp;us-east1b) </a:t>
            </a:r>
          </a:p>
          <a:p>
            <a:pPr marL="472166"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Make sure to add html script user-data for post-verifying on both servers.</a:t>
            </a:r>
          </a:p>
          <a:p>
            <a:pPr marL="472166"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Create a security for </a:t>
            </a:r>
            <a:r>
              <a:rPr lang="en-US" sz="1600" dirty="0" err="1">
                <a:latin typeface="Times New Roman" panose="02020603050405020304" pitchFamily="18" charset="0"/>
                <a:cs typeface="Times New Roman" panose="02020603050405020304" pitchFamily="18" charset="0"/>
              </a:rPr>
              <a:t>alb</a:t>
            </a:r>
            <a:r>
              <a:rPr lang="en-US" sz="1600" dirty="0">
                <a:latin typeface="Times New Roman" panose="02020603050405020304" pitchFamily="18" charset="0"/>
                <a:cs typeface="Times New Roman" panose="02020603050405020304" pitchFamily="18" charset="0"/>
              </a:rPr>
              <a:t>---ec2 for access of traffic inside ec2 instances from our </a:t>
            </a:r>
            <a:r>
              <a:rPr lang="en-US" sz="1600" dirty="0" err="1">
                <a:latin typeface="Times New Roman" panose="02020603050405020304" pitchFamily="18" charset="0"/>
                <a:cs typeface="Times New Roman" panose="02020603050405020304" pitchFamily="18" charset="0"/>
              </a:rPr>
              <a:t>alb</a:t>
            </a:r>
            <a:r>
              <a:rPr lang="en-US" sz="1600" dirty="0">
                <a:latin typeface="Times New Roman" panose="02020603050405020304" pitchFamily="18" charset="0"/>
                <a:cs typeface="Times New Roman" panose="02020603050405020304" pitchFamily="18" charset="0"/>
              </a:rPr>
              <a:t> giving port 22 and 80 access to public for now and configure them on both servers us-east-1a and 1b while creating the instances.</a:t>
            </a:r>
          </a:p>
          <a:p>
            <a:pPr marL="472166"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After creating both servers, create the application load balancer and while creating the LB , create a separate security group for ALB to give access to external users to our load balancer.</a:t>
            </a:r>
          </a:p>
          <a:p>
            <a:pPr marL="472166"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Create a target group adding both instances to that target group. </a:t>
            </a:r>
          </a:p>
          <a:p>
            <a:pPr marL="472166"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After adding a target group , click on create load balancer and wait for sometime.</a:t>
            </a:r>
          </a:p>
          <a:p>
            <a:pPr marL="472166" indent="-342900">
              <a:lnSpc>
                <a:spcPct val="150000"/>
              </a:lnSpc>
              <a:buFont typeface="+mj-lt"/>
              <a:buAutoNum type="arabicPeriod"/>
            </a:pPr>
            <a:r>
              <a:rPr lang="en-US" sz="1600" dirty="0">
                <a:latin typeface="Times New Roman" panose="02020603050405020304" pitchFamily="18" charset="0"/>
                <a:cs typeface="Times New Roman" panose="02020603050405020304" pitchFamily="18" charset="0"/>
              </a:rPr>
              <a:t>Now add user—ec2 </a:t>
            </a:r>
            <a:r>
              <a:rPr lang="en-US" sz="1600" dirty="0" err="1">
                <a:latin typeface="Times New Roman" panose="02020603050405020304" pitchFamily="18" charset="0"/>
                <a:cs typeface="Times New Roman" panose="02020603050405020304" pitchFamily="18" charset="0"/>
              </a:rPr>
              <a:t>securitygroup</a:t>
            </a:r>
            <a:r>
              <a:rPr lang="en-US" sz="1600" dirty="0">
                <a:latin typeface="Times New Roman" panose="02020603050405020304" pitchFamily="18" charset="0"/>
                <a:cs typeface="Times New Roman" panose="02020603050405020304" pitchFamily="18" charset="0"/>
              </a:rPr>
              <a:t> to </a:t>
            </a:r>
            <a:r>
              <a:rPr lang="en-US" sz="1600" dirty="0" err="1">
                <a:latin typeface="Times New Roman" panose="02020603050405020304" pitchFamily="18" charset="0"/>
                <a:cs typeface="Times New Roman" panose="02020603050405020304" pitchFamily="18" charset="0"/>
              </a:rPr>
              <a:t>alb</a:t>
            </a:r>
            <a:r>
              <a:rPr lang="en-US" sz="1600" dirty="0">
                <a:latin typeface="Times New Roman" panose="02020603050405020304" pitchFamily="18" charset="0"/>
                <a:cs typeface="Times New Roman" panose="02020603050405020304" pitchFamily="18" charset="0"/>
              </a:rPr>
              <a:t>—ec2instances security group to disallow the external users to access our internal instances behind the load balancers directly. </a:t>
            </a:r>
          </a:p>
        </p:txBody>
      </p:sp>
      <p:pic>
        <p:nvPicPr>
          <p:cNvPr id="3" name="Picture 2" descr="Creating a Custom VPC in AWS. In this article, we are going to create… | by  Kunal Yadav | Level Up Coding">
            <a:extLst>
              <a:ext uri="{FF2B5EF4-FFF2-40B4-BE49-F238E27FC236}">
                <a16:creationId xmlns:a16="http://schemas.microsoft.com/office/drawing/2014/main" id="{950E690E-C35F-65E8-128B-FD087707F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2224" y="9832"/>
            <a:ext cx="1914525" cy="130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46219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Amazon CloudWatch</a:t>
            </a:r>
          </a:p>
        </p:txBody>
      </p:sp>
      <p:sp>
        <p:nvSpPr>
          <p:cNvPr id="4" name="Slide Number Placeholder 3"/>
          <p:cNvSpPr>
            <a:spLocks noGrp="1"/>
          </p:cNvSpPr>
          <p:nvPr>
            <p:ph type="sldNum" sz="quarter" idx="12"/>
          </p:nvPr>
        </p:nvSpPr>
        <p:spPr/>
        <p:txBody>
          <a:bodyPr/>
          <a:lstStyle/>
          <a:p>
            <a:fld id="{13F480B4-4699-41FE-89A7-96EFD1001786}" type="slidenum">
              <a:rPr lang="en-US" smtClean="0"/>
              <a:t>126</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Amazon CloudWatch is an AWS monitoring and management service which is designed for the purpose of maintaining the services and resources which are used.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This services is designed for developers, site reliability engineers, IT managers, and system operators to make their life easier.</a:t>
            </a: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2050" name="Picture 2" descr="What is Cloudwatch in AWS">
            <a:extLst>
              <a:ext uri="{FF2B5EF4-FFF2-40B4-BE49-F238E27FC236}">
                <a16:creationId xmlns:a16="http://schemas.microsoft.com/office/drawing/2014/main" id="{A60AD1C2-2E27-8D78-860E-161A1D4F9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0023" y="3049555"/>
            <a:ext cx="8963025" cy="24003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665B5D0-7132-B358-75C0-DED42AAE4E17}"/>
              </a:ext>
            </a:extLst>
          </p:cNvPr>
          <p:cNvPicPr>
            <a:picLocks noChangeAspect="1"/>
          </p:cNvPicPr>
          <p:nvPr/>
        </p:nvPicPr>
        <p:blipFill>
          <a:blip r:embed="rId3"/>
          <a:stretch>
            <a:fillRect/>
          </a:stretch>
        </p:blipFill>
        <p:spPr>
          <a:xfrm>
            <a:off x="8921509" y="3234672"/>
            <a:ext cx="1186052" cy="570411"/>
          </a:xfrm>
          <a:prstGeom prst="rect">
            <a:avLst/>
          </a:prstGeom>
        </p:spPr>
      </p:pic>
    </p:spTree>
    <p:extLst>
      <p:ext uri="{BB962C8B-B14F-4D97-AF65-F5344CB8AC3E}">
        <p14:creationId xmlns:p14="http://schemas.microsoft.com/office/powerpoint/2010/main" val="954237720"/>
      </p:ext>
    </p:extLst>
  </p:cSld>
  <p:clrMapOvr>
    <a:masterClrMapping/>
  </p:clrMapOvr>
  <p:transition spd="slow">
    <p:randomBar dir="vert"/>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5634DD-9C96-EA61-9C4C-4C73A8451846}"/>
              </a:ext>
            </a:extLst>
          </p:cNvPr>
          <p:cNvSpPr txBox="1"/>
          <p:nvPr/>
        </p:nvSpPr>
        <p:spPr>
          <a:xfrm>
            <a:off x="4098470" y="2630380"/>
            <a:ext cx="7229929" cy="1754326"/>
          </a:xfrm>
          <a:prstGeom prst="rect">
            <a:avLst/>
          </a:prstGeom>
          <a:noFill/>
        </p:spPr>
        <p:txBody>
          <a:bodyPr wrap="square">
            <a:spAutoFit/>
          </a:bodyPr>
          <a:lstStyle/>
          <a:p>
            <a:r>
              <a:rPr lang="en-US" sz="5400" b="1" dirty="0">
                <a:solidFill>
                  <a:schemeClr val="bg1"/>
                </a:solidFill>
              </a:rPr>
              <a:t>Amazon CloudFormation</a:t>
            </a:r>
          </a:p>
        </p:txBody>
      </p:sp>
    </p:spTree>
    <p:extLst>
      <p:ext uri="{BB962C8B-B14F-4D97-AF65-F5344CB8AC3E}">
        <p14:creationId xmlns:p14="http://schemas.microsoft.com/office/powerpoint/2010/main" val="321275561"/>
      </p:ext>
    </p:extLst>
  </p:cSld>
  <p:clrMapOvr>
    <a:masterClrMapping/>
  </p:clrMapOvr>
  <p:transition spd="slow">
    <p:randomBar dir="vert"/>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CloudFormation </a:t>
            </a:r>
          </a:p>
        </p:txBody>
      </p:sp>
      <p:sp>
        <p:nvSpPr>
          <p:cNvPr id="4" name="Slide Number Placeholder 3"/>
          <p:cNvSpPr>
            <a:spLocks noGrp="1"/>
          </p:cNvSpPr>
          <p:nvPr>
            <p:ph type="sldNum" sz="quarter" idx="12"/>
          </p:nvPr>
        </p:nvSpPr>
        <p:spPr/>
        <p:txBody>
          <a:bodyPr/>
          <a:lstStyle/>
          <a:p>
            <a:fld id="{13F480B4-4699-41FE-89A7-96EFD1001786}" type="slidenum">
              <a:rPr lang="en-US" smtClean="0"/>
              <a:t>128</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7" y="1408145"/>
            <a:ext cx="11541911"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800" dirty="0">
                <a:solidFill>
                  <a:schemeClr val="bg1"/>
                </a:solidFill>
                <a:latin typeface="Times New Roman" panose="02020603050405020304" pitchFamily="18" charset="0"/>
                <a:cs typeface="Times New Roman" panose="02020603050405020304" pitchFamily="18" charset="0"/>
              </a:rPr>
              <a:t>AWS CloudFormation is a service that helps you model and set up your Amazon Web Services resources so that you can spend less time managing those resources and more time focusing on your applications that run in AWS. You create a template that describes all the AWS resources that you want (like Amazon EC2 instances or Amazon RDS DB instances), and AWS CloudFormation takes care of provisioning and configuring those resources for you.</a:t>
            </a:r>
            <a:endParaRPr lang="en-US" sz="18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420284"/>
      </p:ext>
    </p:extLst>
  </p:cSld>
  <p:clrMapOvr>
    <a:masterClrMapping/>
  </p:clrMapOvr>
  <p:transition spd="slow">
    <p:randomBar dir="vert"/>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8973820" cy="535531"/>
          </a:xfrm>
        </p:spPr>
        <p:txBody>
          <a:bodyPr>
            <a:noAutofit/>
          </a:bodyPr>
          <a:lstStyle/>
          <a:p>
            <a:r>
              <a:rPr lang="en-US" sz="3800" dirty="0">
                <a:latin typeface="Times New Roman" panose="02020603050405020304" pitchFamily="18" charset="0"/>
                <a:cs typeface="Times New Roman" panose="02020603050405020304" pitchFamily="18" charset="0"/>
              </a:rPr>
              <a:t>Benefits of AWS CloudFormation</a:t>
            </a:r>
          </a:p>
        </p:txBody>
      </p:sp>
      <p:sp>
        <p:nvSpPr>
          <p:cNvPr id="4" name="Slide Number Placeholder 3"/>
          <p:cNvSpPr>
            <a:spLocks noGrp="1"/>
          </p:cNvSpPr>
          <p:nvPr>
            <p:ph type="sldNum" sz="quarter" idx="12"/>
          </p:nvPr>
        </p:nvSpPr>
        <p:spPr/>
        <p:txBody>
          <a:bodyPr/>
          <a:lstStyle/>
          <a:p>
            <a:fld id="{13F480B4-4699-41FE-89A7-96EFD1001786}" type="slidenum">
              <a:rPr lang="en-US" smtClean="0"/>
              <a:t>129</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7" y="1408145"/>
            <a:ext cx="11541911"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800" dirty="0">
                <a:solidFill>
                  <a:schemeClr val="bg1"/>
                </a:solidFill>
                <a:latin typeface="Times New Roman" panose="02020603050405020304" pitchFamily="18" charset="0"/>
                <a:cs typeface="Times New Roman" panose="02020603050405020304" pitchFamily="18" charset="0"/>
              </a:rPr>
              <a:t>Simplify Infrastructure Management</a:t>
            </a:r>
          </a:p>
          <a:p>
            <a:pPr defTabSz="900113">
              <a:lnSpc>
                <a:spcPct val="150000"/>
              </a:lnSpc>
              <a:defRPr/>
            </a:pPr>
            <a:r>
              <a:rPr lang="en-US" sz="1800" dirty="0">
                <a:solidFill>
                  <a:schemeClr val="bg1"/>
                </a:solidFill>
                <a:latin typeface="Times New Roman" panose="02020603050405020304" pitchFamily="18" charset="0"/>
                <a:cs typeface="Times New Roman" panose="02020603050405020304" pitchFamily="18" charset="0"/>
              </a:rPr>
              <a:t>Quickly Replicate Your Infrastructure</a:t>
            </a:r>
          </a:p>
          <a:p>
            <a:pPr defTabSz="900113">
              <a:lnSpc>
                <a:spcPct val="150000"/>
              </a:lnSpc>
              <a:defRPr/>
            </a:pPr>
            <a:r>
              <a:rPr lang="en-US" sz="1800" dirty="0">
                <a:solidFill>
                  <a:schemeClr val="bg1"/>
                </a:solidFill>
                <a:latin typeface="Times New Roman" panose="02020603050405020304" pitchFamily="18" charset="0"/>
                <a:cs typeface="Times New Roman" panose="02020603050405020304" pitchFamily="18" charset="0"/>
              </a:rPr>
              <a:t>Easily Control and Track Changes to Your Infrastructure</a:t>
            </a:r>
          </a:p>
        </p:txBody>
      </p:sp>
    </p:spTree>
    <p:extLst>
      <p:ext uri="{BB962C8B-B14F-4D97-AF65-F5344CB8AC3E}">
        <p14:creationId xmlns:p14="http://schemas.microsoft.com/office/powerpoint/2010/main" val="3238485187"/>
      </p:ext>
    </p:extLst>
  </p:cSld>
  <p:clrMapOvr>
    <a:masterClrMapping/>
  </p:clrMapOvr>
  <p:transition spd="slow">
    <p:randomBar dir="vert"/>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5634DD-9C96-EA61-9C4C-4C73A8451846}"/>
              </a:ext>
            </a:extLst>
          </p:cNvPr>
          <p:cNvSpPr txBox="1"/>
          <p:nvPr/>
        </p:nvSpPr>
        <p:spPr>
          <a:xfrm>
            <a:off x="4098471" y="3179020"/>
            <a:ext cx="6106884" cy="923330"/>
          </a:xfrm>
          <a:prstGeom prst="rect">
            <a:avLst/>
          </a:prstGeom>
          <a:noFill/>
        </p:spPr>
        <p:txBody>
          <a:bodyPr wrap="square">
            <a:spAutoFit/>
          </a:bodyPr>
          <a:lstStyle/>
          <a:p>
            <a:r>
              <a:rPr lang="en-US" sz="5400" b="1" dirty="0">
                <a:solidFill>
                  <a:schemeClr val="bg1"/>
                </a:solidFill>
              </a:rPr>
              <a:t>Amazon Redshift </a:t>
            </a:r>
          </a:p>
        </p:txBody>
      </p:sp>
    </p:spTree>
    <p:extLst>
      <p:ext uri="{BB962C8B-B14F-4D97-AF65-F5344CB8AC3E}">
        <p14:creationId xmlns:p14="http://schemas.microsoft.com/office/powerpoint/2010/main" val="3673499658"/>
      </p:ext>
    </p:extLst>
  </p:cSld>
  <p:clrMapOvr>
    <a:masterClrMapping/>
  </p:clrMapOvr>
  <p:transition spd="slow">
    <p:randomBar dir="vert"/>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Data Warehouse</a:t>
            </a:r>
          </a:p>
        </p:txBody>
      </p:sp>
      <p:sp>
        <p:nvSpPr>
          <p:cNvPr id="4" name="Slide Number Placeholder 3"/>
          <p:cNvSpPr>
            <a:spLocks noGrp="1"/>
          </p:cNvSpPr>
          <p:nvPr>
            <p:ph type="sldNum" sz="quarter" idx="12"/>
          </p:nvPr>
        </p:nvSpPr>
        <p:spPr/>
        <p:txBody>
          <a:bodyPr/>
          <a:lstStyle/>
          <a:p>
            <a:fld id="{13F480B4-4699-41FE-89A7-96EFD1001786}" type="slidenum">
              <a:rPr lang="en-US" smtClean="0"/>
              <a:t>131</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7" y="1408145"/>
            <a:ext cx="11541911"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00113">
              <a:lnSpc>
                <a:spcPct val="150000"/>
              </a:lnSpc>
              <a:buNone/>
              <a:defRPr/>
            </a:pPr>
            <a:r>
              <a:rPr lang="en-US" sz="1600" dirty="0">
                <a:solidFill>
                  <a:schemeClr val="bg1"/>
                </a:solidFill>
                <a:latin typeface="Times New Roman" panose="02020603050405020304" pitchFamily="18" charset="0"/>
                <a:cs typeface="Times New Roman" panose="02020603050405020304" pitchFamily="18" charset="0"/>
              </a:rPr>
              <a:t>A data warehouse is a central repository for storing, managing, and analyzing a large amount of structured and sometimes unstructured data from various sources within an organization. </a:t>
            </a:r>
          </a:p>
          <a:p>
            <a:pPr marL="0" indent="0" defTabSz="900113">
              <a:lnSpc>
                <a:spcPct val="150000"/>
              </a:lnSpc>
              <a:buNone/>
              <a:defRPr/>
            </a:pPr>
            <a:r>
              <a:rPr lang="en-US" sz="1600" dirty="0">
                <a:solidFill>
                  <a:schemeClr val="bg1"/>
                </a:solidFill>
                <a:latin typeface="Times New Roman" panose="02020603050405020304" pitchFamily="18" charset="0"/>
                <a:cs typeface="Times New Roman" panose="02020603050405020304" pitchFamily="18" charset="0"/>
              </a:rPr>
              <a:t>It's designed to support business decision-making processes by providing a consolidated and organized view of data across the enterprise.</a:t>
            </a: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1026" name="Picture 2" descr="Data Warehouse Architecture Layers, Principles &amp; Practices to Know |  StreamSets">
            <a:extLst>
              <a:ext uri="{FF2B5EF4-FFF2-40B4-BE49-F238E27FC236}">
                <a16:creationId xmlns:a16="http://schemas.microsoft.com/office/drawing/2014/main" id="{F1015079-2DE7-40D8-D895-B74941FDE8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7299" y="2750510"/>
            <a:ext cx="6473112" cy="3450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402680"/>
      </p:ext>
    </p:extLst>
  </p:cSld>
  <p:clrMapOvr>
    <a:masterClrMapping/>
  </p:clrMapOvr>
  <p:transition spd="slow">
    <p:randomBar dir="vert"/>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8051541" cy="535531"/>
          </a:xfrm>
        </p:spPr>
        <p:txBody>
          <a:bodyPr>
            <a:noAutofit/>
          </a:bodyPr>
          <a:lstStyle/>
          <a:p>
            <a:r>
              <a:rPr lang="en-US" sz="3800" dirty="0">
                <a:latin typeface="Times New Roman" panose="02020603050405020304" pitchFamily="18" charset="0"/>
                <a:cs typeface="Times New Roman" panose="02020603050405020304" pitchFamily="18" charset="0"/>
              </a:rPr>
              <a:t>Why data warehouses are used</a:t>
            </a:r>
          </a:p>
        </p:txBody>
      </p:sp>
      <p:sp>
        <p:nvSpPr>
          <p:cNvPr id="4" name="Slide Number Placeholder 3"/>
          <p:cNvSpPr>
            <a:spLocks noGrp="1"/>
          </p:cNvSpPr>
          <p:nvPr>
            <p:ph type="sldNum" sz="quarter" idx="12"/>
          </p:nvPr>
        </p:nvSpPr>
        <p:spPr/>
        <p:txBody>
          <a:bodyPr/>
          <a:lstStyle/>
          <a:p>
            <a:fld id="{13F480B4-4699-41FE-89A7-96EFD1001786}" type="slidenum">
              <a:rPr lang="en-US" smtClean="0"/>
              <a:t>132</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70675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lnSpc>
                <a:spcPct val="150000"/>
              </a:lnSpc>
              <a:buFont typeface="+mj-lt"/>
              <a:buAutoNum type="arabicPeriod"/>
            </a:pPr>
            <a:r>
              <a:rPr lang="en-US" sz="1400" b="1" i="0" dirty="0">
                <a:solidFill>
                  <a:srgbClr val="00B050"/>
                </a:solidFill>
                <a:effectLst/>
                <a:latin typeface="Times New Roman" panose="02020603050405020304" pitchFamily="18" charset="0"/>
                <a:cs typeface="Times New Roman" panose="02020603050405020304" pitchFamily="18" charset="0"/>
              </a:rPr>
              <a:t>Centralization of Data: </a:t>
            </a:r>
            <a:r>
              <a:rPr lang="en-US" sz="1400" i="0" dirty="0">
                <a:solidFill>
                  <a:schemeClr val="bg1"/>
                </a:solidFill>
                <a:effectLst/>
                <a:latin typeface="Times New Roman" panose="02020603050405020304" pitchFamily="18" charset="0"/>
                <a:cs typeface="Times New Roman" panose="02020603050405020304" pitchFamily="18" charset="0"/>
              </a:rPr>
              <a:t>Data warehouses gather information from disparate sources within an organization, including databases, spreadsheets, CRM systems, ERP systems, etc. It consolidates this data into a single, unified repository, allowing for easier access and analysis.</a:t>
            </a:r>
          </a:p>
          <a:p>
            <a:pPr algn="l">
              <a:lnSpc>
                <a:spcPct val="150000"/>
              </a:lnSpc>
              <a:buFont typeface="+mj-lt"/>
              <a:buAutoNum type="arabicPeriod"/>
            </a:pPr>
            <a:r>
              <a:rPr lang="en-US" sz="1400" b="1" i="0" dirty="0">
                <a:solidFill>
                  <a:srgbClr val="00B050"/>
                </a:solidFill>
                <a:effectLst/>
                <a:latin typeface="Times New Roman" panose="02020603050405020304" pitchFamily="18" charset="0"/>
                <a:cs typeface="Times New Roman" panose="02020603050405020304" pitchFamily="18" charset="0"/>
              </a:rPr>
              <a:t>Data Integration: </a:t>
            </a:r>
            <a:r>
              <a:rPr lang="en-US" sz="1400" i="0" dirty="0">
                <a:solidFill>
                  <a:schemeClr val="bg1"/>
                </a:solidFill>
                <a:effectLst/>
                <a:latin typeface="Times New Roman" panose="02020603050405020304" pitchFamily="18" charset="0"/>
                <a:cs typeface="Times New Roman" panose="02020603050405020304" pitchFamily="18" charset="0"/>
              </a:rPr>
              <a:t>Different systems often use different formats and structures for storing data. Data warehouses integrate data from various sources, transforming it into a common format, making it easier to analyze and query.</a:t>
            </a:r>
          </a:p>
          <a:p>
            <a:pPr algn="l">
              <a:lnSpc>
                <a:spcPct val="150000"/>
              </a:lnSpc>
              <a:buFont typeface="+mj-lt"/>
              <a:buAutoNum type="arabicPeriod"/>
            </a:pPr>
            <a:r>
              <a:rPr lang="en-US" sz="1400" b="1" i="0" dirty="0">
                <a:solidFill>
                  <a:srgbClr val="00B050"/>
                </a:solidFill>
                <a:effectLst/>
                <a:latin typeface="Times New Roman" panose="02020603050405020304" pitchFamily="18" charset="0"/>
                <a:cs typeface="Times New Roman" panose="02020603050405020304" pitchFamily="18" charset="0"/>
              </a:rPr>
              <a:t>Historical Data Storage: </a:t>
            </a:r>
            <a:r>
              <a:rPr lang="en-US" sz="1400" i="0" dirty="0">
                <a:solidFill>
                  <a:schemeClr val="bg1"/>
                </a:solidFill>
                <a:effectLst/>
                <a:latin typeface="Times New Roman" panose="02020603050405020304" pitchFamily="18" charset="0"/>
                <a:cs typeface="Times New Roman" panose="02020603050405020304" pitchFamily="18" charset="0"/>
              </a:rPr>
              <a:t>Data warehouses store historical data over time. This historical perspective enables trend analysis, pattern recognition, and forecasting, which can be crucial for making informed business decisions.</a:t>
            </a:r>
          </a:p>
          <a:p>
            <a:pPr algn="l">
              <a:lnSpc>
                <a:spcPct val="150000"/>
              </a:lnSpc>
              <a:buFont typeface="+mj-lt"/>
              <a:buAutoNum type="arabicPeriod"/>
            </a:pPr>
            <a:r>
              <a:rPr lang="en-US" sz="1400" b="1" i="0" dirty="0">
                <a:solidFill>
                  <a:srgbClr val="00B050"/>
                </a:solidFill>
                <a:effectLst/>
                <a:latin typeface="Times New Roman" panose="02020603050405020304" pitchFamily="18" charset="0"/>
                <a:cs typeface="Times New Roman" panose="02020603050405020304" pitchFamily="18" charset="0"/>
              </a:rPr>
              <a:t>Improved Data Quality: </a:t>
            </a:r>
            <a:r>
              <a:rPr lang="en-US" sz="1400" i="0" dirty="0">
                <a:solidFill>
                  <a:schemeClr val="bg1"/>
                </a:solidFill>
                <a:effectLst/>
                <a:latin typeface="Times New Roman" panose="02020603050405020304" pitchFamily="18" charset="0"/>
                <a:cs typeface="Times New Roman" panose="02020603050405020304" pitchFamily="18" charset="0"/>
              </a:rPr>
              <a:t>Through data cleaning, transformation, and normalization processes, data warehouses help maintain data accuracy and consistency, improving overall data quality.</a:t>
            </a:r>
          </a:p>
          <a:p>
            <a:pPr algn="l">
              <a:lnSpc>
                <a:spcPct val="150000"/>
              </a:lnSpc>
              <a:buFont typeface="+mj-lt"/>
              <a:buAutoNum type="arabicPeriod"/>
            </a:pPr>
            <a:r>
              <a:rPr lang="en-US" sz="1400" b="1" i="0" dirty="0">
                <a:solidFill>
                  <a:srgbClr val="00B050"/>
                </a:solidFill>
                <a:effectLst/>
                <a:latin typeface="Times New Roman" panose="02020603050405020304" pitchFamily="18" charset="0"/>
                <a:cs typeface="Times New Roman" panose="02020603050405020304" pitchFamily="18" charset="0"/>
              </a:rPr>
              <a:t>Support for Decision-Making: </a:t>
            </a:r>
            <a:r>
              <a:rPr lang="en-US" sz="1400" i="0" dirty="0">
                <a:solidFill>
                  <a:schemeClr val="bg1"/>
                </a:solidFill>
                <a:effectLst/>
                <a:latin typeface="Times New Roman" panose="02020603050405020304" pitchFamily="18" charset="0"/>
                <a:cs typeface="Times New Roman" panose="02020603050405020304" pitchFamily="18" charset="0"/>
              </a:rPr>
              <a:t>Businesses can use data warehouses to perform complex queries and analysis. Decision-makers can derive insights and create reports or dashboards that aid in strategic planning, identifying trends, and making data-driven decisions.</a:t>
            </a:r>
          </a:p>
          <a:p>
            <a:pPr algn="l">
              <a:lnSpc>
                <a:spcPct val="150000"/>
              </a:lnSpc>
              <a:buFont typeface="+mj-lt"/>
              <a:buAutoNum type="arabicPeriod"/>
            </a:pPr>
            <a:r>
              <a:rPr lang="en-US" sz="1400" b="1" i="0" dirty="0">
                <a:solidFill>
                  <a:srgbClr val="00B050"/>
                </a:solidFill>
                <a:effectLst/>
                <a:latin typeface="Times New Roman" panose="02020603050405020304" pitchFamily="18" charset="0"/>
                <a:cs typeface="Times New Roman" panose="02020603050405020304" pitchFamily="18" charset="0"/>
              </a:rPr>
              <a:t>Scalability and Performance</a:t>
            </a:r>
            <a:r>
              <a:rPr lang="en-US" sz="1400" i="0" dirty="0">
                <a:solidFill>
                  <a:schemeClr val="bg1"/>
                </a:solidFill>
                <a:effectLst/>
                <a:latin typeface="Times New Roman" panose="02020603050405020304" pitchFamily="18" charset="0"/>
                <a:cs typeface="Times New Roman" panose="02020603050405020304" pitchFamily="18" charset="0"/>
              </a:rPr>
              <a:t>: Data warehouses are designed to handle large volumes of data and complex queries efficiently. They are optimized for query performance, enabling faster access to information compared to traditional databases.</a:t>
            </a:r>
          </a:p>
          <a:p>
            <a:pPr algn="l">
              <a:lnSpc>
                <a:spcPct val="150000"/>
              </a:lnSpc>
              <a:buFont typeface="+mj-lt"/>
              <a:buAutoNum type="arabicPeriod"/>
            </a:pPr>
            <a:r>
              <a:rPr lang="en-US" sz="1400" b="1" i="0" dirty="0">
                <a:solidFill>
                  <a:srgbClr val="00B050"/>
                </a:solidFill>
                <a:effectLst/>
                <a:latin typeface="Times New Roman" panose="02020603050405020304" pitchFamily="18" charset="0"/>
                <a:cs typeface="Times New Roman" panose="02020603050405020304" pitchFamily="18" charset="0"/>
              </a:rPr>
              <a:t>Business Intelligence (BI) and Analytics</a:t>
            </a:r>
            <a:r>
              <a:rPr lang="en-US" sz="1400" i="0" dirty="0">
                <a:solidFill>
                  <a:schemeClr val="bg1"/>
                </a:solidFill>
                <a:effectLst/>
                <a:latin typeface="Times New Roman" panose="02020603050405020304" pitchFamily="18" charset="0"/>
                <a:cs typeface="Times New Roman" panose="02020603050405020304" pitchFamily="18" charset="0"/>
              </a:rPr>
              <a:t>: Data warehouses serve as a foundation for business intelligence and analytics tools. By providing a structured and reliable data source, these tools can extract meaningful insights, generate reports, visualize data, and conduct predictive analysis, among other things.</a:t>
            </a:r>
          </a:p>
          <a:p>
            <a:pPr marL="0" indent="0" defTabSz="900113">
              <a:lnSpc>
                <a:spcPct val="150000"/>
              </a:lnSpc>
              <a:buNone/>
              <a:defRPr/>
            </a:pPr>
            <a:endParaRPr lang="en-US" sz="14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4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4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74203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Amazon Redshift </a:t>
            </a:r>
          </a:p>
        </p:txBody>
      </p:sp>
      <p:sp>
        <p:nvSpPr>
          <p:cNvPr id="4" name="Slide Number Placeholder 3"/>
          <p:cNvSpPr>
            <a:spLocks noGrp="1"/>
          </p:cNvSpPr>
          <p:nvPr>
            <p:ph type="sldNum" sz="quarter" idx="12"/>
          </p:nvPr>
        </p:nvSpPr>
        <p:spPr/>
        <p:txBody>
          <a:bodyPr/>
          <a:lstStyle/>
          <a:p>
            <a:fld id="{13F480B4-4699-41FE-89A7-96EFD1001786}" type="slidenum">
              <a:rPr lang="en-US" smtClean="0"/>
              <a:t>133</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Amazon Redshift is a fully managed, cloud-based data warehousing service offered by Amazon Web Services (AWS).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It's designed for large-scale data analytics, enabling users to efficiently query and analyze vast amounts of structured data using standard SQL queries.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 Redshift is known for its scalability, performance, and cost-effectiveness in handling complex analytical workloads.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 is fully managed, relational database management service based on the </a:t>
            </a:r>
            <a:r>
              <a:rPr lang="en-US" sz="1600" dirty="0">
                <a:solidFill>
                  <a:srgbClr val="FF0000"/>
                </a:solidFill>
                <a:highlight>
                  <a:srgbClr val="FFFF00"/>
                </a:highlight>
                <a:latin typeface="Times New Roman" panose="02020603050405020304" pitchFamily="18" charset="0"/>
                <a:cs typeface="Times New Roman" panose="02020603050405020304" pitchFamily="18" charset="0"/>
              </a:rPr>
              <a:t>PostgreSQL engine.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 can handle petabyte-scale data while offering lightning-fast querying performance. </a:t>
            </a: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2355171"/>
      </p:ext>
    </p:extLst>
  </p:cSld>
  <p:clrMapOvr>
    <a:masterClrMapping/>
  </p:clrMapOvr>
  <p:transition spd="slow">
    <p:randomBar dir="vert"/>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10076284" cy="535531"/>
          </a:xfrm>
        </p:spPr>
        <p:txBody>
          <a:bodyPr>
            <a:noAutofit/>
          </a:bodyPr>
          <a:lstStyle/>
          <a:p>
            <a:r>
              <a:rPr lang="en-US" sz="3800" dirty="0">
                <a:latin typeface="Times New Roman" panose="02020603050405020304" pitchFamily="18" charset="0"/>
                <a:cs typeface="Times New Roman" panose="02020603050405020304" pitchFamily="18" charset="0"/>
              </a:rPr>
              <a:t>Features of AWS Redshift</a:t>
            </a:r>
          </a:p>
        </p:txBody>
      </p:sp>
      <p:sp>
        <p:nvSpPr>
          <p:cNvPr id="4" name="Slide Number Placeholder 3"/>
          <p:cNvSpPr>
            <a:spLocks noGrp="1"/>
          </p:cNvSpPr>
          <p:nvPr>
            <p:ph type="sldNum" sz="quarter" idx="12"/>
          </p:nvPr>
        </p:nvSpPr>
        <p:spPr/>
        <p:txBody>
          <a:bodyPr/>
          <a:lstStyle/>
          <a:p>
            <a:fld id="{13F480B4-4699-41FE-89A7-96EFD1001786}" type="slidenum">
              <a:rPr lang="en-US" smtClean="0"/>
              <a:t>134</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186813" y="1327355"/>
            <a:ext cx="12005187" cy="5269388"/>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lnSpc>
                <a:spcPct val="150000"/>
              </a:lnSpc>
              <a:buFont typeface="+mj-lt"/>
              <a:buAutoNum type="arabicPeriod"/>
            </a:pP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Columnar Storage</a:t>
            </a:r>
            <a:r>
              <a:rPr lang="en-US" sz="1400" b="1" i="0" dirty="0">
                <a:solidFill>
                  <a:schemeClr val="bg1"/>
                </a:solidFill>
                <a:effectLst/>
                <a:latin typeface="Times New Roman" panose="02020603050405020304" pitchFamily="18" charset="0"/>
                <a:cs typeface="Times New Roman" panose="02020603050405020304" pitchFamily="18" charset="0"/>
              </a:rPr>
              <a:t>:</a:t>
            </a:r>
            <a:r>
              <a:rPr lang="en-US" sz="1400" b="0" i="0" dirty="0">
                <a:solidFill>
                  <a:schemeClr val="bg1"/>
                </a:solidFill>
                <a:effectLst/>
                <a:latin typeface="Times New Roman" panose="02020603050405020304" pitchFamily="18" charset="0"/>
                <a:cs typeface="Times New Roman" panose="02020603050405020304" pitchFamily="18" charset="0"/>
              </a:rPr>
              <a:t> Redshift organizes data in a columnar storage format, which enhances query performance and reduces I/O overhead by only reading the columns necessary for a particular query.</a:t>
            </a:r>
          </a:p>
          <a:p>
            <a:pPr algn="l">
              <a:lnSpc>
                <a:spcPct val="150000"/>
              </a:lnSpc>
              <a:buFont typeface="+mj-lt"/>
              <a:buAutoNum type="arabicPeriod"/>
            </a:pP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Massive Parallel Processing (MPP):</a:t>
            </a:r>
            <a:r>
              <a:rPr lang="en-US" sz="1400" b="0" i="0" dirty="0">
                <a:solidFill>
                  <a:srgbClr val="C00000"/>
                </a:solidFill>
                <a:effectLst/>
                <a:highlight>
                  <a:srgbClr val="FFFF00"/>
                </a:highlight>
                <a:latin typeface="Times New Roman" panose="02020603050405020304" pitchFamily="18" charset="0"/>
                <a:cs typeface="Times New Roman" panose="02020603050405020304" pitchFamily="18" charset="0"/>
              </a:rPr>
              <a:t> </a:t>
            </a:r>
            <a:r>
              <a:rPr lang="en-US" sz="1400" b="0" i="0" dirty="0">
                <a:solidFill>
                  <a:schemeClr val="bg1"/>
                </a:solidFill>
                <a:effectLst/>
                <a:latin typeface="Times New Roman" panose="02020603050405020304" pitchFamily="18" charset="0"/>
                <a:cs typeface="Times New Roman" panose="02020603050405020304" pitchFamily="18" charset="0"/>
              </a:rPr>
              <a:t>It uses MPP architecture to parallelize and distribute queries across multiple nodes for faster execution. This allows for quick analysis of large datasets by leveraging the power of clustered computing.</a:t>
            </a:r>
          </a:p>
          <a:p>
            <a:pPr algn="l">
              <a:lnSpc>
                <a:spcPct val="150000"/>
              </a:lnSpc>
              <a:buFont typeface="+mj-lt"/>
              <a:buAutoNum type="arabicPeriod"/>
            </a:pP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Scalability:</a:t>
            </a:r>
            <a:r>
              <a:rPr lang="en-US" sz="1400" b="0" i="0" dirty="0">
                <a:solidFill>
                  <a:srgbClr val="C00000"/>
                </a:solidFill>
                <a:effectLst/>
                <a:latin typeface="Times New Roman" panose="02020603050405020304" pitchFamily="18" charset="0"/>
                <a:cs typeface="Times New Roman" panose="02020603050405020304" pitchFamily="18" charset="0"/>
              </a:rPr>
              <a:t> </a:t>
            </a:r>
            <a:r>
              <a:rPr lang="en-US" sz="1400" b="0" i="0" dirty="0">
                <a:solidFill>
                  <a:schemeClr val="bg1"/>
                </a:solidFill>
                <a:effectLst/>
                <a:latin typeface="Times New Roman" panose="02020603050405020304" pitchFamily="18" charset="0"/>
                <a:cs typeface="Times New Roman" panose="02020603050405020304" pitchFamily="18" charset="0"/>
              </a:rPr>
              <a:t>Redshift allows easy scaling by adding or removing nodes to meet changing workload demands. It offers both dense compute and dense storage node types to cater to different requirements.</a:t>
            </a:r>
          </a:p>
          <a:p>
            <a:pPr algn="l">
              <a:lnSpc>
                <a:spcPct val="150000"/>
              </a:lnSpc>
              <a:buFont typeface="+mj-lt"/>
              <a:buAutoNum type="arabicPeriod"/>
            </a:pP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Integration with Data Lake:</a:t>
            </a:r>
            <a:r>
              <a:rPr lang="en-US" sz="1400" b="0" i="0" dirty="0">
                <a:solidFill>
                  <a:srgbClr val="C00000"/>
                </a:solidFill>
                <a:effectLst/>
                <a:highlight>
                  <a:srgbClr val="FFFF00"/>
                </a:highlight>
                <a:latin typeface="Times New Roman" panose="02020603050405020304" pitchFamily="18" charset="0"/>
                <a:cs typeface="Times New Roman" panose="02020603050405020304" pitchFamily="18" charset="0"/>
              </a:rPr>
              <a:t> </a:t>
            </a:r>
            <a:r>
              <a:rPr lang="en-US" sz="1400" b="0" i="0" dirty="0">
                <a:solidFill>
                  <a:schemeClr val="bg1"/>
                </a:solidFill>
                <a:effectLst/>
                <a:latin typeface="Times New Roman" panose="02020603050405020304" pitchFamily="18" charset="0"/>
                <a:cs typeface="Times New Roman" panose="02020603050405020304" pitchFamily="18" charset="0"/>
              </a:rPr>
              <a:t>Redshift integrates seamlessly with AWS services like Amazon S3, allowing users to query and analyze data across a data lake and data warehouse using Redshift Spectrum. This enables businesses to run queries on unstructured or semi-structured data stored in S3 without needing to load it into Redshift.</a:t>
            </a:r>
          </a:p>
          <a:p>
            <a:pPr algn="l">
              <a:lnSpc>
                <a:spcPct val="150000"/>
              </a:lnSpc>
              <a:buFont typeface="+mj-lt"/>
              <a:buAutoNum type="arabicPeriod"/>
            </a:pP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Ease of Management:</a:t>
            </a:r>
            <a:r>
              <a:rPr lang="en-US" sz="1400" b="0" i="0" dirty="0">
                <a:solidFill>
                  <a:srgbClr val="C00000"/>
                </a:solidFill>
                <a:effectLst/>
                <a:highlight>
                  <a:srgbClr val="FFFF00"/>
                </a:highlight>
                <a:latin typeface="Times New Roman" panose="02020603050405020304" pitchFamily="18" charset="0"/>
                <a:cs typeface="Times New Roman" panose="02020603050405020304" pitchFamily="18" charset="0"/>
              </a:rPr>
              <a:t> </a:t>
            </a:r>
            <a:r>
              <a:rPr lang="en-US" sz="1400" b="0" i="0" dirty="0">
                <a:solidFill>
                  <a:schemeClr val="bg1"/>
                </a:solidFill>
                <a:effectLst/>
                <a:latin typeface="Times New Roman" panose="02020603050405020304" pitchFamily="18" charset="0"/>
                <a:cs typeface="Times New Roman" panose="02020603050405020304" pitchFamily="18" charset="0"/>
              </a:rPr>
              <a:t>As a managed service, AWS handles administrative tasks such as provisioning, configuring, monitoring, and patching, allowing users to focus more on analytics and less on infrastructure management.</a:t>
            </a:r>
          </a:p>
          <a:p>
            <a:pPr algn="l">
              <a:lnSpc>
                <a:spcPct val="150000"/>
              </a:lnSpc>
              <a:buFont typeface="+mj-lt"/>
              <a:buAutoNum type="arabicPeriod"/>
            </a:pP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Analytics and Business Intelligence (BI) Integration:</a:t>
            </a:r>
            <a:r>
              <a:rPr lang="en-US" sz="1400" b="0" i="0" dirty="0">
                <a:solidFill>
                  <a:srgbClr val="C00000"/>
                </a:solidFill>
                <a:effectLst/>
                <a:highlight>
                  <a:srgbClr val="FFFF00"/>
                </a:highlight>
                <a:latin typeface="Times New Roman" panose="02020603050405020304" pitchFamily="18" charset="0"/>
                <a:cs typeface="Times New Roman" panose="02020603050405020304" pitchFamily="18" charset="0"/>
              </a:rPr>
              <a:t> </a:t>
            </a:r>
            <a:r>
              <a:rPr lang="en-US" sz="1400" b="0" i="0" dirty="0">
                <a:solidFill>
                  <a:schemeClr val="bg1"/>
                </a:solidFill>
                <a:effectLst/>
                <a:latin typeface="Times New Roman" panose="02020603050405020304" pitchFamily="18" charset="0"/>
                <a:cs typeface="Times New Roman" panose="02020603050405020304" pitchFamily="18" charset="0"/>
              </a:rPr>
              <a:t>Redshift integrates with various BI tools, visualization platforms, and ETL (Extract, Transform, Load) tools, enabling users to easily connect their preferred analytics and reporting tools for data analysis and visualization.</a:t>
            </a:r>
          </a:p>
          <a:p>
            <a:pPr algn="l">
              <a:lnSpc>
                <a:spcPct val="150000"/>
              </a:lnSpc>
              <a:buFont typeface="+mj-lt"/>
              <a:buAutoNum type="arabicPeriod"/>
            </a:pPr>
            <a:r>
              <a:rPr lang="en-US" sz="1400" b="1" i="0" dirty="0">
                <a:solidFill>
                  <a:srgbClr val="C00000"/>
                </a:solidFill>
                <a:effectLst/>
                <a:highlight>
                  <a:srgbClr val="FFFF00"/>
                </a:highlight>
                <a:latin typeface="Times New Roman" panose="02020603050405020304" pitchFamily="18" charset="0"/>
                <a:cs typeface="Times New Roman" panose="02020603050405020304" pitchFamily="18" charset="0"/>
              </a:rPr>
              <a:t>Cost-Effective:</a:t>
            </a:r>
            <a:r>
              <a:rPr lang="en-US" sz="1400" b="0" i="0" dirty="0">
                <a:solidFill>
                  <a:srgbClr val="C00000"/>
                </a:solidFill>
                <a:effectLst/>
                <a:highlight>
                  <a:srgbClr val="FFFF00"/>
                </a:highlight>
                <a:latin typeface="Times New Roman" panose="02020603050405020304" pitchFamily="18" charset="0"/>
                <a:cs typeface="Times New Roman" panose="02020603050405020304" pitchFamily="18" charset="0"/>
              </a:rPr>
              <a:t> </a:t>
            </a:r>
            <a:r>
              <a:rPr lang="en-US" sz="1400" b="0" i="0" dirty="0">
                <a:solidFill>
                  <a:schemeClr val="bg1"/>
                </a:solidFill>
                <a:effectLst/>
                <a:latin typeface="Times New Roman" panose="02020603050405020304" pitchFamily="18" charset="0"/>
                <a:cs typeface="Times New Roman" panose="02020603050405020304" pitchFamily="18" charset="0"/>
              </a:rPr>
              <a:t>Redshift offers a pay-as-you-go pricing model, allowing users to pay only for the resources they use, making it cost-effective compared to traditional on-premises data warehouses.</a:t>
            </a: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73114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135</a:t>
            </a:fld>
            <a:endParaRPr lang="en-US"/>
          </a:p>
        </p:txBody>
      </p:sp>
      <p:sp>
        <p:nvSpPr>
          <p:cNvPr id="5" name="Title 4"/>
          <p:cNvSpPr>
            <a:spLocks noGrp="1"/>
          </p:cNvSpPr>
          <p:nvPr>
            <p:ph type="title"/>
          </p:nvPr>
        </p:nvSpPr>
        <p:spPr/>
        <p:txBody>
          <a:bodyPr>
            <a:noAutofit/>
          </a:bodyPr>
          <a:lstStyle/>
          <a:p>
            <a:r>
              <a:rPr lang="en-US" sz="4219" dirty="0"/>
              <a:t>Clusters and Nodes</a:t>
            </a:r>
          </a:p>
        </p:txBody>
      </p:sp>
      <p:sp>
        <p:nvSpPr>
          <p:cNvPr id="2" name="Content Placeholder 1"/>
          <p:cNvSpPr>
            <a:spLocks noGrp="1"/>
          </p:cNvSpPr>
          <p:nvPr>
            <p:ph idx="1"/>
          </p:nvPr>
        </p:nvSpPr>
        <p:spPr>
          <a:xfrm>
            <a:off x="444500" y="1502229"/>
            <a:ext cx="11563998" cy="4623934"/>
          </a:xfrm>
        </p:spPr>
        <p:txBody>
          <a:bodyPr>
            <a:noAutofit/>
          </a:bodyPr>
          <a:lstStyle/>
          <a:p>
            <a:pPr marL="415016" indent="-285750">
              <a:lnSpc>
                <a:spcPct val="150000"/>
              </a:lnSpc>
            </a:pPr>
            <a:r>
              <a:rPr lang="en-US" sz="1600" dirty="0">
                <a:latin typeface="Times New Roman" panose="02020603050405020304" pitchFamily="18" charset="0"/>
                <a:cs typeface="Times New Roman" panose="02020603050405020304" pitchFamily="18" charset="0"/>
              </a:rPr>
              <a:t>The key component of an Amazon Redshift data warehouse is a cluster.</a:t>
            </a:r>
          </a:p>
          <a:p>
            <a:pPr marL="465893" indent="-336627">
              <a:lnSpc>
                <a:spcPct val="150000"/>
              </a:lnSpc>
            </a:pPr>
            <a:r>
              <a:rPr lang="en-US" sz="1600" dirty="0">
                <a:latin typeface="Times New Roman" panose="02020603050405020304" pitchFamily="18" charset="0"/>
                <a:cs typeface="Times New Roman" panose="02020603050405020304" pitchFamily="18" charset="0"/>
              </a:rPr>
              <a:t>A cluster is composed of a leader node and one or more compute nodes.</a:t>
            </a:r>
          </a:p>
          <a:p>
            <a:pPr marL="465893" indent="-336627">
              <a:lnSpc>
                <a:spcPct val="150000"/>
              </a:lnSpc>
            </a:pPr>
            <a:r>
              <a:rPr lang="en-US" sz="1600" dirty="0">
                <a:latin typeface="Times New Roman" panose="02020603050405020304" pitchFamily="18" charset="0"/>
                <a:cs typeface="Times New Roman" panose="02020603050405020304" pitchFamily="18" charset="0"/>
              </a:rPr>
              <a:t>The client application interacts directly only with the leader node, and the compute nodes are transparent to external applications.</a:t>
            </a:r>
          </a:p>
          <a:p>
            <a:pPr marL="465893" indent="-336627">
              <a:lnSpc>
                <a:spcPct val="150000"/>
              </a:lnSpc>
            </a:pPr>
            <a:r>
              <a:rPr lang="en-US" sz="1600" dirty="0">
                <a:latin typeface="Times New Roman" panose="02020603050405020304" pitchFamily="18" charset="0"/>
                <a:cs typeface="Times New Roman" panose="02020603050405020304" pitchFamily="18" charset="0"/>
              </a:rPr>
              <a:t>Amazon Redshift currently has support for six different node types and each has a different mix of CPU, memory, and storage.</a:t>
            </a:r>
          </a:p>
          <a:p>
            <a:pPr marL="465893" indent="-336627">
              <a:lnSpc>
                <a:spcPct val="150000"/>
              </a:lnSpc>
            </a:pPr>
            <a:r>
              <a:rPr lang="en-US" sz="1600" dirty="0">
                <a:latin typeface="Times New Roman" panose="02020603050405020304" pitchFamily="18" charset="0"/>
                <a:cs typeface="Times New Roman" panose="02020603050405020304" pitchFamily="18" charset="0"/>
              </a:rPr>
              <a:t>The six node types are grouped into two categories: </a:t>
            </a:r>
            <a:r>
              <a:rPr lang="en-US" sz="1600" b="1" dirty="0">
                <a:latin typeface="Times New Roman" panose="02020603050405020304" pitchFamily="18" charset="0"/>
                <a:cs typeface="Times New Roman" panose="02020603050405020304" pitchFamily="18" charset="0"/>
              </a:rPr>
              <a:t>Dense Compute and Dense Storage.</a:t>
            </a:r>
          </a:p>
          <a:p>
            <a:pPr marL="465893" indent="-336627">
              <a:lnSpc>
                <a:spcPct val="150000"/>
              </a:lnSpc>
            </a:pPr>
            <a:r>
              <a:rPr lang="en-US" sz="1600" dirty="0">
                <a:latin typeface="Times New Roman" panose="02020603050405020304" pitchFamily="18" charset="0"/>
                <a:cs typeface="Times New Roman" panose="02020603050405020304" pitchFamily="18" charset="0"/>
              </a:rPr>
              <a:t>The Dense Compute node types support clusters up to 326TB using fast SSDs, while the Dense Storage nodes support clusters up to 2PB using large magnetic disks.</a:t>
            </a:r>
          </a:p>
        </p:txBody>
      </p:sp>
    </p:spTree>
    <p:extLst>
      <p:ext uri="{BB962C8B-B14F-4D97-AF65-F5344CB8AC3E}">
        <p14:creationId xmlns:p14="http://schemas.microsoft.com/office/powerpoint/2010/main" val="362455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136</a:t>
            </a:fld>
            <a:endParaRPr lang="en-US"/>
          </a:p>
        </p:txBody>
      </p:sp>
      <p:sp>
        <p:nvSpPr>
          <p:cNvPr id="5" name="Title 4"/>
          <p:cNvSpPr>
            <a:spLocks noGrp="1"/>
          </p:cNvSpPr>
          <p:nvPr>
            <p:ph type="title"/>
          </p:nvPr>
        </p:nvSpPr>
        <p:spPr>
          <a:xfrm>
            <a:off x="332533" y="411955"/>
            <a:ext cx="11214100" cy="535531"/>
          </a:xfrm>
        </p:spPr>
        <p:txBody>
          <a:bodyPr>
            <a:noAutofit/>
          </a:bodyPr>
          <a:lstStyle/>
          <a:p>
            <a:r>
              <a:rPr lang="en-US" sz="4219" dirty="0"/>
              <a:t>Amazon Redshift</a:t>
            </a:r>
          </a:p>
        </p:txBody>
      </p:sp>
      <p:pic>
        <p:nvPicPr>
          <p:cNvPr id="2050" name="Picture 2" descr="How to Create Redshift Indexes: Table Constraints Simplified">
            <a:extLst>
              <a:ext uri="{FF2B5EF4-FFF2-40B4-BE49-F238E27FC236}">
                <a16:creationId xmlns:a16="http://schemas.microsoft.com/office/drawing/2014/main" id="{17F77EC2-B094-0A3E-D684-A80815CA2D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427" y="1448450"/>
            <a:ext cx="9697875" cy="4681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68910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373880" y="6780111"/>
            <a:ext cx="4053840" cy="389467"/>
          </a:xfrm>
          <a:prstGeom prst="rect">
            <a:avLst/>
          </a:prstGeom>
        </p:spPr>
        <p:txBody>
          <a:bodyPr vert="horz" lIns="114901" tIns="57454" rIns="114901" bIns="57454" rtlCol="0" anchor="ctr"/>
          <a:lstStyle>
            <a:defPPr>
              <a:defRPr lang="en-US"/>
            </a:defPPr>
            <a:lvl1pPr marL="0" algn="ctr" defTabSz="1149020" rtl="0" eaLnBrk="1" latinLnBrk="0" hangingPunct="1">
              <a:defRPr sz="1500" kern="1200">
                <a:solidFill>
                  <a:schemeClr val="tx1">
                    <a:tint val="75000"/>
                  </a:schemeClr>
                </a:solidFill>
                <a:latin typeface="+mn-lt"/>
                <a:ea typeface="+mn-ea"/>
                <a:cs typeface="+mn-cs"/>
              </a:defRPr>
            </a:lvl1pPr>
            <a:lvl2pPr marL="574510" algn="l" defTabSz="1149020" rtl="0" eaLnBrk="1" latinLnBrk="0" hangingPunct="1">
              <a:defRPr sz="2300" kern="1200">
                <a:solidFill>
                  <a:schemeClr val="tx1"/>
                </a:solidFill>
                <a:latin typeface="+mn-lt"/>
                <a:ea typeface="+mn-ea"/>
                <a:cs typeface="+mn-cs"/>
              </a:defRPr>
            </a:lvl2pPr>
            <a:lvl3pPr marL="1149020" algn="l" defTabSz="1149020" rtl="0" eaLnBrk="1" latinLnBrk="0" hangingPunct="1">
              <a:defRPr sz="2300" kern="1200">
                <a:solidFill>
                  <a:schemeClr val="tx1"/>
                </a:solidFill>
                <a:latin typeface="+mn-lt"/>
                <a:ea typeface="+mn-ea"/>
                <a:cs typeface="+mn-cs"/>
              </a:defRPr>
            </a:lvl3pPr>
            <a:lvl4pPr marL="1723531" algn="l" defTabSz="1149020" rtl="0" eaLnBrk="1" latinLnBrk="0" hangingPunct="1">
              <a:defRPr sz="2300" kern="1200">
                <a:solidFill>
                  <a:schemeClr val="tx1"/>
                </a:solidFill>
                <a:latin typeface="+mn-lt"/>
                <a:ea typeface="+mn-ea"/>
                <a:cs typeface="+mn-cs"/>
              </a:defRPr>
            </a:lvl4pPr>
            <a:lvl5pPr marL="2298039" algn="l" defTabSz="1149020" rtl="0" eaLnBrk="1" latinLnBrk="0" hangingPunct="1">
              <a:defRPr sz="2300" kern="1200">
                <a:solidFill>
                  <a:schemeClr val="tx1"/>
                </a:solidFill>
                <a:latin typeface="+mn-lt"/>
                <a:ea typeface="+mn-ea"/>
                <a:cs typeface="+mn-cs"/>
              </a:defRPr>
            </a:lvl5pPr>
            <a:lvl6pPr marL="2872551" algn="l" defTabSz="1149020" rtl="0" eaLnBrk="1" latinLnBrk="0" hangingPunct="1">
              <a:defRPr sz="2300" kern="1200">
                <a:solidFill>
                  <a:schemeClr val="tx1"/>
                </a:solidFill>
                <a:latin typeface="+mn-lt"/>
                <a:ea typeface="+mn-ea"/>
                <a:cs typeface="+mn-cs"/>
              </a:defRPr>
            </a:lvl6pPr>
            <a:lvl7pPr marL="3447060" algn="l" defTabSz="1149020" rtl="0" eaLnBrk="1" latinLnBrk="0" hangingPunct="1">
              <a:defRPr sz="2300" kern="1200">
                <a:solidFill>
                  <a:schemeClr val="tx1"/>
                </a:solidFill>
                <a:latin typeface="+mn-lt"/>
                <a:ea typeface="+mn-ea"/>
                <a:cs typeface="+mn-cs"/>
              </a:defRPr>
            </a:lvl7pPr>
            <a:lvl8pPr marL="4021572" algn="l" defTabSz="1149020" rtl="0" eaLnBrk="1" latinLnBrk="0" hangingPunct="1">
              <a:defRPr sz="2300" kern="1200">
                <a:solidFill>
                  <a:schemeClr val="tx1"/>
                </a:solidFill>
                <a:latin typeface="+mn-lt"/>
                <a:ea typeface="+mn-ea"/>
                <a:cs typeface="+mn-cs"/>
              </a:defRPr>
            </a:lvl8pPr>
            <a:lvl9pPr marL="4596081" algn="l" defTabSz="1149020" rtl="0" eaLnBrk="1" latinLnBrk="0" hangingPunct="1">
              <a:defRPr sz="2300" kern="1200">
                <a:solidFill>
                  <a:schemeClr val="tx1"/>
                </a:solidFill>
                <a:latin typeface="+mn-lt"/>
                <a:ea typeface="+mn-ea"/>
                <a:cs typeface="+mn-cs"/>
              </a:defRPr>
            </a:lvl9pPr>
          </a:lstStyle>
          <a:p>
            <a:r>
              <a:rPr lang="en-US"/>
              <a:t>Copyright  © Techlanders Solutions</a:t>
            </a:r>
            <a:endParaRPr lang="en-US" dirty="0"/>
          </a:p>
        </p:txBody>
      </p:sp>
      <p:sp>
        <p:nvSpPr>
          <p:cNvPr id="4" name="Slide Number Placeholder 3"/>
          <p:cNvSpPr>
            <a:spLocks noGrp="1"/>
          </p:cNvSpPr>
          <p:nvPr>
            <p:ph type="sldNum" sz="quarter" idx="12"/>
          </p:nvPr>
        </p:nvSpPr>
        <p:spPr/>
        <p:txBody>
          <a:bodyPr/>
          <a:lstStyle/>
          <a:p>
            <a:fld id="{13F480B4-4699-41FE-89A7-96EFD1001786}" type="slidenum">
              <a:rPr lang="en-US" smtClean="0"/>
              <a:t>137</a:t>
            </a:fld>
            <a:endParaRPr lang="en-US"/>
          </a:p>
        </p:txBody>
      </p:sp>
      <p:sp>
        <p:nvSpPr>
          <p:cNvPr id="5" name="Title 4"/>
          <p:cNvSpPr>
            <a:spLocks noGrp="1"/>
          </p:cNvSpPr>
          <p:nvPr>
            <p:ph type="title"/>
          </p:nvPr>
        </p:nvSpPr>
        <p:spPr>
          <a:xfrm>
            <a:off x="145921" y="607469"/>
            <a:ext cx="11214100" cy="535531"/>
          </a:xfrm>
        </p:spPr>
        <p:txBody>
          <a:bodyPr>
            <a:noAutofit/>
          </a:bodyPr>
          <a:lstStyle/>
          <a:p>
            <a:r>
              <a:rPr lang="en-US" sz="4219" dirty="0"/>
              <a:t>Amazon Redshift cluster architecture</a:t>
            </a:r>
          </a:p>
        </p:txBody>
      </p:sp>
      <p:sp>
        <p:nvSpPr>
          <p:cNvPr id="2" name="Content Placeholder 1"/>
          <p:cNvSpPr>
            <a:spLocks noGrp="1"/>
          </p:cNvSpPr>
          <p:nvPr>
            <p:ph idx="1"/>
          </p:nvPr>
        </p:nvSpPr>
        <p:spPr>
          <a:xfrm>
            <a:off x="0" y="1143000"/>
            <a:ext cx="12046079" cy="4983163"/>
          </a:xfrm>
        </p:spPr>
        <p:txBody>
          <a:bodyPr>
            <a:normAutofit fontScale="85000" lnSpcReduction="10000"/>
          </a:bodyPr>
          <a:lstStyle/>
          <a:p>
            <a:pPr marL="129263" indent="0">
              <a:buNone/>
            </a:pPr>
            <a:endParaRPr lang="en-US" sz="2156" b="1" dirty="0"/>
          </a:p>
          <a:p>
            <a:pPr marL="465893" indent="-336627">
              <a:lnSpc>
                <a:spcPct val="160000"/>
              </a:lnSpc>
            </a:pPr>
            <a:r>
              <a:rPr lang="en-US" sz="2250" dirty="0">
                <a:latin typeface="Times New Roman" panose="02020603050405020304" pitchFamily="18" charset="0"/>
                <a:cs typeface="Times New Roman" panose="02020603050405020304" pitchFamily="18" charset="0"/>
              </a:rPr>
              <a:t>Each cluster contains one or more databases. User data for each table is distributed across the compute nodes. Your application or SQL client communicates with Amazon Redshift using standard JDBC or ODBC connections with the leader node, which in turn coordinates query execution with the compute nodes. Your application does not interact directly with the compute nodes.</a:t>
            </a:r>
          </a:p>
          <a:p>
            <a:pPr marL="465893" indent="-336627">
              <a:lnSpc>
                <a:spcPct val="160000"/>
              </a:lnSpc>
            </a:pPr>
            <a:r>
              <a:rPr lang="en-US" sz="2250" dirty="0">
                <a:latin typeface="Times New Roman" panose="02020603050405020304" pitchFamily="18" charset="0"/>
                <a:cs typeface="Times New Roman" panose="02020603050405020304" pitchFamily="18" charset="0"/>
              </a:rPr>
              <a:t>The disk storage for a compute node is divided into a number of slices. The number of slices per node depends on the node size of the cluster and typically varies between 2 and 16. The nodes all participate in parallel query execution.</a:t>
            </a:r>
          </a:p>
          <a:p>
            <a:pPr marL="465893" indent="-336627">
              <a:lnSpc>
                <a:spcPct val="160000"/>
              </a:lnSpc>
            </a:pPr>
            <a:r>
              <a:rPr lang="en-US" sz="2250" dirty="0">
                <a:latin typeface="Times New Roman" panose="02020603050405020304" pitchFamily="18" charset="0"/>
                <a:cs typeface="Times New Roman" panose="02020603050405020304" pitchFamily="18" charset="0"/>
              </a:rPr>
              <a:t>Amazon Redshift allows you to resize a cluster to add storage and compute capacity over time as your needs evolve. Whenever you perform a resize operation, Amazon Redshift will create a new cluster and migrate data from the old cluster to the new one. During a resize operation, the database will become read-only until the operation is finished.</a:t>
            </a:r>
          </a:p>
        </p:txBody>
      </p:sp>
    </p:spTree>
    <p:extLst>
      <p:ext uri="{BB962C8B-B14F-4D97-AF65-F5344CB8AC3E}">
        <p14:creationId xmlns:p14="http://schemas.microsoft.com/office/powerpoint/2010/main" val="3178684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1000"/>
                                        <p:tgtEl>
                                          <p:spTgt spid="2">
                                            <p:txEl>
                                              <p:pRg st="3" end="3"/>
                                            </p:txEl>
                                          </p:spTgt>
                                        </p:tgtEl>
                                      </p:cBhvr>
                                    </p:animEffect>
                                    <p:anim calcmode="lin" valueType="num">
                                      <p:cBhvr>
                                        <p:cTn id="2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12337" y="3054609"/>
            <a:ext cx="8658031" cy="535531"/>
          </a:xfrm>
        </p:spPr>
        <p:txBody>
          <a:bodyPr>
            <a:noAutofit/>
          </a:bodyPr>
          <a:lstStyle/>
          <a:p>
            <a:r>
              <a:rPr lang="en-US" sz="4000" dirty="0"/>
              <a:t>Lab : Setup Amazon Redshift Cluster  </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138</a:t>
            </a:fld>
            <a:endParaRPr lang="en-US"/>
          </a:p>
        </p:txBody>
      </p:sp>
    </p:spTree>
    <p:extLst>
      <p:ext uri="{BB962C8B-B14F-4D97-AF65-F5344CB8AC3E}">
        <p14:creationId xmlns:p14="http://schemas.microsoft.com/office/powerpoint/2010/main" val="56332524"/>
      </p:ext>
    </p:extLst>
  </p:cSld>
  <p:clrMapOvr>
    <a:masterClrMapping/>
  </p:clrMapOvr>
  <p:transition spd="slow">
    <p:randomBar dir="vert"/>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AWS Lake Formation</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139</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AWS Lake Formation is a service provided by Amazon Web Services (AWS) that simplifies and accelerates the process of building, securing, and managing data lakes in the cloud. </a:t>
            </a:r>
          </a:p>
          <a:p>
            <a:pPr algn="just"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 data lake is a centralized repository that allows you to store structured, semi-structured, and unstructured data at scale. </a:t>
            </a:r>
          </a:p>
          <a:p>
            <a:pPr algn="just"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 enables organizations to analyze large volumes of diverse data types for analytics, machine learning, and other data-driven tasks.</a:t>
            </a:r>
            <a:endParaRPr lang="en-US" sz="1600" dirty="0">
              <a:solidFill>
                <a:sysClr val="windowText" lastClr="000000"/>
              </a:solidFill>
              <a:latin typeface="Times New Roman" panose="02020603050405020304" pitchFamily="18" charset="0"/>
              <a:cs typeface="Times New Roman" panose="02020603050405020304" pitchFamily="18" charset="0"/>
            </a:endParaRPr>
          </a:p>
          <a:p>
            <a:pPr algn="just"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855293"/>
      </p:ext>
    </p:extLst>
  </p:cSld>
  <p:clrMapOvr>
    <a:masterClrMapping/>
  </p:clrMapOvr>
  <p:transition spd="slow">
    <p:randomBar dir="vert"/>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099" y="554005"/>
            <a:ext cx="11279933" cy="535531"/>
          </a:xfrm>
        </p:spPr>
        <p:txBody>
          <a:bodyPr>
            <a:noAutofit/>
          </a:bodyPr>
          <a:lstStyle/>
          <a:p>
            <a:r>
              <a:rPr lang="en-US" sz="3800" dirty="0">
                <a:latin typeface="Times New Roman" panose="02020603050405020304" pitchFamily="18" charset="0"/>
                <a:cs typeface="Times New Roman" panose="02020603050405020304" pitchFamily="18" charset="0"/>
              </a:rPr>
              <a:t>Features &amp; Functionalities of AKF</a:t>
            </a:r>
          </a:p>
        </p:txBody>
      </p:sp>
      <p:sp>
        <p:nvSpPr>
          <p:cNvPr id="4" name="Slide Number Placeholder 3"/>
          <p:cNvSpPr>
            <a:spLocks noGrp="1"/>
          </p:cNvSpPr>
          <p:nvPr>
            <p:ph type="sldNum" sz="quarter" idx="12"/>
          </p:nvPr>
        </p:nvSpPr>
        <p:spPr/>
        <p:txBody>
          <a:bodyPr/>
          <a:lstStyle/>
          <a:p>
            <a:fld id="{13F480B4-4699-41FE-89A7-96EFD1001786}" type="slidenum">
              <a:rPr lang="en-US" smtClean="0"/>
              <a:t>140</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5095292"/>
          </a:xfrm>
          <a:prstGeom prst="rect">
            <a:avLst/>
          </a:prstGeom>
        </p:spPr>
        <p:txBody>
          <a:bodyPr vert="horz" lIns="90011" tIns="45006" rIns="90011" bIns="45006"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Ingestion:</a:t>
            </a:r>
            <a:r>
              <a:rPr lang="en-US" sz="1600" b="0" i="0" dirty="0">
                <a:solidFill>
                  <a:schemeClr val="bg1"/>
                </a:solidFill>
                <a:effectLst/>
                <a:latin typeface="Times New Roman" panose="02020603050405020304" pitchFamily="18" charset="0"/>
                <a:cs typeface="Times New Roman" panose="02020603050405020304" pitchFamily="18" charset="0"/>
              </a:rPr>
              <a:t> Lake Formation facilitates the ingestion of data from various sources into the data lake. It supports a range of data formats and sources, including databases, streaming data sources, on-premises storage, Amazon S3, and more. This allows for seamless integration and consolidation of data.</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Catalog:</a:t>
            </a:r>
            <a:r>
              <a:rPr lang="en-US" sz="1600" b="0" i="0" dirty="0">
                <a:solidFill>
                  <a:schemeClr val="bg1"/>
                </a:solidFill>
                <a:effectLst/>
                <a:latin typeface="Times New Roman" panose="02020603050405020304" pitchFamily="18" charset="0"/>
                <a:cs typeface="Times New Roman" panose="02020603050405020304" pitchFamily="18" charset="0"/>
              </a:rPr>
              <a:t> Lake Formation provides a central metadata catalog that organizes and indexes metadata information about the data stored in the lake. It allows users to easily discover, search, and understand available datasets, their schemas, and properties.</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Security and Governance:</a:t>
            </a:r>
            <a:r>
              <a:rPr lang="en-US" sz="1600" b="0" i="0" dirty="0">
                <a:solidFill>
                  <a:schemeClr val="bg1"/>
                </a:solidFill>
                <a:effectLst/>
                <a:latin typeface="Times New Roman" panose="02020603050405020304" pitchFamily="18" charset="0"/>
                <a:cs typeface="Times New Roman" panose="02020603050405020304" pitchFamily="18" charset="0"/>
              </a:rPr>
              <a:t> Security and governance are integral aspects of Lake Formation. It offers fine-grained access control, allowing users to define and manage permissions for different datasets and users. It also integrates with AWS Identity and Access Management (IAM) for authentication and authorization, as well as supports encryption for data at rest and in transit.</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Cleaning and Transformation:</a:t>
            </a:r>
            <a:r>
              <a:rPr lang="en-US" sz="1600" b="0" i="0" dirty="0">
                <a:solidFill>
                  <a:schemeClr val="bg1"/>
                </a:solidFill>
                <a:effectLst/>
                <a:latin typeface="Times New Roman" panose="02020603050405020304" pitchFamily="18" charset="0"/>
                <a:cs typeface="Times New Roman" panose="02020603050405020304" pitchFamily="18" charset="0"/>
              </a:rPr>
              <a:t> Lake Formation includes built-in capabilities for data cleaning, transformation, and normalization. Users can define and apply transformations to prepare the data for analysis or downstream applications.</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Data Access and Querying:</a:t>
            </a:r>
            <a:r>
              <a:rPr lang="en-US" sz="1600" b="0" i="0" dirty="0">
                <a:solidFill>
                  <a:schemeClr val="bg1"/>
                </a:solidFill>
                <a:effectLst/>
                <a:latin typeface="Times New Roman" panose="02020603050405020304" pitchFamily="18" charset="0"/>
                <a:cs typeface="Times New Roman" panose="02020603050405020304" pitchFamily="18" charset="0"/>
              </a:rPr>
              <a:t> Once data is cataloged and organized, users can query and analyze it using various AWS analytics and machine learning services such as Amazon Athena, Amazon Redshift Spectrum, Amazon EMR, and AWS Glue ETL jobs.</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Automated Workflows:</a:t>
            </a:r>
            <a:r>
              <a:rPr lang="en-US" sz="1600" b="0" i="0" dirty="0">
                <a:solidFill>
                  <a:schemeClr val="bg1"/>
                </a:solidFill>
                <a:effectLst/>
                <a:latin typeface="Times New Roman" panose="02020603050405020304" pitchFamily="18" charset="0"/>
                <a:cs typeface="Times New Roman" panose="02020603050405020304" pitchFamily="18" charset="0"/>
              </a:rPr>
              <a:t> Lake Formation allows the creation of automated workflows for data ingestion, transformation, and management through AWS Glue. This helps in streamlining and orchestrating complex data pipelines.</a:t>
            </a:r>
          </a:p>
          <a:p>
            <a:pPr algn="l">
              <a:lnSpc>
                <a:spcPct val="150000"/>
              </a:lnSpc>
              <a:buFont typeface="+mj-lt"/>
              <a:buAutoNum type="arabicPeriod"/>
            </a:pPr>
            <a:r>
              <a:rPr lang="en-US" sz="1600" b="1" i="0" dirty="0">
                <a:solidFill>
                  <a:schemeClr val="bg1"/>
                </a:solidFill>
                <a:effectLst/>
                <a:latin typeface="Times New Roman" panose="02020603050405020304" pitchFamily="18" charset="0"/>
                <a:cs typeface="Times New Roman" panose="02020603050405020304" pitchFamily="18" charset="0"/>
              </a:rPr>
              <a:t>Integration with AWS Services:</a:t>
            </a:r>
            <a:r>
              <a:rPr lang="en-US" sz="1600" b="0" i="0" dirty="0">
                <a:solidFill>
                  <a:schemeClr val="bg1"/>
                </a:solidFill>
                <a:effectLst/>
                <a:latin typeface="Times New Roman" panose="02020603050405020304" pitchFamily="18" charset="0"/>
                <a:cs typeface="Times New Roman" panose="02020603050405020304" pitchFamily="18" charset="0"/>
              </a:rPr>
              <a:t> Lake Formation integrates seamlessly with other AWS services like Amazon S3, AWS Glue, AWS IAM, and various analytics and machine learning services, providing a comprehensive ecosystem for building and utilizing data lakes.</a:t>
            </a: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6069"/>
      </p:ext>
    </p:extLst>
  </p:cSld>
  <p:clrMapOvr>
    <a:masterClrMapping/>
  </p:clrMapOvr>
  <p:transition spd="slow">
    <p:randomBar dir="vert"/>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AWS Data Lake Architecture</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141</a:t>
            </a:fld>
            <a:endParaRPr lang="en-US"/>
          </a:p>
        </p:txBody>
      </p:sp>
      <p:pic>
        <p:nvPicPr>
          <p:cNvPr id="1026" name="Picture 2" descr="Diagram of lake architecture">
            <a:extLst>
              <a:ext uri="{FF2B5EF4-FFF2-40B4-BE49-F238E27FC236}">
                <a16:creationId xmlns:a16="http://schemas.microsoft.com/office/drawing/2014/main" id="{9BBC0C83-9F72-67B2-6EA4-A77E93AF3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562" y="1537519"/>
            <a:ext cx="9286875" cy="4648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C9B6DF5-0955-30C2-7FDE-D3B19AEB72F3}"/>
              </a:ext>
            </a:extLst>
          </p:cNvPr>
          <p:cNvPicPr>
            <a:picLocks noChangeAspect="1"/>
          </p:cNvPicPr>
          <p:nvPr/>
        </p:nvPicPr>
        <p:blipFill>
          <a:blip r:embed="rId3"/>
          <a:stretch>
            <a:fillRect/>
          </a:stretch>
        </p:blipFill>
        <p:spPr>
          <a:xfrm>
            <a:off x="9371075" y="1537519"/>
            <a:ext cx="1368362" cy="525570"/>
          </a:xfrm>
          <a:prstGeom prst="rect">
            <a:avLst/>
          </a:prstGeom>
        </p:spPr>
      </p:pic>
    </p:spTree>
    <p:extLst>
      <p:ext uri="{BB962C8B-B14F-4D97-AF65-F5344CB8AC3E}">
        <p14:creationId xmlns:p14="http://schemas.microsoft.com/office/powerpoint/2010/main" val="3904423084"/>
      </p:ext>
    </p:extLst>
  </p:cSld>
  <p:clrMapOvr>
    <a:masterClrMapping/>
  </p:clrMapOvr>
  <p:transition spd="slow">
    <p:randomBar dir="vert"/>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AWS Glue</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142</a:t>
            </a:fld>
            <a:endParaRPr lang="en-US"/>
          </a:p>
        </p:txBody>
      </p:sp>
      <p:sp>
        <p:nvSpPr>
          <p:cNvPr id="3" name="TextBox 2">
            <a:extLst>
              <a:ext uri="{FF2B5EF4-FFF2-40B4-BE49-F238E27FC236}">
                <a16:creationId xmlns:a16="http://schemas.microsoft.com/office/drawing/2014/main" id="{B12BB902-3426-E921-A3FC-D684DAE19A9C}"/>
              </a:ext>
            </a:extLst>
          </p:cNvPr>
          <p:cNvSpPr txBox="1"/>
          <p:nvPr/>
        </p:nvSpPr>
        <p:spPr>
          <a:xfrm>
            <a:off x="508668" y="1580901"/>
            <a:ext cx="10743532" cy="2264081"/>
          </a:xfrm>
          <a:prstGeom prst="rect">
            <a:avLst/>
          </a:prstGeom>
          <a:noFill/>
        </p:spPr>
        <p:txBody>
          <a:bodyPr wrap="square">
            <a:spAutoFit/>
          </a:bodyPr>
          <a:lstStyle/>
          <a:p>
            <a:pPr>
              <a:lnSpc>
                <a:spcPct val="150000"/>
              </a:lnSpc>
            </a:pPr>
            <a:r>
              <a:rPr lang="en-US" sz="1600" b="0" dirty="0">
                <a:solidFill>
                  <a:schemeClr val="bg1"/>
                </a:solidFill>
                <a:effectLst/>
                <a:latin typeface="Times New Roman" panose="02020603050405020304" pitchFamily="18" charset="0"/>
                <a:cs typeface="Times New Roman" panose="02020603050405020304" pitchFamily="18" charset="0"/>
              </a:rPr>
              <a:t> </a:t>
            </a:r>
            <a:r>
              <a:rPr lang="en-US" sz="1600" dirty="0">
                <a:solidFill>
                  <a:schemeClr val="bg1"/>
                </a:solidFill>
                <a:latin typeface="Times New Roman" panose="02020603050405020304" pitchFamily="18" charset="0"/>
                <a:cs typeface="Times New Roman" panose="02020603050405020304" pitchFamily="18" charset="0"/>
              </a:rPr>
              <a:t>AWS Glue is simply a serverless ETL tool</a:t>
            </a:r>
            <a:r>
              <a:rPr lang="en-US" sz="1600" b="0" dirty="0">
                <a:solidFill>
                  <a:schemeClr val="bg1"/>
                </a:solidFill>
                <a:effectLst/>
                <a:latin typeface="Times New Roman" panose="02020603050405020304" pitchFamily="18" charset="0"/>
                <a:cs typeface="Times New Roman" panose="02020603050405020304" pitchFamily="18" charset="0"/>
              </a:rPr>
              <a:t>. ETL refers to three (3) processes that are commonly needed in most Data Analytics / Machine Learning processes: Extraction, Transformation, Loading. Extracting data from a source, transforming it in the right way for applications, and then loading it back to the data warehouse.</a:t>
            </a:r>
          </a:p>
          <a:p>
            <a:pPr>
              <a:lnSpc>
                <a:spcPct val="150000"/>
              </a:lnSpc>
            </a:pPr>
            <a:endParaRPr lang="en-US" sz="160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sz="1600" dirty="0">
                <a:solidFill>
                  <a:schemeClr val="bg1"/>
                </a:solidFill>
                <a:latin typeface="Times New Roman" panose="02020603050405020304" pitchFamily="18" charset="0"/>
                <a:cs typeface="Times New Roman" panose="02020603050405020304" pitchFamily="18" charset="0"/>
              </a:rPr>
              <a:t>Amazon Glue consists of three components namely, the AWS Glue Data Catalog, an ETL engine that creates Python or Scala code automatically, and a configurable scheduler that manages dependence resolutions, task monitoring, and restarts.</a:t>
            </a:r>
          </a:p>
        </p:txBody>
      </p:sp>
    </p:spTree>
    <p:extLst>
      <p:ext uri="{BB962C8B-B14F-4D97-AF65-F5344CB8AC3E}">
        <p14:creationId xmlns:p14="http://schemas.microsoft.com/office/powerpoint/2010/main" val="3131441972"/>
      </p:ext>
    </p:extLst>
  </p:cSld>
  <p:clrMapOvr>
    <a:masterClrMapping/>
  </p:clrMapOvr>
  <p:transition spd="slow">
    <p:randomBar dir="vert"/>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AWS Glue Component </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143</a:t>
            </a:fld>
            <a:endParaRPr lang="en-US"/>
          </a:p>
        </p:txBody>
      </p:sp>
      <p:sp>
        <p:nvSpPr>
          <p:cNvPr id="6" name="TextBox 5">
            <a:extLst>
              <a:ext uri="{FF2B5EF4-FFF2-40B4-BE49-F238E27FC236}">
                <a16:creationId xmlns:a16="http://schemas.microsoft.com/office/drawing/2014/main" id="{F04473F7-C820-8308-1321-96B9C2002C30}"/>
              </a:ext>
            </a:extLst>
          </p:cNvPr>
          <p:cNvSpPr txBox="1"/>
          <p:nvPr/>
        </p:nvSpPr>
        <p:spPr>
          <a:xfrm>
            <a:off x="693175" y="1502681"/>
            <a:ext cx="3682180" cy="4439933"/>
          </a:xfrm>
          <a:prstGeom prst="rect">
            <a:avLst/>
          </a:prstGeom>
          <a:noFill/>
        </p:spPr>
        <p:txBody>
          <a:bodyPr wrap="square">
            <a:spAutoFit/>
          </a:bodyPr>
          <a:lstStyle/>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AWS Glue Data Catalog</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Classifier</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Connection</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Crawler</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Database</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Data Store</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Data Source</a:t>
            </a:r>
            <a:endParaRPr lang="en-US" b="0" i="0" dirty="0">
              <a:solidFill>
                <a:schemeClr val="bg1"/>
              </a:solidFill>
              <a:effectLst/>
              <a:latin typeface="Times New Roman" panose="02020603050405020304" pitchFamily="18" charset="0"/>
              <a:cs typeface="Times New Roman" panose="02020603050405020304" pitchFamily="18" charset="0"/>
            </a:endParaRPr>
          </a:p>
          <a:p>
            <a:pPr algn="l">
              <a:lnSpc>
                <a:spcPct val="200000"/>
              </a:lnSpc>
            </a:pPr>
            <a:endParaRPr lang="en-US" b="0" i="0" dirty="0">
              <a:solidFill>
                <a:schemeClr val="bg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8663573-05AB-8D8E-9368-089079E78C4F}"/>
              </a:ext>
            </a:extLst>
          </p:cNvPr>
          <p:cNvSpPr txBox="1"/>
          <p:nvPr/>
        </p:nvSpPr>
        <p:spPr>
          <a:xfrm>
            <a:off x="6661355" y="1321464"/>
            <a:ext cx="6184490" cy="4993611"/>
          </a:xfrm>
          <a:prstGeom prst="rect">
            <a:avLst/>
          </a:prstGeom>
          <a:noFill/>
        </p:spPr>
        <p:txBody>
          <a:bodyPr wrap="square">
            <a:spAutoFit/>
          </a:bodyPr>
          <a:lstStyle/>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Data Target</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Transform</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Development Endpoint</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Dynamic Frame</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Job</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Trigger</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Notebook Server</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Script</a:t>
            </a:r>
            <a:endParaRPr lang="en-US" b="0" i="0" dirty="0">
              <a:solidFill>
                <a:schemeClr val="bg1"/>
              </a:solidFill>
              <a:effectLst/>
              <a:latin typeface="Times New Roman" panose="02020603050405020304" pitchFamily="18" charset="0"/>
              <a:cs typeface="Times New Roman" panose="02020603050405020304" pitchFamily="18" charset="0"/>
            </a:endParaRPr>
          </a:p>
          <a:p>
            <a:pPr marL="342900" indent="-342900" algn="l">
              <a:lnSpc>
                <a:spcPct val="200000"/>
              </a:lnSpc>
              <a:buFont typeface="Arial" panose="020B0604020202020204" pitchFamily="34" charset="0"/>
              <a:buChar char="•"/>
            </a:pPr>
            <a:r>
              <a:rPr lang="en-US" b="1" i="0" dirty="0">
                <a:solidFill>
                  <a:schemeClr val="bg1"/>
                </a:solidFill>
                <a:effectLst/>
                <a:latin typeface="Times New Roman" panose="02020603050405020304" pitchFamily="18" charset="0"/>
                <a:cs typeface="Times New Roman" panose="02020603050405020304" pitchFamily="18" charset="0"/>
              </a:rPr>
              <a:t>Table</a:t>
            </a:r>
            <a:endParaRPr lang="en-US" dirty="0"/>
          </a:p>
        </p:txBody>
      </p:sp>
    </p:spTree>
    <p:extLst>
      <p:ext uri="{BB962C8B-B14F-4D97-AF65-F5344CB8AC3E}">
        <p14:creationId xmlns:p14="http://schemas.microsoft.com/office/powerpoint/2010/main" val="3582105222"/>
      </p:ext>
    </p:extLst>
  </p:cSld>
  <p:clrMapOvr>
    <a:masterClrMapping/>
  </p:clrMapOvr>
  <p:transition spd="slow">
    <p:randomBar dir="vert"/>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AWS Glue Architecture</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144</a:t>
            </a:fld>
            <a:endParaRPr lang="en-US"/>
          </a:p>
        </p:txBody>
      </p:sp>
      <p:pic>
        <p:nvPicPr>
          <p:cNvPr id="3074" name="Picture 2" descr="AWS Glue concepts - AWS Glue">
            <a:extLst>
              <a:ext uri="{FF2B5EF4-FFF2-40B4-BE49-F238E27FC236}">
                <a16:creationId xmlns:a16="http://schemas.microsoft.com/office/drawing/2014/main" id="{B87F451D-EF3A-F17B-5068-ADBFD8A19D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568" y="1407531"/>
            <a:ext cx="6528619" cy="489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570959"/>
      </p:ext>
    </p:extLst>
  </p:cSld>
  <p:clrMapOvr>
    <a:masterClrMapping/>
  </p:clrMapOvr>
  <p:transition spd="slow">
    <p:randomBar dir="vert"/>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128320" y="3161234"/>
            <a:ext cx="3609668"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Lab : AWS Glue</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145</a:t>
            </a:fld>
            <a:endParaRPr lang="en-US"/>
          </a:p>
        </p:txBody>
      </p:sp>
    </p:spTree>
    <p:extLst>
      <p:ext uri="{BB962C8B-B14F-4D97-AF65-F5344CB8AC3E}">
        <p14:creationId xmlns:p14="http://schemas.microsoft.com/office/powerpoint/2010/main" val="2539076287"/>
      </p:ext>
    </p:extLst>
  </p:cSld>
  <p:clrMapOvr>
    <a:masterClrMapping/>
  </p:clrMapOvr>
  <p:transition spd="slow">
    <p:randomBar dir="vert"/>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AWS Lambda </a:t>
            </a:r>
          </a:p>
        </p:txBody>
      </p:sp>
      <p:sp>
        <p:nvSpPr>
          <p:cNvPr id="4" name="Slide Number Placeholder 3"/>
          <p:cNvSpPr>
            <a:spLocks noGrp="1"/>
          </p:cNvSpPr>
          <p:nvPr>
            <p:ph type="sldNum" sz="quarter" idx="12"/>
          </p:nvPr>
        </p:nvSpPr>
        <p:spPr/>
        <p:txBody>
          <a:bodyPr/>
          <a:lstStyle/>
          <a:p>
            <a:fld id="{13F480B4-4699-41FE-89A7-96EFD1001786}" type="slidenum">
              <a:rPr lang="en-US" smtClean="0"/>
              <a:t>146</a:t>
            </a:fld>
            <a:endParaRPr lang="en-US"/>
          </a:p>
        </p:txBody>
      </p:sp>
      <p:pic>
        <p:nvPicPr>
          <p:cNvPr id="1026" name="Picture 2" descr="AWS Compute services">
            <a:extLst>
              <a:ext uri="{FF2B5EF4-FFF2-40B4-BE49-F238E27FC236}">
                <a16:creationId xmlns:a16="http://schemas.microsoft.com/office/drawing/2014/main" id="{DB054E26-02A2-63DE-D58F-E1ACDE837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873" y="2196127"/>
            <a:ext cx="8478061" cy="2316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813378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Need for AWS Lambda</a:t>
            </a:r>
          </a:p>
        </p:txBody>
      </p:sp>
      <p:sp>
        <p:nvSpPr>
          <p:cNvPr id="4" name="Slide Number Placeholder 3"/>
          <p:cNvSpPr>
            <a:spLocks noGrp="1"/>
          </p:cNvSpPr>
          <p:nvPr>
            <p:ph type="sldNum" sz="quarter" idx="12"/>
          </p:nvPr>
        </p:nvSpPr>
        <p:spPr/>
        <p:txBody>
          <a:bodyPr/>
          <a:lstStyle/>
          <a:p>
            <a:fld id="{13F480B4-4699-41FE-89A7-96EFD1001786}" type="slidenum">
              <a:rPr lang="en-US" smtClean="0"/>
              <a:t>147</a:t>
            </a:fld>
            <a:endParaRPr lang="en-US"/>
          </a:p>
        </p:txBody>
      </p:sp>
      <p:pic>
        <p:nvPicPr>
          <p:cNvPr id="2050" name="Picture 2" descr="Need aws Lamda">
            <a:extLst>
              <a:ext uri="{FF2B5EF4-FFF2-40B4-BE49-F238E27FC236}">
                <a16:creationId xmlns:a16="http://schemas.microsoft.com/office/drawing/2014/main" id="{15E3152D-39B9-063E-EC30-DEB7E61B64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56774"/>
            <a:ext cx="4727035" cy="260562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eed aws lamda website">
            <a:extLst>
              <a:ext uri="{FF2B5EF4-FFF2-40B4-BE49-F238E27FC236}">
                <a16:creationId xmlns:a16="http://schemas.microsoft.com/office/drawing/2014/main" id="{F50D1D98-F0B8-F7CB-13EE-FECDC279B5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4529" y="1356774"/>
            <a:ext cx="4837471" cy="26056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ebsite system">
            <a:extLst>
              <a:ext uri="{FF2B5EF4-FFF2-40B4-BE49-F238E27FC236}">
                <a16:creationId xmlns:a16="http://schemas.microsoft.com/office/drawing/2014/main" id="{F2AA9AD1-59FF-5DAD-B930-24118A8DFF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123" y="3962400"/>
            <a:ext cx="8101780"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96467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AWS Lambda </a:t>
            </a:r>
          </a:p>
        </p:txBody>
      </p:sp>
      <p:sp>
        <p:nvSpPr>
          <p:cNvPr id="4" name="Slide Number Placeholder 3"/>
          <p:cNvSpPr>
            <a:spLocks noGrp="1"/>
          </p:cNvSpPr>
          <p:nvPr>
            <p:ph type="sldNum" sz="quarter" idx="12"/>
          </p:nvPr>
        </p:nvSpPr>
        <p:spPr/>
        <p:txBody>
          <a:bodyPr/>
          <a:lstStyle/>
          <a:p>
            <a:fld id="{13F480B4-4699-41FE-89A7-96EFD1001786}" type="slidenum">
              <a:rPr lang="en-US" smtClean="0"/>
              <a:t>148</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AWS Lambda is a compute service that lets you run code without provisioning or managing servers.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The Lambda functions can perform any kind of computing task, from serving web pages and processing streams of data to calling APIs and integrating with other AWS services.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Lambda runs your code on a high-availability compute infrastructure and performs all of the administration of the compute resources, including server and operating system maintenance, capacity provisioning and automatic scaling, and logging.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Once you upload the source code file into AWS lambda in the form of ZIP file then AWS lambda will automatically run the code without you provision the servers and also it will automatically scaling your functions up or down based on demand.</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AWS lambda are mostly used for the event-driven application for the data processing Amazon S3 buckets, or responding to HTTP requests.</a:t>
            </a:r>
          </a:p>
          <a:p>
            <a:pPr marL="0" indent="0" defTabSz="900113">
              <a:lnSpc>
                <a:spcPct val="150000"/>
              </a:lnSpc>
              <a:buNone/>
              <a:defRPr/>
            </a:pPr>
            <a:r>
              <a:rPr lang="en-US" sz="1600" dirty="0">
                <a:solidFill>
                  <a:schemeClr val="bg1"/>
                </a:solidFill>
                <a:latin typeface="Times New Roman" panose="02020603050405020304" pitchFamily="18" charset="0"/>
                <a:cs typeface="Times New Roman" panose="02020603050405020304" pitchFamily="18" charset="0"/>
              </a:rPr>
              <a:t>Examples of AWS Lambdas:</a:t>
            </a:r>
          </a:p>
          <a:p>
            <a:pPr lvl="1" defTabSz="900113">
              <a:lnSpc>
                <a:spcPct val="150000"/>
              </a:lnSpc>
              <a:defRPr/>
            </a:pPr>
            <a:r>
              <a:rPr lang="en-US" sz="1700" dirty="0">
                <a:solidFill>
                  <a:srgbClr val="C00000"/>
                </a:solidFill>
                <a:highlight>
                  <a:srgbClr val="FFFF00"/>
                </a:highlight>
                <a:latin typeface="Times New Roman" panose="02020603050405020304" pitchFamily="18" charset="0"/>
                <a:cs typeface="Times New Roman" panose="02020603050405020304" pitchFamily="18" charset="0"/>
              </a:rPr>
              <a:t>Process data from Amazon S3 buckets.</a:t>
            </a:r>
          </a:p>
          <a:p>
            <a:pPr lvl="1" defTabSz="900113">
              <a:lnSpc>
                <a:spcPct val="150000"/>
              </a:lnSpc>
              <a:defRPr/>
            </a:pPr>
            <a:r>
              <a:rPr lang="en-US" sz="1700" dirty="0">
                <a:solidFill>
                  <a:srgbClr val="C00000"/>
                </a:solidFill>
                <a:highlight>
                  <a:srgbClr val="FFFF00"/>
                </a:highlight>
                <a:latin typeface="Times New Roman" panose="02020603050405020304" pitchFamily="18" charset="0"/>
                <a:cs typeface="Times New Roman" panose="02020603050405020304" pitchFamily="18" charset="0"/>
              </a:rPr>
              <a:t>Respond to HTTP requests.</a:t>
            </a:r>
          </a:p>
          <a:p>
            <a:pPr lvl="1" defTabSz="900113">
              <a:lnSpc>
                <a:spcPct val="150000"/>
              </a:lnSpc>
              <a:defRPr/>
            </a:pPr>
            <a:r>
              <a:rPr lang="en-US" sz="1700" dirty="0">
                <a:solidFill>
                  <a:srgbClr val="C00000"/>
                </a:solidFill>
                <a:highlight>
                  <a:srgbClr val="FFFF00"/>
                </a:highlight>
                <a:latin typeface="Times New Roman" panose="02020603050405020304" pitchFamily="18" charset="0"/>
                <a:cs typeface="Times New Roman" panose="02020603050405020304" pitchFamily="18" charset="0"/>
              </a:rPr>
              <a:t>Build serverless applications.</a:t>
            </a: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465041"/>
      </p:ext>
    </p:extLst>
  </p:cSld>
  <p:clrMapOvr>
    <a:masterClrMapping/>
  </p:clrMapOvr>
  <p:transition spd="slow">
    <p:randomBar dir="vert"/>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Benefits of AWS Lambda</a:t>
            </a:r>
          </a:p>
        </p:txBody>
      </p:sp>
      <p:sp>
        <p:nvSpPr>
          <p:cNvPr id="4" name="Slide Number Placeholder 3"/>
          <p:cNvSpPr>
            <a:spLocks noGrp="1"/>
          </p:cNvSpPr>
          <p:nvPr>
            <p:ph type="sldNum" sz="quarter" idx="12"/>
          </p:nvPr>
        </p:nvSpPr>
        <p:spPr/>
        <p:txBody>
          <a:bodyPr/>
          <a:lstStyle/>
          <a:p>
            <a:fld id="{13F480B4-4699-41FE-89A7-96EFD1001786}" type="slidenum">
              <a:rPr lang="en-US" smtClean="0"/>
              <a:t>149</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00113">
              <a:lnSpc>
                <a:spcPct val="150000"/>
              </a:lnSpc>
              <a:buNone/>
              <a:defRPr/>
            </a:pPr>
            <a:endParaRPr lang="en-US" sz="1600" dirty="0">
              <a:solidFill>
                <a:schemeClr val="bg1"/>
              </a:solidFill>
              <a:latin typeface="Times New Roman" panose="02020603050405020304" pitchFamily="18" charset="0"/>
              <a:cs typeface="Times New Roman" panose="02020603050405020304" pitchFamily="18" charset="0"/>
            </a:endParaRP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3074" name="Picture 2" descr="Benefits of AWS Lambda">
            <a:extLst>
              <a:ext uri="{FF2B5EF4-FFF2-40B4-BE49-F238E27FC236}">
                <a16:creationId xmlns:a16="http://schemas.microsoft.com/office/drawing/2014/main" id="{E10441B1-A544-368E-A803-4E9D48C59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709" y="2300672"/>
            <a:ext cx="11109691" cy="2256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516132"/>
      </p:ext>
    </p:extLst>
  </p:cSld>
  <p:clrMapOvr>
    <a:masterClrMapping/>
  </p:clrMapOvr>
  <p:transition spd="slow">
    <p:randomBar dir="vert"/>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Limitations of AWS Lambda</a:t>
            </a:r>
          </a:p>
        </p:txBody>
      </p:sp>
      <p:sp>
        <p:nvSpPr>
          <p:cNvPr id="4" name="Slide Number Placeholder 3"/>
          <p:cNvSpPr>
            <a:spLocks noGrp="1"/>
          </p:cNvSpPr>
          <p:nvPr>
            <p:ph type="sldNum" sz="quarter" idx="12"/>
          </p:nvPr>
        </p:nvSpPr>
        <p:spPr/>
        <p:txBody>
          <a:bodyPr/>
          <a:lstStyle/>
          <a:p>
            <a:fld id="{13F480B4-4699-41FE-89A7-96EFD1001786}" type="slidenum">
              <a:rPr lang="en-US" smtClean="0"/>
              <a:t>150</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The maximum execution duration per request is set to 300 seconds (15 minutes)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In the case of hardware, the maximum disk space provided is 512 MB for the runtime environment, which is very less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Its memory volume varies from 128 MB to 1,536 MB</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The event request body cannot exceed more than 128 KB</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Lambda functions write their logs only to CloudWatch, which is the only tool available in order to monitor or troubleshoot our functions</a:t>
            </a: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595127"/>
      </p:ext>
    </p:extLst>
  </p:cSld>
  <p:clrMapOvr>
    <a:masterClrMapping/>
  </p:clrMapOvr>
  <p:transition spd="slow">
    <p:randomBar dir="vert"/>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Lab : AWS Lambda </a:t>
            </a:r>
          </a:p>
        </p:txBody>
      </p:sp>
      <p:sp>
        <p:nvSpPr>
          <p:cNvPr id="4" name="Slide Number Placeholder 3"/>
          <p:cNvSpPr>
            <a:spLocks noGrp="1"/>
          </p:cNvSpPr>
          <p:nvPr>
            <p:ph type="sldNum" sz="quarter" idx="12"/>
          </p:nvPr>
        </p:nvSpPr>
        <p:spPr/>
        <p:txBody>
          <a:bodyPr/>
          <a:lstStyle/>
          <a:p>
            <a:fld id="{13F480B4-4699-41FE-89A7-96EFD1001786}" type="slidenum">
              <a:rPr lang="en-US" smtClean="0"/>
              <a:t>151</a:t>
            </a:fld>
            <a:endParaRPr lang="en-US"/>
          </a:p>
        </p:txBody>
      </p:sp>
      <p:pic>
        <p:nvPicPr>
          <p:cNvPr id="4098" name="Picture 2" descr="diagram for a summary">
            <a:extLst>
              <a:ext uri="{FF2B5EF4-FFF2-40B4-BE49-F238E27FC236}">
                <a16:creationId xmlns:a16="http://schemas.microsoft.com/office/drawing/2014/main" id="{64438E56-C1D8-5EF4-8B3A-FF8C2B8640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7704" y="2070458"/>
            <a:ext cx="8786354" cy="3563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901233"/>
      </p:ext>
    </p:extLst>
  </p:cSld>
  <p:clrMapOvr>
    <a:masterClrMapping/>
  </p:clrMapOvr>
  <p:transition spd="slow">
    <p:randomBar dir="vert"/>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4"/>
          <p:cNvSpPr>
            <a:spLocks noGrp="1"/>
          </p:cNvSpPr>
          <p:nvPr>
            <p:ph type="title"/>
          </p:nvPr>
        </p:nvSpPr>
        <p:spPr/>
        <p:txBody>
          <a:bodyPr>
            <a:noAutofit/>
          </a:bodyPr>
          <a:lstStyle/>
          <a:p>
            <a:r>
              <a:rPr lang="en-US" sz="4219" dirty="0"/>
              <a:t>AWS Auto Scaling</a:t>
            </a:r>
          </a:p>
        </p:txBody>
      </p:sp>
      <p:sp>
        <p:nvSpPr>
          <p:cNvPr id="4" name="Footer Placeholder 3"/>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p:txBody>
          <a:bodyPr/>
          <a:lstStyle/>
          <a:p>
            <a:fld id="{4119462B-DC2E-4E97-BC89-145590C3647E}" type="slidenum">
              <a:rPr lang="en-US" smtClean="0"/>
              <a:t>152</a:t>
            </a:fld>
            <a:endParaRPr lang="en-US"/>
          </a:p>
        </p:txBody>
      </p:sp>
      <p:sp>
        <p:nvSpPr>
          <p:cNvPr id="9" name="Title 1"/>
          <p:cNvSpPr txBox="1">
            <a:spLocks/>
          </p:cNvSpPr>
          <p:nvPr/>
        </p:nvSpPr>
        <p:spPr>
          <a:xfrm>
            <a:off x="995363" y="2286000"/>
            <a:ext cx="10201275" cy="1447800"/>
          </a:xfrm>
          <a:prstGeom prst="rect">
            <a:avLst/>
          </a:prstGeom>
        </p:spPr>
        <p:txBody>
          <a:bodyPr vert="horz" lIns="107720" tIns="53863" rIns="107720" bIns="53863" rtlCol="0" anchor="ctr">
            <a:normAutofit/>
          </a:bodyPr>
          <a:lstStyle>
            <a:lvl1pPr marL="0" algn="ctr" defTabSz="914400" rtl="0" eaLnBrk="1" latinLnBrk="0" hangingPunct="1">
              <a:spcBef>
                <a:spcPct val="0"/>
              </a:spcBef>
              <a:buNone/>
              <a:defRPr lang="en-US" sz="3200" b="1" i="0" u="sng" kern="1200" dirty="0">
                <a:solidFill>
                  <a:schemeClr val="tx2">
                    <a:lumMod val="75000"/>
                  </a:schemeClr>
                </a:solidFill>
                <a:effectLst>
                  <a:outerShdw blurRad="31750" dist="25400" dir="5400000" algn="tl" rotWithShape="0">
                    <a:srgbClr val="000000">
                      <a:alpha val="25000"/>
                    </a:srgbClr>
                  </a:outerShdw>
                </a:effectLst>
                <a:latin typeface="+mn-lt"/>
                <a:ea typeface="+mn-ea"/>
                <a:cs typeface="+mn-cs"/>
              </a:defRPr>
            </a:lvl1pPr>
          </a:lstStyle>
          <a:p>
            <a:r>
              <a:rPr lang="en-US" sz="2438" b="0" u="none" dirty="0">
                <a:solidFill>
                  <a:schemeClr val="bg1"/>
                </a:solidFill>
                <a:effectLst/>
              </a:rPr>
              <a:t>What do you understand by “Scaling”?</a:t>
            </a:r>
          </a:p>
        </p:txBody>
      </p:sp>
    </p:spTree>
    <p:extLst>
      <p:ext uri="{BB962C8B-B14F-4D97-AF65-F5344CB8AC3E}">
        <p14:creationId xmlns:p14="http://schemas.microsoft.com/office/powerpoint/2010/main" val="306911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BF72F-46AD-403C-AD24-13A38681234E}"/>
            </a:ext>
          </a:extLst>
        </p:cNvPr>
        <p:cNvGrpSpPr/>
        <p:nvPr/>
      </p:nvGrpSpPr>
      <p:grpSpPr>
        <a:xfrm>
          <a:off x="0" y="0"/>
          <a:ext cx="0" cy="0"/>
          <a:chOff x="0" y="0"/>
          <a:chExt cx="0" cy="0"/>
        </a:xfrm>
      </p:grpSpPr>
      <p:sp>
        <p:nvSpPr>
          <p:cNvPr id="11" name="Title 4">
            <a:extLst>
              <a:ext uri="{FF2B5EF4-FFF2-40B4-BE49-F238E27FC236}">
                <a16:creationId xmlns:a16="http://schemas.microsoft.com/office/drawing/2014/main" id="{A7323762-54BD-3670-E3AC-45CE504187B4}"/>
              </a:ext>
            </a:extLst>
          </p:cNvPr>
          <p:cNvSpPr>
            <a:spLocks noGrp="1"/>
          </p:cNvSpPr>
          <p:nvPr>
            <p:ph type="title"/>
          </p:nvPr>
        </p:nvSpPr>
        <p:spPr>
          <a:xfrm>
            <a:off x="3594100" y="3161234"/>
            <a:ext cx="4554220" cy="535531"/>
          </a:xfrm>
        </p:spPr>
        <p:txBody>
          <a:bodyPr>
            <a:noAutofit/>
          </a:bodyPr>
          <a:lstStyle/>
          <a:p>
            <a:r>
              <a:rPr lang="en-US" sz="4219" dirty="0"/>
              <a:t>AWS Auto Scaling</a:t>
            </a:r>
          </a:p>
        </p:txBody>
      </p:sp>
      <p:sp>
        <p:nvSpPr>
          <p:cNvPr id="4" name="Footer Placeholder 3">
            <a:extLst>
              <a:ext uri="{FF2B5EF4-FFF2-40B4-BE49-F238E27FC236}">
                <a16:creationId xmlns:a16="http://schemas.microsoft.com/office/drawing/2014/main" id="{12E70185-EDAB-EF8A-FAE0-CA65756038B3}"/>
              </a:ext>
            </a:extLst>
          </p:cNvPr>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a:extLst>
              <a:ext uri="{FF2B5EF4-FFF2-40B4-BE49-F238E27FC236}">
                <a16:creationId xmlns:a16="http://schemas.microsoft.com/office/drawing/2014/main" id="{32BDF781-06BC-1326-DC2B-CC2E452881F1}"/>
              </a:ext>
            </a:extLst>
          </p:cNvPr>
          <p:cNvSpPr>
            <a:spLocks noGrp="1"/>
          </p:cNvSpPr>
          <p:nvPr>
            <p:ph type="sldNum" sz="quarter" idx="12"/>
          </p:nvPr>
        </p:nvSpPr>
        <p:spPr/>
        <p:txBody>
          <a:bodyPr/>
          <a:lstStyle/>
          <a:p>
            <a:fld id="{4119462B-DC2E-4E97-BC89-145590C3647E}" type="slidenum">
              <a:rPr lang="en-US" smtClean="0"/>
              <a:t>153</a:t>
            </a:fld>
            <a:endParaRPr lang="en-US"/>
          </a:p>
        </p:txBody>
      </p:sp>
    </p:spTree>
    <p:extLst>
      <p:ext uri="{BB962C8B-B14F-4D97-AF65-F5344CB8AC3E}">
        <p14:creationId xmlns:p14="http://schemas.microsoft.com/office/powerpoint/2010/main" val="339842292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4"/>
          <p:cNvSpPr>
            <a:spLocks noGrp="1"/>
          </p:cNvSpPr>
          <p:nvPr>
            <p:ph type="title"/>
          </p:nvPr>
        </p:nvSpPr>
        <p:spPr/>
        <p:txBody>
          <a:bodyPr>
            <a:noAutofit/>
          </a:bodyPr>
          <a:lstStyle/>
          <a:p>
            <a:r>
              <a:rPr lang="en-US" sz="4219" dirty="0"/>
              <a:t>AWS Auto Scaling</a:t>
            </a:r>
          </a:p>
        </p:txBody>
      </p:sp>
      <p:sp>
        <p:nvSpPr>
          <p:cNvPr id="4" name="Footer Placeholder 3"/>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p:txBody>
          <a:bodyPr/>
          <a:lstStyle/>
          <a:p>
            <a:fld id="{4119462B-DC2E-4E97-BC89-145590C3647E}" type="slidenum">
              <a:rPr lang="en-US" smtClean="0"/>
              <a:t>154</a:t>
            </a:fld>
            <a:endParaRPr lang="en-US"/>
          </a:p>
        </p:txBody>
      </p:sp>
      <p:sp>
        <p:nvSpPr>
          <p:cNvPr id="9" name="Title 1"/>
          <p:cNvSpPr txBox="1">
            <a:spLocks/>
          </p:cNvSpPr>
          <p:nvPr/>
        </p:nvSpPr>
        <p:spPr>
          <a:xfrm>
            <a:off x="995363" y="2286000"/>
            <a:ext cx="10201275" cy="1447800"/>
          </a:xfrm>
          <a:prstGeom prst="rect">
            <a:avLst/>
          </a:prstGeom>
        </p:spPr>
        <p:txBody>
          <a:bodyPr vert="horz" lIns="107720" tIns="53863" rIns="107720" bIns="53863" rtlCol="0" anchor="ctr">
            <a:normAutofit/>
          </a:bodyPr>
          <a:lstStyle>
            <a:lvl1pPr marL="0" algn="ctr" defTabSz="914400" rtl="0" eaLnBrk="1" latinLnBrk="0" hangingPunct="1">
              <a:spcBef>
                <a:spcPct val="0"/>
              </a:spcBef>
              <a:buNone/>
              <a:defRPr lang="en-US" sz="3200" b="1" i="0" u="sng" kern="1200" dirty="0">
                <a:solidFill>
                  <a:schemeClr val="tx2">
                    <a:lumMod val="75000"/>
                  </a:schemeClr>
                </a:solidFill>
                <a:effectLst>
                  <a:outerShdw blurRad="31750" dist="25400" dir="5400000" algn="tl" rotWithShape="0">
                    <a:srgbClr val="000000">
                      <a:alpha val="25000"/>
                    </a:srgbClr>
                  </a:outerShdw>
                </a:effectLst>
                <a:latin typeface="+mn-lt"/>
                <a:ea typeface="+mn-ea"/>
                <a:cs typeface="+mn-cs"/>
              </a:defRPr>
            </a:lvl1pPr>
          </a:lstStyle>
          <a:p>
            <a:r>
              <a:rPr lang="en-US" sz="2438" b="0" u="none" dirty="0">
                <a:solidFill>
                  <a:schemeClr val="bg1"/>
                </a:solidFill>
                <a:effectLst/>
              </a:rPr>
              <a:t>What is the difference between Scale-in and Scale-out?</a:t>
            </a:r>
          </a:p>
        </p:txBody>
      </p:sp>
    </p:spTree>
    <p:extLst>
      <p:ext uri="{BB962C8B-B14F-4D97-AF65-F5344CB8AC3E}">
        <p14:creationId xmlns:p14="http://schemas.microsoft.com/office/powerpoint/2010/main" val="183547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4"/>
          <p:cNvSpPr>
            <a:spLocks noGrp="1"/>
          </p:cNvSpPr>
          <p:nvPr>
            <p:ph type="title"/>
          </p:nvPr>
        </p:nvSpPr>
        <p:spPr/>
        <p:txBody>
          <a:bodyPr>
            <a:noAutofit/>
          </a:bodyPr>
          <a:lstStyle/>
          <a:p>
            <a:r>
              <a:rPr lang="en-US" sz="4219" dirty="0"/>
              <a:t>AWS Auto Scaling</a:t>
            </a:r>
          </a:p>
        </p:txBody>
      </p:sp>
      <p:sp>
        <p:nvSpPr>
          <p:cNvPr id="4" name="Footer Placeholder 3"/>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p:txBody>
          <a:bodyPr/>
          <a:lstStyle/>
          <a:p>
            <a:fld id="{4119462B-DC2E-4E97-BC89-145590C3647E}" type="slidenum">
              <a:rPr lang="en-US" smtClean="0"/>
              <a:t>155</a:t>
            </a:fld>
            <a:endParaRPr lang="en-US"/>
          </a:p>
        </p:txBody>
      </p:sp>
      <p:sp>
        <p:nvSpPr>
          <p:cNvPr id="9" name="Title 1"/>
          <p:cNvSpPr txBox="1">
            <a:spLocks/>
          </p:cNvSpPr>
          <p:nvPr/>
        </p:nvSpPr>
        <p:spPr>
          <a:xfrm>
            <a:off x="995363" y="2286000"/>
            <a:ext cx="10201275" cy="1447800"/>
          </a:xfrm>
          <a:prstGeom prst="rect">
            <a:avLst/>
          </a:prstGeom>
        </p:spPr>
        <p:txBody>
          <a:bodyPr vert="horz" lIns="107720" tIns="53863" rIns="107720" bIns="53863" rtlCol="0" anchor="ctr">
            <a:normAutofit/>
          </a:bodyPr>
          <a:lstStyle>
            <a:lvl1pPr marL="0" algn="ctr" defTabSz="914400" rtl="0" eaLnBrk="1" latinLnBrk="0" hangingPunct="1">
              <a:spcBef>
                <a:spcPct val="0"/>
              </a:spcBef>
              <a:buNone/>
              <a:defRPr lang="en-US" sz="3200" b="1" i="0" u="sng" kern="1200" dirty="0">
                <a:solidFill>
                  <a:schemeClr val="tx2">
                    <a:lumMod val="75000"/>
                  </a:schemeClr>
                </a:solidFill>
                <a:effectLst>
                  <a:outerShdw blurRad="31750" dist="25400" dir="5400000" algn="tl" rotWithShape="0">
                    <a:srgbClr val="000000">
                      <a:alpha val="25000"/>
                    </a:srgbClr>
                  </a:outerShdw>
                </a:effectLst>
                <a:latin typeface="+mn-lt"/>
                <a:ea typeface="+mn-ea"/>
                <a:cs typeface="+mn-cs"/>
              </a:defRPr>
            </a:lvl1pPr>
          </a:lstStyle>
          <a:p>
            <a:r>
              <a:rPr lang="en-US" sz="2438" b="0" u="none" dirty="0">
                <a:solidFill>
                  <a:schemeClr val="bg1"/>
                </a:solidFill>
                <a:effectLst/>
              </a:rPr>
              <a:t>What is the difference between Scale-in and Scale-out?</a:t>
            </a:r>
          </a:p>
        </p:txBody>
      </p:sp>
      <p:pic>
        <p:nvPicPr>
          <p:cNvPr id="2" name="Picture 2">
            <a:extLst>
              <a:ext uri="{FF2B5EF4-FFF2-40B4-BE49-F238E27FC236}">
                <a16:creationId xmlns:a16="http://schemas.microsoft.com/office/drawing/2014/main" id="{C6366340-75B3-B537-E4B6-3CEBD8BC2A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27" y="1478280"/>
            <a:ext cx="11686346" cy="520192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85889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4"/>
          <p:cNvSpPr>
            <a:spLocks noGrp="1"/>
          </p:cNvSpPr>
          <p:nvPr>
            <p:ph type="title"/>
          </p:nvPr>
        </p:nvSpPr>
        <p:spPr/>
        <p:txBody>
          <a:bodyPr>
            <a:noAutofit/>
          </a:bodyPr>
          <a:lstStyle/>
          <a:p>
            <a:r>
              <a:rPr lang="en-US" sz="4219" dirty="0"/>
              <a:t>AWS Auto Scaling</a:t>
            </a:r>
          </a:p>
        </p:txBody>
      </p:sp>
      <p:sp>
        <p:nvSpPr>
          <p:cNvPr id="4" name="Footer Placeholder 3"/>
          <p:cNvSpPr>
            <a:spLocks noGrp="1"/>
          </p:cNvSpPr>
          <p:nvPr>
            <p:ph type="ftr" sz="quarter" idx="11"/>
          </p:nvPr>
        </p:nvSpPr>
        <p:spPr>
          <a:xfrm>
            <a:off x="3870494" y="6890438"/>
            <a:ext cx="5063944" cy="389467"/>
          </a:xfrm>
          <a:prstGeom prst="rect">
            <a:avLst/>
          </a:prstGeom>
        </p:spPr>
        <p:txBody>
          <a:bodyPr vert="horz" lIns="91440" tIns="45720" rIns="91440" bIns="45720" rtlCol="0" anchor="ctr"/>
          <a:lstStyle>
            <a:defPPr>
              <a:defRPr lang="en-US"/>
            </a:defPPr>
            <a:lvl1pPr marL="0" algn="ctr" defTabSz="457200" rtl="0" eaLnBrk="1" latinLnBrk="0" hangingPunct="1">
              <a:defRPr sz="94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4"/>
          <p:cNvSpPr>
            <a:spLocks noGrp="1"/>
          </p:cNvSpPr>
          <p:nvPr>
            <p:ph type="sldNum" sz="quarter" idx="12"/>
          </p:nvPr>
        </p:nvSpPr>
        <p:spPr/>
        <p:txBody>
          <a:bodyPr/>
          <a:lstStyle/>
          <a:p>
            <a:fld id="{4119462B-DC2E-4E97-BC89-145590C3647E}" type="slidenum">
              <a:rPr lang="en-US" smtClean="0"/>
              <a:t>156</a:t>
            </a:fld>
            <a:endParaRPr lang="en-US"/>
          </a:p>
        </p:txBody>
      </p:sp>
      <p:sp>
        <p:nvSpPr>
          <p:cNvPr id="9" name="Title 1"/>
          <p:cNvSpPr txBox="1">
            <a:spLocks/>
          </p:cNvSpPr>
          <p:nvPr/>
        </p:nvSpPr>
        <p:spPr>
          <a:xfrm>
            <a:off x="995363" y="2286000"/>
            <a:ext cx="10201275" cy="1447800"/>
          </a:xfrm>
          <a:prstGeom prst="rect">
            <a:avLst/>
          </a:prstGeom>
        </p:spPr>
        <p:txBody>
          <a:bodyPr vert="horz" lIns="107720" tIns="53863" rIns="107720" bIns="53863" rtlCol="0" anchor="ctr">
            <a:normAutofit/>
          </a:bodyPr>
          <a:lstStyle>
            <a:lvl1pPr marL="0" algn="ctr" defTabSz="914400" rtl="0" eaLnBrk="1" latinLnBrk="0" hangingPunct="1">
              <a:spcBef>
                <a:spcPct val="0"/>
              </a:spcBef>
              <a:buNone/>
              <a:defRPr lang="en-US" sz="3200" b="1" i="0" u="sng" kern="1200" dirty="0">
                <a:solidFill>
                  <a:schemeClr val="tx2">
                    <a:lumMod val="75000"/>
                  </a:schemeClr>
                </a:solidFill>
                <a:effectLst>
                  <a:outerShdw blurRad="31750" dist="25400" dir="5400000" algn="tl" rotWithShape="0">
                    <a:srgbClr val="000000">
                      <a:alpha val="25000"/>
                    </a:srgbClr>
                  </a:outerShdw>
                </a:effectLst>
                <a:latin typeface="+mn-lt"/>
                <a:ea typeface="+mn-ea"/>
                <a:cs typeface="+mn-cs"/>
              </a:defRPr>
            </a:lvl1pPr>
          </a:lstStyle>
          <a:p>
            <a:r>
              <a:rPr lang="en-US" sz="2438" b="0" u="none" dirty="0">
                <a:solidFill>
                  <a:schemeClr val="bg1"/>
                </a:solidFill>
                <a:effectLst/>
              </a:rPr>
              <a:t>What is Auto-Scaling and Why required?</a:t>
            </a:r>
          </a:p>
        </p:txBody>
      </p:sp>
    </p:spTree>
    <p:extLst>
      <p:ext uri="{BB962C8B-B14F-4D97-AF65-F5344CB8AC3E}">
        <p14:creationId xmlns:p14="http://schemas.microsoft.com/office/powerpoint/2010/main" val="44027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AWS Auto Scaling </a:t>
            </a:r>
          </a:p>
        </p:txBody>
      </p:sp>
      <p:sp>
        <p:nvSpPr>
          <p:cNvPr id="4" name="Slide Number Placeholder 3"/>
          <p:cNvSpPr>
            <a:spLocks noGrp="1"/>
          </p:cNvSpPr>
          <p:nvPr>
            <p:ph type="sldNum" sz="quarter" idx="12"/>
          </p:nvPr>
        </p:nvSpPr>
        <p:spPr/>
        <p:txBody>
          <a:bodyPr/>
          <a:lstStyle/>
          <a:p>
            <a:fld id="{13F480B4-4699-41FE-89A7-96EFD1001786}" type="slidenum">
              <a:rPr lang="en-US" smtClean="0"/>
              <a:t>157</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AWS Auto Scaling is a service provided by Amazon Web Services (AWS) that allows users to automatically adjust the capacity of their Amazon EC2 (Elastic Compute Cloud) instances or other resources to maintain performance and optimize costs.</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Auto Scaling helps in ensuring that the number of instances or resources running meets the demands of your applications without over-provisioning or under-provisioning.</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 It can automatically add instances when demand increases and remove instances when demand decreases, based on predefined conditions and scaling policies.</a:t>
            </a: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2" name="Picture 2" descr="EC2 Auto Scaling Group Simple Scaling policy with AWS CLI | by Sourav  Karmakar | Medium">
            <a:extLst>
              <a:ext uri="{FF2B5EF4-FFF2-40B4-BE49-F238E27FC236}">
                <a16:creationId xmlns:a16="http://schemas.microsoft.com/office/drawing/2014/main" id="{2034F693-F019-4CCD-4AB0-6A9EA4283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856070"/>
            <a:ext cx="5638033" cy="3064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7513165"/>
      </p:ext>
    </p:extLst>
  </p:cSld>
  <p:clrMapOvr>
    <a:masterClrMapping/>
  </p:clrMapOvr>
  <p:transition spd="slow">
    <p:randomBar dir="vert"/>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Types of Scaling </a:t>
            </a:r>
          </a:p>
        </p:txBody>
      </p:sp>
      <p:sp>
        <p:nvSpPr>
          <p:cNvPr id="4" name="Slide Number Placeholder 3"/>
          <p:cNvSpPr>
            <a:spLocks noGrp="1"/>
          </p:cNvSpPr>
          <p:nvPr>
            <p:ph type="sldNum" sz="quarter" idx="12"/>
          </p:nvPr>
        </p:nvSpPr>
        <p:spPr/>
        <p:txBody>
          <a:bodyPr/>
          <a:lstStyle/>
          <a:p>
            <a:fld id="{13F480B4-4699-41FE-89A7-96EFD1001786}" type="slidenum">
              <a:rPr lang="en-US" smtClean="0"/>
              <a:t>158</a:t>
            </a:fld>
            <a:endParaRPr lang="en-US"/>
          </a:p>
        </p:txBody>
      </p:sp>
      <p:pic>
        <p:nvPicPr>
          <p:cNvPr id="6146" name="Picture 2" descr="horizontal and vertical scaling infographic">
            <a:extLst>
              <a:ext uri="{FF2B5EF4-FFF2-40B4-BE49-F238E27FC236}">
                <a16:creationId xmlns:a16="http://schemas.microsoft.com/office/drawing/2014/main" id="{EB765EB6-12D8-B18D-618A-DB4A0D51F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639" y="1514109"/>
            <a:ext cx="8142646" cy="4616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321408"/>
      </p:ext>
    </p:extLst>
  </p:cSld>
  <p:clrMapOvr>
    <a:masterClrMapping/>
  </p:clrMapOvr>
  <p:transition spd="slow">
    <p:randomBar dir="vert"/>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28553" y="3002237"/>
            <a:ext cx="4101280" cy="535531"/>
          </a:xfrm>
        </p:spPr>
        <p:txBody>
          <a:bodyPr>
            <a:noAutofit/>
          </a:bodyPr>
          <a:lstStyle/>
          <a:p>
            <a:r>
              <a:rPr lang="en-US" sz="3800" dirty="0">
                <a:latin typeface="Times New Roman" panose="02020603050405020304" pitchFamily="18" charset="0"/>
                <a:cs typeface="Times New Roman" panose="02020603050405020304" pitchFamily="18" charset="0"/>
              </a:rPr>
              <a:t>Lab : AWS Scaling </a:t>
            </a:r>
          </a:p>
        </p:txBody>
      </p:sp>
      <p:sp>
        <p:nvSpPr>
          <p:cNvPr id="4" name="Slide Number Placeholder 3"/>
          <p:cNvSpPr>
            <a:spLocks noGrp="1"/>
          </p:cNvSpPr>
          <p:nvPr>
            <p:ph type="sldNum" sz="quarter" idx="12"/>
          </p:nvPr>
        </p:nvSpPr>
        <p:spPr/>
        <p:txBody>
          <a:bodyPr/>
          <a:lstStyle/>
          <a:p>
            <a:fld id="{13F480B4-4699-41FE-89A7-96EFD1001786}" type="slidenum">
              <a:rPr lang="en-US" smtClean="0"/>
              <a:t>159</a:t>
            </a:fld>
            <a:endParaRPr lang="en-US"/>
          </a:p>
        </p:txBody>
      </p:sp>
    </p:spTree>
    <p:extLst>
      <p:ext uri="{BB962C8B-B14F-4D97-AF65-F5344CB8AC3E}">
        <p14:creationId xmlns:p14="http://schemas.microsoft.com/office/powerpoint/2010/main" val="1336528512"/>
      </p:ext>
    </p:extLst>
  </p:cSld>
  <p:clrMapOvr>
    <a:masterClrMapping/>
  </p:clrMapOvr>
  <p:transition spd="slow">
    <p:randomBar dir="vert"/>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28553" y="3002237"/>
            <a:ext cx="4101280"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Amazon Route 53</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160</a:t>
            </a:fld>
            <a:endParaRPr lang="en-US"/>
          </a:p>
        </p:txBody>
      </p:sp>
    </p:spTree>
    <p:extLst>
      <p:ext uri="{BB962C8B-B14F-4D97-AF65-F5344CB8AC3E}">
        <p14:creationId xmlns:p14="http://schemas.microsoft.com/office/powerpoint/2010/main" val="3700205405"/>
      </p:ext>
    </p:extLst>
  </p:cSld>
  <p:clrMapOvr>
    <a:masterClrMapping/>
  </p:clrMapOvr>
  <p:transition spd="slow">
    <p:randomBar dir="vert"/>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4000" dirty="0">
                <a:solidFill>
                  <a:schemeClr val="bg1"/>
                </a:solidFill>
                <a:latin typeface="Times New Roman" panose="02020603050405020304" pitchFamily="18" charset="0"/>
                <a:cs typeface="Times New Roman" panose="02020603050405020304" pitchFamily="18" charset="0"/>
              </a:rPr>
              <a:t>Amazon Route 53</a:t>
            </a:r>
            <a:endParaRPr lang="en-US" sz="3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F480B4-4699-41FE-89A7-96EFD1001786}" type="slidenum">
              <a:rPr lang="en-US" smtClean="0"/>
              <a:t>161</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endParaRPr lang="en-US" sz="1600" dirty="0">
              <a:solidFill>
                <a:schemeClr val="bg1"/>
              </a:solidFill>
              <a:latin typeface="Times New Roman" panose="02020603050405020304" pitchFamily="18" charset="0"/>
              <a:cs typeface="Times New Roman" panose="02020603050405020304" pitchFamily="18" charset="0"/>
            </a:endParaRP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Amazon Route 53 is a highly scalable and reliable Domain Name System (DNS) web service provided by Amazon Web Services (AWS). </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Its primary function is to help route end-user requests to internet applications by translating human-readable domain names into IP addresses.</a:t>
            </a: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911911"/>
      </p:ext>
    </p:extLst>
  </p:cSld>
  <p:clrMapOvr>
    <a:masterClrMapping/>
  </p:clrMapOvr>
  <p:transition spd="slow">
    <p:randomBar dir="vert"/>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 Services and features of Route53</a:t>
            </a:r>
          </a:p>
        </p:txBody>
      </p:sp>
      <p:sp>
        <p:nvSpPr>
          <p:cNvPr id="4" name="Slide Number Placeholder 3"/>
          <p:cNvSpPr>
            <a:spLocks noGrp="1"/>
          </p:cNvSpPr>
          <p:nvPr>
            <p:ph type="sldNum" sz="quarter" idx="12"/>
          </p:nvPr>
        </p:nvSpPr>
        <p:spPr/>
        <p:txBody>
          <a:bodyPr/>
          <a:lstStyle/>
          <a:p>
            <a:fld id="{13F480B4-4699-41FE-89A7-96EFD1001786}" type="slidenum">
              <a:rPr lang="en-US" smtClean="0"/>
              <a:t>162</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Domain registration</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DNS routing</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Health checking</a:t>
            </a: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0715581"/>
      </p:ext>
    </p:extLst>
  </p:cSld>
  <p:clrMapOvr>
    <a:masterClrMapping/>
  </p:clrMapOvr>
  <p:transition spd="slow">
    <p:randomBar dir="vert"/>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What is AWS Athena</a:t>
            </a:r>
          </a:p>
        </p:txBody>
      </p:sp>
      <p:sp>
        <p:nvSpPr>
          <p:cNvPr id="4" name="Slide Number Placeholder 3"/>
          <p:cNvSpPr>
            <a:spLocks noGrp="1"/>
          </p:cNvSpPr>
          <p:nvPr>
            <p:ph type="sldNum" sz="quarter" idx="12"/>
          </p:nvPr>
        </p:nvSpPr>
        <p:spPr/>
        <p:txBody>
          <a:bodyPr/>
          <a:lstStyle/>
          <a:p>
            <a:fld id="{13F480B4-4699-41FE-89A7-96EFD1001786}" type="slidenum">
              <a:rPr lang="en-US" smtClean="0"/>
              <a:t>163</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AWS Athena is a serverless interactive query service that enables normal SQL data analysis in Amazon S3.</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 Athena is based on Presto, a distributed SQL query engine, and it can query data in Amazon S3 fast using conventional SQL syntax.</a:t>
            </a:r>
          </a:p>
          <a:p>
            <a:pPr defTabSz="900113">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 There is no infrastructure to handle with Athena, so you can focus on analyzing data at scale. </a:t>
            </a:r>
          </a:p>
          <a:p>
            <a:pPr marL="337542" indent="-337542" defTabSz="900113">
              <a:lnSpc>
                <a:spcPct val="150000"/>
              </a:lnSpc>
              <a:buFont typeface="+mj-lt"/>
              <a:buAutoNum type="arabicPeriod"/>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0" indent="0" defTabSz="900113">
              <a:lnSpc>
                <a:spcPct val="150000"/>
              </a:lnSpc>
              <a:buNone/>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4665197"/>
      </p:ext>
    </p:extLst>
  </p:cSld>
  <p:clrMapOvr>
    <a:masterClrMapping/>
  </p:clrMapOvr>
  <p:transition spd="slow">
    <p:randomBar dir="vert"/>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How AWS Athena Work</a:t>
            </a:r>
          </a:p>
        </p:txBody>
      </p:sp>
      <p:sp>
        <p:nvSpPr>
          <p:cNvPr id="4" name="Slide Number Placeholder 3"/>
          <p:cNvSpPr>
            <a:spLocks noGrp="1"/>
          </p:cNvSpPr>
          <p:nvPr>
            <p:ph type="sldNum" sz="quarter" idx="12"/>
          </p:nvPr>
        </p:nvSpPr>
        <p:spPr/>
        <p:txBody>
          <a:bodyPr/>
          <a:lstStyle/>
          <a:p>
            <a:fld id="{13F480B4-4699-41FE-89A7-96EFD1001786}" type="slidenum">
              <a:rPr lang="en-US" smtClean="0"/>
              <a:t>164</a:t>
            </a:fld>
            <a:endParaRPr lang="en-US"/>
          </a:p>
        </p:txBody>
      </p:sp>
      <p:pic>
        <p:nvPicPr>
          <p:cNvPr id="1026" name="Picture 2">
            <a:extLst>
              <a:ext uri="{FF2B5EF4-FFF2-40B4-BE49-F238E27FC236}">
                <a16:creationId xmlns:a16="http://schemas.microsoft.com/office/drawing/2014/main" id="{388F109F-4DC5-E696-99E2-8B9EEB11A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522" y="1732934"/>
            <a:ext cx="8626577" cy="4313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860131"/>
      </p:ext>
    </p:extLst>
  </p:cSld>
  <p:clrMapOvr>
    <a:masterClrMapping/>
  </p:clrMapOvr>
  <p:transition spd="slow">
    <p:randomBar dir="vert"/>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 y="554005"/>
            <a:ext cx="6959859" cy="535531"/>
          </a:xfrm>
        </p:spPr>
        <p:txBody>
          <a:bodyPr>
            <a:noAutofit/>
          </a:bodyPr>
          <a:lstStyle/>
          <a:p>
            <a:r>
              <a:rPr lang="en-US" sz="3800" dirty="0">
                <a:latin typeface="Times New Roman" panose="02020603050405020304" pitchFamily="18" charset="0"/>
                <a:cs typeface="Times New Roman" panose="02020603050405020304" pitchFamily="18" charset="0"/>
              </a:rPr>
              <a:t>Features of AWS Athena</a:t>
            </a:r>
          </a:p>
        </p:txBody>
      </p:sp>
      <p:sp>
        <p:nvSpPr>
          <p:cNvPr id="4" name="Slide Number Placeholder 3"/>
          <p:cNvSpPr>
            <a:spLocks noGrp="1"/>
          </p:cNvSpPr>
          <p:nvPr>
            <p:ph type="sldNum" sz="quarter" idx="12"/>
          </p:nvPr>
        </p:nvSpPr>
        <p:spPr/>
        <p:txBody>
          <a:bodyPr/>
          <a:lstStyle/>
          <a:p>
            <a:fld id="{13F480B4-4699-41FE-89A7-96EFD1001786}" type="slidenum">
              <a:rPr lang="en-US" smtClean="0"/>
              <a:t>165</a:t>
            </a:fld>
            <a:endParaRPr lang="en-US"/>
          </a:p>
        </p:txBody>
      </p:sp>
      <p:sp>
        <p:nvSpPr>
          <p:cNvPr id="3" name="Content Placeholder 1">
            <a:extLst>
              <a:ext uri="{FF2B5EF4-FFF2-40B4-BE49-F238E27FC236}">
                <a16:creationId xmlns:a16="http://schemas.microsoft.com/office/drawing/2014/main" id="{FFE733E3-7895-4A49-EC79-F87C90896162}"/>
              </a:ext>
            </a:extLst>
          </p:cNvPr>
          <p:cNvSpPr txBox="1">
            <a:spLocks/>
          </p:cNvSpPr>
          <p:nvPr/>
        </p:nvSpPr>
        <p:spPr>
          <a:xfrm>
            <a:off x="485248" y="1408145"/>
            <a:ext cx="11560572" cy="4895850"/>
          </a:xfrm>
          <a:prstGeom prst="rect">
            <a:avLst/>
          </a:prstGeom>
        </p:spPr>
        <p:txBody>
          <a:bodyPr vert="horz" lIns="90011" tIns="45006" rIns="90011" bIns="45006"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defTabSz="900113">
              <a:lnSpc>
                <a:spcPct val="150000"/>
              </a:lnSpc>
              <a:defRPr/>
            </a:pPr>
            <a:r>
              <a:rPr lang="en-US" sz="1800" b="1" dirty="0">
                <a:solidFill>
                  <a:schemeClr val="bg1"/>
                </a:solidFill>
                <a:latin typeface="Times New Roman" panose="02020603050405020304" pitchFamily="18" charset="0"/>
                <a:cs typeface="Times New Roman" panose="02020603050405020304" pitchFamily="18" charset="0"/>
              </a:rPr>
              <a:t>Serverless architecture – Athena </a:t>
            </a:r>
            <a:r>
              <a:rPr lang="en-US" sz="1600" dirty="0">
                <a:solidFill>
                  <a:schemeClr val="bg1"/>
                </a:solidFill>
                <a:latin typeface="Times New Roman" panose="02020603050405020304" pitchFamily="18" charset="0"/>
                <a:cs typeface="Times New Roman" panose="02020603050405020304" pitchFamily="18" charset="0"/>
              </a:rPr>
              <a:t>is a fully-managed service that does not require any infrastructure setup, management, or scaling.</a:t>
            </a:r>
          </a:p>
          <a:p>
            <a:pPr defTabSz="900113">
              <a:lnSpc>
                <a:spcPct val="150000"/>
              </a:lnSpc>
              <a:defRPr/>
            </a:pPr>
            <a:r>
              <a:rPr lang="en-US" sz="1800" b="1" dirty="0">
                <a:solidFill>
                  <a:schemeClr val="bg1"/>
                </a:solidFill>
                <a:latin typeface="Times New Roman" panose="02020603050405020304" pitchFamily="18" charset="0"/>
                <a:cs typeface="Times New Roman" panose="02020603050405020304" pitchFamily="18" charset="0"/>
              </a:rPr>
              <a:t>Standard SQL support </a:t>
            </a:r>
            <a:r>
              <a:rPr lang="en-US" sz="1600" dirty="0">
                <a:solidFill>
                  <a:schemeClr val="bg1"/>
                </a:solidFill>
                <a:latin typeface="Times New Roman" panose="02020603050405020304" pitchFamily="18" charset="0"/>
                <a:cs typeface="Times New Roman" panose="02020603050405020304" pitchFamily="18" charset="0"/>
              </a:rPr>
              <a:t>– Since Athena supports ANSI SQL, users can query data in S3 using their existing SQL knowledge and tools.</a:t>
            </a:r>
          </a:p>
          <a:p>
            <a:pPr defTabSz="900113">
              <a:lnSpc>
                <a:spcPct val="150000"/>
              </a:lnSpc>
              <a:defRPr/>
            </a:pPr>
            <a:r>
              <a:rPr lang="en-US" sz="1800" b="1" dirty="0">
                <a:solidFill>
                  <a:schemeClr val="bg1"/>
                </a:solidFill>
                <a:latin typeface="Times New Roman" panose="02020603050405020304" pitchFamily="18" charset="0"/>
                <a:cs typeface="Times New Roman" panose="02020603050405020304" pitchFamily="18" charset="0"/>
              </a:rPr>
              <a:t>Connection with the AWS ecosystem </a:t>
            </a:r>
            <a:r>
              <a:rPr lang="en-US" sz="1600" dirty="0">
                <a:solidFill>
                  <a:schemeClr val="bg1"/>
                </a:solidFill>
                <a:latin typeface="Times New Roman" panose="02020603050405020304" pitchFamily="18" charset="0"/>
                <a:cs typeface="Times New Roman" panose="02020603050405020304" pitchFamily="18" charset="0"/>
              </a:rPr>
              <a:t>– Athena interfaces with other AWS services such as Amazon S3, AWS Glue, and AWS Lambda, enabling customers to import and convert data from a variety of sources.</a:t>
            </a:r>
          </a:p>
          <a:p>
            <a:pPr defTabSz="900113">
              <a:lnSpc>
                <a:spcPct val="150000"/>
              </a:lnSpc>
              <a:defRPr/>
            </a:pPr>
            <a:r>
              <a:rPr lang="en-US" sz="1800" b="1" dirty="0">
                <a:solidFill>
                  <a:schemeClr val="bg1"/>
                </a:solidFill>
                <a:latin typeface="Times New Roman" panose="02020603050405020304" pitchFamily="18" charset="0"/>
                <a:cs typeface="Times New Roman" panose="02020603050405020304" pitchFamily="18" charset="0"/>
              </a:rPr>
              <a:t>Cost-effective pricing model </a:t>
            </a:r>
            <a:r>
              <a:rPr lang="en-US" sz="1600" dirty="0">
                <a:solidFill>
                  <a:schemeClr val="bg1"/>
                </a:solidFill>
                <a:latin typeface="Times New Roman" panose="02020603050405020304" pitchFamily="18" charset="0"/>
                <a:cs typeface="Times New Roman" panose="02020603050405020304" pitchFamily="18" charset="0"/>
              </a:rPr>
              <a:t>– Athena’s pricing approach is cost-effective since it costs customers based on the amount of data scanned by their queries, making it ideal for ad-hoc and exploratory queries.</a:t>
            </a:r>
          </a:p>
          <a:p>
            <a:pPr defTabSz="900113">
              <a:lnSpc>
                <a:spcPct val="150000"/>
              </a:lnSpc>
              <a:defRPr/>
            </a:pPr>
            <a:r>
              <a:rPr lang="en-US" sz="1800" b="1" dirty="0">
                <a:solidFill>
                  <a:schemeClr val="bg1"/>
                </a:solidFill>
                <a:latin typeface="Times New Roman" panose="02020603050405020304" pitchFamily="18" charset="0"/>
                <a:cs typeface="Times New Roman" panose="02020603050405020304" pitchFamily="18" charset="0"/>
              </a:rPr>
              <a:t>Integration with BI tools </a:t>
            </a:r>
            <a:r>
              <a:rPr lang="en-US" sz="1600" dirty="0">
                <a:solidFill>
                  <a:schemeClr val="bg1"/>
                </a:solidFill>
                <a:latin typeface="Times New Roman" panose="02020603050405020304" pitchFamily="18" charset="0"/>
                <a:cs typeface="Times New Roman" panose="02020603050405020304" pitchFamily="18" charset="0"/>
              </a:rPr>
              <a:t>– Athena provides connectivity with major business intelligence tools like as Tableau, Power BI, and Amazon </a:t>
            </a:r>
            <a:r>
              <a:rPr lang="en-US" sz="1600" dirty="0" err="1">
                <a:solidFill>
                  <a:schemeClr val="bg1"/>
                </a:solidFill>
                <a:latin typeface="Times New Roman" panose="02020603050405020304" pitchFamily="18" charset="0"/>
                <a:cs typeface="Times New Roman" panose="02020603050405020304" pitchFamily="18" charset="0"/>
              </a:rPr>
              <a:t>QuickSight</a:t>
            </a:r>
            <a:r>
              <a:rPr lang="en-US" sz="1600" dirty="0">
                <a:solidFill>
                  <a:schemeClr val="bg1"/>
                </a:solidFill>
                <a:latin typeface="Times New Roman" panose="02020603050405020304" pitchFamily="18" charset="0"/>
                <a:cs typeface="Times New Roman" panose="02020603050405020304" pitchFamily="18" charset="0"/>
              </a:rPr>
              <a:t>, allowing users to build visualizations and reports.</a:t>
            </a:r>
            <a:endParaRPr lang="en-US" sz="1600" dirty="0">
              <a:solidFill>
                <a:sysClr val="windowText" lastClr="000000"/>
              </a:solidFill>
              <a:latin typeface="Times New Roman" panose="02020603050405020304" pitchFamily="18" charset="0"/>
              <a:cs typeface="Times New Roman" panose="02020603050405020304" pitchFamily="18" charset="0"/>
            </a:endParaRPr>
          </a:p>
          <a:p>
            <a:pPr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a:p>
            <a:pPr marL="337542" indent="-337542" defTabSz="900113">
              <a:lnSpc>
                <a:spcPct val="150000"/>
              </a:lnSpc>
              <a:defRPr/>
            </a:pPr>
            <a:endParaRPr lang="en-US" sz="1600"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897426"/>
      </p:ext>
    </p:extLst>
  </p:cSld>
  <p:clrMapOvr>
    <a:masterClrMapping/>
  </p:clrMapOvr>
  <p:transition spd="slow">
    <p:randomBar dir="vert"/>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899287" y="3161234"/>
            <a:ext cx="4563397" cy="535531"/>
          </a:xfrm>
        </p:spPr>
        <p:txBody>
          <a:bodyPr>
            <a:noAutofit/>
          </a:bodyPr>
          <a:lstStyle/>
          <a:p>
            <a:pPr algn="ctr"/>
            <a:r>
              <a:rPr lang="en-US" sz="3800" dirty="0">
                <a:latin typeface="Times New Roman" panose="02020603050405020304" pitchFamily="18" charset="0"/>
                <a:cs typeface="Times New Roman" panose="02020603050405020304" pitchFamily="18" charset="0"/>
              </a:rPr>
              <a:t>AWS Athena Lab</a:t>
            </a:r>
          </a:p>
        </p:txBody>
      </p:sp>
      <p:sp>
        <p:nvSpPr>
          <p:cNvPr id="4" name="Slide Number Placeholder 3"/>
          <p:cNvSpPr>
            <a:spLocks noGrp="1"/>
          </p:cNvSpPr>
          <p:nvPr>
            <p:ph type="sldNum" sz="quarter" idx="12"/>
          </p:nvPr>
        </p:nvSpPr>
        <p:spPr/>
        <p:txBody>
          <a:bodyPr/>
          <a:lstStyle/>
          <a:p>
            <a:fld id="{13F480B4-4699-41FE-89A7-96EFD1001786}" type="slidenum">
              <a:rPr lang="en-US" smtClean="0"/>
              <a:t>166</a:t>
            </a:fld>
            <a:endParaRPr lang="en-US"/>
          </a:p>
        </p:txBody>
      </p:sp>
    </p:spTree>
    <p:extLst>
      <p:ext uri="{BB962C8B-B14F-4D97-AF65-F5344CB8AC3E}">
        <p14:creationId xmlns:p14="http://schemas.microsoft.com/office/powerpoint/2010/main" val="469699953"/>
      </p:ext>
    </p:extLst>
  </p:cSld>
  <p:clrMapOvr>
    <a:masterClrMapping/>
  </p:clrMapOvr>
  <p:transition spd="slow">
    <p:randomBar dir="vert"/>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61636" y="2347452"/>
            <a:ext cx="6959859" cy="1762432"/>
          </a:xfrm>
        </p:spPr>
        <p:txBody>
          <a:bodyPr>
            <a:noAutofit/>
          </a:bodyPr>
          <a:lstStyle/>
          <a:p>
            <a:r>
              <a:rPr lang="en-US" sz="9600" dirty="0">
                <a:latin typeface="Times New Roman" panose="02020603050405020304" pitchFamily="18" charset="0"/>
                <a:cs typeface="Times New Roman" panose="02020603050405020304" pitchFamily="18" charset="0"/>
              </a:rPr>
              <a:t>Thank You</a:t>
            </a:r>
          </a:p>
        </p:txBody>
      </p:sp>
      <p:sp>
        <p:nvSpPr>
          <p:cNvPr id="4" name="Slide Number Placeholder 3"/>
          <p:cNvSpPr>
            <a:spLocks noGrp="1"/>
          </p:cNvSpPr>
          <p:nvPr>
            <p:ph type="sldNum" sz="quarter" idx="12"/>
          </p:nvPr>
        </p:nvSpPr>
        <p:spPr/>
        <p:txBody>
          <a:bodyPr/>
          <a:lstStyle/>
          <a:p>
            <a:fld id="{13F480B4-4699-41FE-89A7-96EFD1001786}" type="slidenum">
              <a:rPr lang="en-US" smtClean="0"/>
              <a:t>167</a:t>
            </a:fld>
            <a:endParaRPr lang="en-US"/>
          </a:p>
        </p:txBody>
      </p:sp>
    </p:spTree>
    <p:extLst>
      <p:ext uri="{BB962C8B-B14F-4D97-AF65-F5344CB8AC3E}">
        <p14:creationId xmlns:p14="http://schemas.microsoft.com/office/powerpoint/2010/main" val="3491285252"/>
      </p:ext>
    </p:extLst>
  </p:cSld>
  <p:clrMapOvr>
    <a:masterClrMapping/>
  </p:clrMapOvr>
  <p:transition spd="slow">
    <p:randomBar dir="vert"/>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Template>
  <TotalTime>22925</TotalTime>
  <Words>11999</Words>
  <Application>Microsoft Office PowerPoint</Application>
  <PresentationFormat>Widescreen</PresentationFormat>
  <Paragraphs>1102</Paragraphs>
  <Slides>167</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167</vt:i4>
      </vt:variant>
    </vt:vector>
  </HeadingPairs>
  <TitlesOfParts>
    <vt:vector size="176" baseType="lpstr">
      <vt:lpstr>arial</vt:lpstr>
      <vt:lpstr>arial</vt:lpstr>
      <vt:lpstr>Calibri</vt:lpstr>
      <vt:lpstr>Cambria</vt:lpstr>
      <vt:lpstr>Times New Roman</vt:lpstr>
      <vt:lpstr>Trade Gothic LT Pro</vt:lpstr>
      <vt:lpstr>Trebuchet MS</vt:lpstr>
      <vt:lpstr>Wingdings</vt:lpstr>
      <vt:lpstr>Office Theme</vt:lpstr>
      <vt:lpstr>Amazon Web Services</vt:lpstr>
      <vt:lpstr>Cloud Computing </vt:lpstr>
      <vt:lpstr>Cloud Computing </vt:lpstr>
      <vt:lpstr>Traditional Vs Cloud Data Center</vt:lpstr>
      <vt:lpstr>Cloud Essentials Characteristics </vt:lpstr>
      <vt:lpstr>Cloud Essentials Characteristics </vt:lpstr>
      <vt:lpstr>Cloud Essentials Characteristics </vt:lpstr>
      <vt:lpstr>Cloud Essentials Characteristics </vt:lpstr>
      <vt:lpstr>Types of Cloud Computing</vt:lpstr>
      <vt:lpstr>Types of Cloud Computing</vt:lpstr>
      <vt:lpstr>Public Cloud </vt:lpstr>
      <vt:lpstr>Private Cloud</vt:lpstr>
      <vt:lpstr>Hybrid cloud </vt:lpstr>
      <vt:lpstr>Community Cloud</vt:lpstr>
      <vt:lpstr>Cloud Service Models </vt:lpstr>
      <vt:lpstr>Cloud Service Models </vt:lpstr>
      <vt:lpstr>Infrastructure as a Service (IaaS) </vt:lpstr>
      <vt:lpstr>Platform as a Service (PaaS)</vt:lpstr>
      <vt:lpstr>Software as a Service (SaaS)</vt:lpstr>
      <vt:lpstr>Responsibility- Who owns What?</vt:lpstr>
      <vt:lpstr>Amazon Web Services </vt:lpstr>
      <vt:lpstr>Amazon Web Services</vt:lpstr>
      <vt:lpstr>Why AWS?</vt:lpstr>
      <vt:lpstr>Global Infrastructure Regions &amp; AZs</vt:lpstr>
      <vt:lpstr>AWS Region </vt:lpstr>
      <vt:lpstr>AWS Availability Zone</vt:lpstr>
      <vt:lpstr>AWS Global Infrastructure</vt:lpstr>
      <vt:lpstr>AWS Global Infrastructure</vt:lpstr>
      <vt:lpstr>AWS Responsibility </vt:lpstr>
      <vt:lpstr>AWS Compute Services</vt:lpstr>
      <vt:lpstr>Virtual Machines</vt:lpstr>
      <vt:lpstr>AWS Elastic Compute Cloud</vt:lpstr>
      <vt:lpstr>AWS Elastic Compute Cloud</vt:lpstr>
      <vt:lpstr>Instance Types (EC2)</vt:lpstr>
      <vt:lpstr>Instance Types (EC2)</vt:lpstr>
      <vt:lpstr>Instance Types with AWS</vt:lpstr>
      <vt:lpstr>AMI’s</vt:lpstr>
      <vt:lpstr>Instances and AMI’s</vt:lpstr>
      <vt:lpstr>Credentials</vt:lpstr>
      <vt:lpstr>Launching EC2 Instance</vt:lpstr>
      <vt:lpstr>LAB : Create an EC2 Linux Instance</vt:lpstr>
      <vt:lpstr>Instance Lifecycle</vt:lpstr>
      <vt:lpstr>Network part</vt:lpstr>
      <vt:lpstr>EC2 Security – Security Group</vt:lpstr>
      <vt:lpstr>Amazon Server Storage </vt:lpstr>
      <vt:lpstr>AWS Tags</vt:lpstr>
      <vt:lpstr>AWS Tags</vt:lpstr>
      <vt:lpstr>AWS S3</vt:lpstr>
      <vt:lpstr>What is Amazon S3?</vt:lpstr>
      <vt:lpstr>Key Characteristics</vt:lpstr>
      <vt:lpstr>Data Storage Options</vt:lpstr>
      <vt:lpstr>Use Cases</vt:lpstr>
      <vt:lpstr>Benefits</vt:lpstr>
      <vt:lpstr>Bucket </vt:lpstr>
      <vt:lpstr>Characteristics of S3 buckets</vt:lpstr>
      <vt:lpstr>How to create Bucket</vt:lpstr>
      <vt:lpstr>Uploading and Downloading Objects</vt:lpstr>
      <vt:lpstr>Setting Permissions</vt:lpstr>
      <vt:lpstr>Identity and Access Management</vt:lpstr>
      <vt:lpstr>AWS Identity and Access Management (IAM) </vt:lpstr>
      <vt:lpstr>IAM Key Roles </vt:lpstr>
      <vt:lpstr>User Management</vt:lpstr>
      <vt:lpstr>LAB  : IAM User</vt:lpstr>
      <vt:lpstr>Group Management</vt:lpstr>
      <vt:lpstr>LAB  : IAM Group</vt:lpstr>
      <vt:lpstr>Role-based Access Control (RBAC)</vt:lpstr>
      <vt:lpstr>IAM Policy </vt:lpstr>
      <vt:lpstr>Components of an IAM Policy</vt:lpstr>
      <vt:lpstr>LAB  : IAM Policies</vt:lpstr>
      <vt:lpstr>AWS Identity and Access Management (IAM) </vt:lpstr>
      <vt:lpstr>Amazon RDS: Managed Relational Databases</vt:lpstr>
      <vt:lpstr>What Is Data ?</vt:lpstr>
      <vt:lpstr>What Is Database ?</vt:lpstr>
      <vt:lpstr>Why Are Databases Important? </vt:lpstr>
      <vt:lpstr>Types of Databases</vt:lpstr>
      <vt:lpstr>Cloud vs Traditional Database</vt:lpstr>
      <vt:lpstr>Cloud vs Traditional Database</vt:lpstr>
      <vt:lpstr>What is Amazon RDS?</vt:lpstr>
      <vt:lpstr>Benefits of Amazon RDS</vt:lpstr>
      <vt:lpstr>AWS RDS Database Engines</vt:lpstr>
      <vt:lpstr>AWS Relational Databases</vt:lpstr>
      <vt:lpstr>AWS Relational Databases</vt:lpstr>
      <vt:lpstr>Amazon RDS Pricing</vt:lpstr>
      <vt:lpstr>Creating RDS Instance </vt:lpstr>
      <vt:lpstr>RDS AZ Failover testing</vt:lpstr>
      <vt:lpstr>Multi-AZ deployment</vt:lpstr>
      <vt:lpstr>Read Replica</vt:lpstr>
      <vt:lpstr>Multi-AZ deployment vs Read Replica</vt:lpstr>
      <vt:lpstr>AWS PostgreSQL</vt:lpstr>
      <vt:lpstr>Lab : Setup AWS PostgreSQL</vt:lpstr>
      <vt:lpstr>Step 1: Create one AWS EC2</vt:lpstr>
      <vt:lpstr>Step 2: Setup PostgreSQL</vt:lpstr>
      <vt:lpstr>Step 3: Connect EC2 Instance to RDS</vt:lpstr>
      <vt:lpstr>Introduction of NoSQL</vt:lpstr>
      <vt:lpstr>Introduction of NoSQL</vt:lpstr>
      <vt:lpstr>SQL vs NoSQL</vt:lpstr>
      <vt:lpstr>AWS Networking </vt:lpstr>
      <vt:lpstr> AWS Virtual Private Cloud </vt:lpstr>
      <vt:lpstr>AWS SNS</vt:lpstr>
      <vt:lpstr> Simple Notification Service</vt:lpstr>
      <vt:lpstr> Simple Notification Service</vt:lpstr>
      <vt:lpstr> Simple Notification Service</vt:lpstr>
      <vt:lpstr> AWS Virtual Private Cloud </vt:lpstr>
      <vt:lpstr> What can we do with a VPC? </vt:lpstr>
      <vt:lpstr> Components of VPC? </vt:lpstr>
      <vt:lpstr>Subnets</vt:lpstr>
      <vt:lpstr>Reserved IP in Subnets</vt:lpstr>
      <vt:lpstr>VPC and Subnets</vt:lpstr>
      <vt:lpstr>Creating VPC</vt:lpstr>
      <vt:lpstr>Security in VPC</vt:lpstr>
      <vt:lpstr>Working with Subnets</vt:lpstr>
      <vt:lpstr>AWS Security Group</vt:lpstr>
      <vt:lpstr>AWS NACL</vt:lpstr>
      <vt:lpstr>AWS NACL</vt:lpstr>
      <vt:lpstr>AWS VPC Peering</vt:lpstr>
      <vt:lpstr>VPC Peering </vt:lpstr>
      <vt:lpstr>Types of VPC Peering </vt:lpstr>
      <vt:lpstr>Standard VPC Peering</vt:lpstr>
      <vt:lpstr>Cross-Account VPC Peering</vt:lpstr>
      <vt:lpstr>VPC Peering with transit gateways</vt:lpstr>
      <vt:lpstr>Lab : VPC Peering </vt:lpstr>
      <vt:lpstr>Amazon Load Balancer</vt:lpstr>
      <vt:lpstr>Benefits of Using ELB</vt:lpstr>
      <vt:lpstr>Types of AWS ELB</vt:lpstr>
      <vt:lpstr>Lab : Working with ELB</vt:lpstr>
      <vt:lpstr>Amazon CloudWatch</vt:lpstr>
      <vt:lpstr>PowerPoint Presentation</vt:lpstr>
      <vt:lpstr>CloudFormation </vt:lpstr>
      <vt:lpstr>Benefits of AWS CloudFormation</vt:lpstr>
      <vt:lpstr>PowerPoint Presentation</vt:lpstr>
      <vt:lpstr>Data Warehouse</vt:lpstr>
      <vt:lpstr>Why data warehouses are used</vt:lpstr>
      <vt:lpstr>Amazon Redshift </vt:lpstr>
      <vt:lpstr>Features of AWS Redshift</vt:lpstr>
      <vt:lpstr>Clusters and Nodes</vt:lpstr>
      <vt:lpstr>Amazon Redshift</vt:lpstr>
      <vt:lpstr>Amazon Redshift cluster architecture</vt:lpstr>
      <vt:lpstr>Lab : Setup Amazon Redshift Cluster  </vt:lpstr>
      <vt:lpstr>AWS Lake Formation</vt:lpstr>
      <vt:lpstr>Features &amp; Functionalities of AKF</vt:lpstr>
      <vt:lpstr>AWS Data Lake Architecture</vt:lpstr>
      <vt:lpstr>AWS Glue</vt:lpstr>
      <vt:lpstr>AWS Glue Component </vt:lpstr>
      <vt:lpstr>AWS Glue Architecture</vt:lpstr>
      <vt:lpstr>Lab : AWS Glue</vt:lpstr>
      <vt:lpstr>AWS Lambda </vt:lpstr>
      <vt:lpstr>Need for AWS Lambda</vt:lpstr>
      <vt:lpstr>AWS Lambda </vt:lpstr>
      <vt:lpstr>Benefits of AWS Lambda</vt:lpstr>
      <vt:lpstr>Limitations of AWS Lambda</vt:lpstr>
      <vt:lpstr>Lab : AWS Lambda </vt:lpstr>
      <vt:lpstr>AWS Auto Scaling</vt:lpstr>
      <vt:lpstr>AWS Auto Scaling</vt:lpstr>
      <vt:lpstr>AWS Auto Scaling</vt:lpstr>
      <vt:lpstr>AWS Auto Scaling</vt:lpstr>
      <vt:lpstr>AWS Auto Scaling</vt:lpstr>
      <vt:lpstr>AWS Auto Scaling </vt:lpstr>
      <vt:lpstr>Types of Scaling </vt:lpstr>
      <vt:lpstr>Lab : AWS Scaling </vt:lpstr>
      <vt:lpstr>Amazon Route 53</vt:lpstr>
      <vt:lpstr>Amazon Route 53</vt:lpstr>
      <vt:lpstr> Services and features of Route53</vt:lpstr>
      <vt:lpstr>What is AWS Athena</vt:lpstr>
      <vt:lpstr>How AWS Athena Work</vt:lpstr>
      <vt:lpstr>Features of AWS Athena</vt:lpstr>
      <vt:lpstr>AWS Athena Lab</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Web Services</dc:title>
  <dc:creator>Sandeep Kumar Sharma</dc:creator>
  <cp:lastModifiedBy>Sandeep Kumar Sharma</cp:lastModifiedBy>
  <cp:revision>34</cp:revision>
  <dcterms:created xsi:type="dcterms:W3CDTF">2023-11-20T14:48:08Z</dcterms:created>
  <dcterms:modified xsi:type="dcterms:W3CDTF">2026-04-26T14:24:42Z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